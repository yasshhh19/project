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5" r:id="rId1"/>
  </p:sldMasterIdLst>
  <p:notesMasterIdLst>
    <p:notesMasterId r:id="rId29"/>
  </p:notes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83" r:id="rId24"/>
    <p:sldId id="279" r:id="rId25"/>
    <p:sldId id="280" r:id="rId26"/>
    <p:sldId id="281" r:id="rId27"/>
    <p:sldId id="282"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412" autoAdjust="0"/>
    <p:restoredTop sz="94660"/>
  </p:normalViewPr>
  <p:slideViewPr>
    <p:cSldViewPr snapToGrid="0">
      <p:cViewPr varScale="1">
        <p:scale>
          <a:sx n="76" d="100"/>
          <a:sy n="76" d="100"/>
        </p:scale>
        <p:origin x="726" y="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tableStyles" Target="tableStyle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notesMaster" Target="notesMasters/notesMaster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theme" Target="theme/theme1.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viewProps" Target="viewProp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presProps" Target="presProps.xml" /></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D807893-011B-4F52-8E24-E94898D2F7C3}" type="doc">
      <dgm:prSet loTypeId="urn:microsoft.com/office/officeart/2005/8/layout/vList5" loCatId="list" qsTypeId="urn:microsoft.com/office/officeart/2005/8/quickstyle/simple2" qsCatId="simple" csTypeId="urn:microsoft.com/office/officeart/2005/8/colors/accent1_2" csCatId="accent1" phldr="1"/>
      <dgm:spPr/>
      <dgm:t>
        <a:bodyPr/>
        <a:lstStyle/>
        <a:p>
          <a:endParaRPr lang="en-US"/>
        </a:p>
      </dgm:t>
    </dgm:pt>
    <dgm:pt modelId="{74939EFB-3017-4E6D-B887-54BECB824C73}">
      <dgm:prSet>
        <dgm:style>
          <a:lnRef idx="0">
            <a:scrgbClr r="0" g="0" b="0"/>
          </a:lnRef>
          <a:fillRef idx="0">
            <a:scrgbClr r="0" g="0" b="0"/>
          </a:fillRef>
          <a:effectRef idx="0">
            <a:scrgbClr r="0" g="0" b="0"/>
          </a:effectRef>
          <a:fontRef idx="minor">
            <a:schemeClr val="dk1"/>
          </a:fontRef>
        </dgm:style>
      </dgm:prSet>
      <dgm:spPr>
        <a:noFill/>
        <a:ln>
          <a:noFill/>
        </a:ln>
      </dgm:spPr>
      <dgm:t>
        <a:bodyPr/>
        <a:lstStyle/>
        <a:p>
          <a:pPr rtl="0"/>
          <a:r>
            <a:rPr lang="en-US" dirty="0">
              <a:latin typeface="Times New Roman" panose="02020603050405020304" pitchFamily="18" charset="0"/>
              <a:cs typeface="Times New Roman" panose="02020603050405020304" pitchFamily="18" charset="0"/>
            </a:rPr>
            <a:t>Accuracy of method by recovery studies was found to be between 98-102%</a:t>
          </a:r>
          <a:endParaRPr lang="en-IN" dirty="0">
            <a:latin typeface="Times New Roman" panose="02020603050405020304" pitchFamily="18" charset="0"/>
            <a:cs typeface="Times New Roman" panose="02020603050405020304" pitchFamily="18" charset="0"/>
          </a:endParaRPr>
        </a:p>
      </dgm:t>
    </dgm:pt>
    <dgm:pt modelId="{5A644A21-D55C-44A1-82D5-151415FD0D4E}" type="parTrans" cxnId="{24C3BCFF-963F-490B-8743-1BB4988832AB}">
      <dgm:prSet/>
      <dgm:spPr/>
      <dgm:t>
        <a:bodyPr/>
        <a:lstStyle/>
        <a:p>
          <a:endParaRPr lang="en-US"/>
        </a:p>
      </dgm:t>
    </dgm:pt>
    <dgm:pt modelId="{93C252F5-3630-4B51-859D-C9CCF9B9B15B}" type="sibTrans" cxnId="{24C3BCFF-963F-490B-8743-1BB4988832AB}">
      <dgm:prSet/>
      <dgm:spPr/>
      <dgm:t>
        <a:bodyPr/>
        <a:lstStyle/>
        <a:p>
          <a:endParaRPr lang="en-US"/>
        </a:p>
      </dgm:t>
    </dgm:pt>
    <dgm:pt modelId="{93D65713-980A-4705-A674-10F0A65FA946}" type="pres">
      <dgm:prSet presAssocID="{8D807893-011B-4F52-8E24-E94898D2F7C3}" presName="Name0" presStyleCnt="0">
        <dgm:presLayoutVars>
          <dgm:dir/>
          <dgm:animLvl val="lvl"/>
          <dgm:resizeHandles val="exact"/>
        </dgm:presLayoutVars>
      </dgm:prSet>
      <dgm:spPr/>
    </dgm:pt>
    <dgm:pt modelId="{7F142C58-0235-4ECB-BD13-D81F3A8B2A44}" type="pres">
      <dgm:prSet presAssocID="{74939EFB-3017-4E6D-B887-54BECB824C73}" presName="linNode" presStyleCnt="0"/>
      <dgm:spPr/>
    </dgm:pt>
    <dgm:pt modelId="{9443D53C-0AE3-42F2-86C4-AB282B005805}" type="pres">
      <dgm:prSet presAssocID="{74939EFB-3017-4E6D-B887-54BECB824C73}" presName="parentText" presStyleLbl="node1" presStyleIdx="0" presStyleCnt="1" custScaleX="277778">
        <dgm:presLayoutVars>
          <dgm:chMax val="1"/>
          <dgm:bulletEnabled val="1"/>
        </dgm:presLayoutVars>
      </dgm:prSet>
      <dgm:spPr/>
    </dgm:pt>
  </dgm:ptLst>
  <dgm:cxnLst>
    <dgm:cxn modelId="{EA29694F-6BAE-4E80-B2E4-DD46A9E46E11}" type="presOf" srcId="{74939EFB-3017-4E6D-B887-54BECB824C73}" destId="{9443D53C-0AE3-42F2-86C4-AB282B005805}" srcOrd="0" destOrd="0" presId="urn:microsoft.com/office/officeart/2005/8/layout/vList5"/>
    <dgm:cxn modelId="{9EBC6657-9A1B-49FE-8F70-039507F5D60E}" type="presOf" srcId="{8D807893-011B-4F52-8E24-E94898D2F7C3}" destId="{93D65713-980A-4705-A674-10F0A65FA946}" srcOrd="0" destOrd="0" presId="urn:microsoft.com/office/officeart/2005/8/layout/vList5"/>
    <dgm:cxn modelId="{24C3BCFF-963F-490B-8743-1BB4988832AB}" srcId="{8D807893-011B-4F52-8E24-E94898D2F7C3}" destId="{74939EFB-3017-4E6D-B887-54BECB824C73}" srcOrd="0" destOrd="0" parTransId="{5A644A21-D55C-44A1-82D5-151415FD0D4E}" sibTransId="{93C252F5-3630-4B51-859D-C9CCF9B9B15B}"/>
    <dgm:cxn modelId="{E93D6109-1B23-43EA-8B36-B031305B37B0}" type="presParOf" srcId="{93D65713-980A-4705-A674-10F0A65FA946}" destId="{7F142C58-0235-4ECB-BD13-D81F3A8B2A44}" srcOrd="0" destOrd="0" presId="urn:microsoft.com/office/officeart/2005/8/layout/vList5"/>
    <dgm:cxn modelId="{E28EAA80-BB36-4FF5-86AC-E4C6B1A9F8CF}" type="presParOf" srcId="{7F142C58-0235-4ECB-BD13-D81F3A8B2A44}" destId="{9443D53C-0AE3-42F2-86C4-AB282B005805}" srcOrd="0"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188D67C-F9F5-4DA1-9933-16082F0CE878}"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C59FFB5C-1A0C-4A0B-9849-42837840194D}">
      <dgm:prSet>
        <dgm:style>
          <a:lnRef idx="0">
            <a:scrgbClr r="0" g="0" b="0"/>
          </a:lnRef>
          <a:fillRef idx="0">
            <a:scrgbClr r="0" g="0" b="0"/>
          </a:fillRef>
          <a:effectRef idx="0">
            <a:scrgbClr r="0" g="0" b="0"/>
          </a:effectRef>
          <a:fontRef idx="minor">
            <a:schemeClr val="dk1"/>
          </a:fontRef>
        </dgm:style>
      </dgm:prSet>
      <dgm:spPr>
        <a:noFill/>
        <a:ln>
          <a:noFill/>
        </a:ln>
      </dgm:spPr>
      <dgm:t>
        <a:bodyPr/>
        <a:lstStyle/>
        <a:p>
          <a:pPr rtl="0"/>
          <a:r>
            <a:rPr lang="en-US" dirty="0">
              <a:latin typeface="Times New Roman" panose="02020603050405020304" pitchFamily="18" charset="0"/>
              <a:cs typeface="Times New Roman" panose="02020603050405020304" pitchFamily="18" charset="0"/>
            </a:rPr>
            <a:t>Repeatability studies of Mirabegron was found to be 98.30 ,The % RSD was less than 2, which shows high percentage amount found in between 98% to 102% indicates the analytical method that concluded .</a:t>
          </a:r>
          <a:endParaRPr lang="en-IN" dirty="0">
            <a:latin typeface="Times New Roman" panose="02020603050405020304" pitchFamily="18" charset="0"/>
            <a:cs typeface="Times New Roman" panose="02020603050405020304" pitchFamily="18" charset="0"/>
          </a:endParaRPr>
        </a:p>
      </dgm:t>
    </dgm:pt>
    <dgm:pt modelId="{26D82000-5970-4E03-9F98-5B3D00BD8135}" type="parTrans" cxnId="{7070C485-945B-4552-8666-F8EBE66A8D36}">
      <dgm:prSet/>
      <dgm:spPr/>
      <dgm:t>
        <a:bodyPr/>
        <a:lstStyle/>
        <a:p>
          <a:endParaRPr lang="en-US"/>
        </a:p>
      </dgm:t>
    </dgm:pt>
    <dgm:pt modelId="{E2C415E6-FF67-401F-95A6-E3AE364D5718}" type="sibTrans" cxnId="{7070C485-945B-4552-8666-F8EBE66A8D36}">
      <dgm:prSet/>
      <dgm:spPr/>
      <dgm:t>
        <a:bodyPr/>
        <a:lstStyle/>
        <a:p>
          <a:endParaRPr lang="en-US"/>
        </a:p>
      </dgm:t>
    </dgm:pt>
    <dgm:pt modelId="{80366CE5-1388-4628-A988-D58CC1C25FD1}" type="pres">
      <dgm:prSet presAssocID="{B188D67C-F9F5-4DA1-9933-16082F0CE878}" presName="Name0" presStyleCnt="0">
        <dgm:presLayoutVars>
          <dgm:dir/>
          <dgm:animLvl val="lvl"/>
          <dgm:resizeHandles val="exact"/>
        </dgm:presLayoutVars>
      </dgm:prSet>
      <dgm:spPr/>
    </dgm:pt>
    <dgm:pt modelId="{BA8BB119-2DB6-4BD7-948D-08EF8441600D}" type="pres">
      <dgm:prSet presAssocID="{C59FFB5C-1A0C-4A0B-9849-42837840194D}" presName="linNode" presStyleCnt="0"/>
      <dgm:spPr/>
    </dgm:pt>
    <dgm:pt modelId="{16513E48-812C-4C6D-B580-AF899061C9CC}" type="pres">
      <dgm:prSet presAssocID="{C59FFB5C-1A0C-4A0B-9849-42837840194D}" presName="parentText" presStyleLbl="node1" presStyleIdx="0" presStyleCnt="1" custScaleX="277778">
        <dgm:presLayoutVars>
          <dgm:chMax val="1"/>
          <dgm:bulletEnabled val="1"/>
        </dgm:presLayoutVars>
      </dgm:prSet>
      <dgm:spPr/>
    </dgm:pt>
  </dgm:ptLst>
  <dgm:cxnLst>
    <dgm:cxn modelId="{7070C485-945B-4552-8666-F8EBE66A8D36}" srcId="{B188D67C-F9F5-4DA1-9933-16082F0CE878}" destId="{C59FFB5C-1A0C-4A0B-9849-42837840194D}" srcOrd="0" destOrd="0" parTransId="{26D82000-5970-4E03-9F98-5B3D00BD8135}" sibTransId="{E2C415E6-FF67-401F-95A6-E3AE364D5718}"/>
    <dgm:cxn modelId="{119FC78A-F3D5-426A-9071-C03DD9A6A716}" type="presOf" srcId="{C59FFB5C-1A0C-4A0B-9849-42837840194D}" destId="{16513E48-812C-4C6D-B580-AF899061C9CC}" srcOrd="0" destOrd="0" presId="urn:microsoft.com/office/officeart/2005/8/layout/vList5"/>
    <dgm:cxn modelId="{54C9ECDF-BE3D-4ED5-9D40-083FE6F72E25}" type="presOf" srcId="{B188D67C-F9F5-4DA1-9933-16082F0CE878}" destId="{80366CE5-1388-4628-A988-D58CC1C25FD1}" srcOrd="0" destOrd="0" presId="urn:microsoft.com/office/officeart/2005/8/layout/vList5"/>
    <dgm:cxn modelId="{FDE8D756-6B26-41F6-A7D6-CD22DF68B3BD}" type="presParOf" srcId="{80366CE5-1388-4628-A988-D58CC1C25FD1}" destId="{BA8BB119-2DB6-4BD7-948D-08EF8441600D}" srcOrd="0" destOrd="0" presId="urn:microsoft.com/office/officeart/2005/8/layout/vList5"/>
    <dgm:cxn modelId="{8B7B5B59-0F22-4476-872F-E6DD249A8798}" type="presParOf" srcId="{BA8BB119-2DB6-4BD7-948D-08EF8441600D}" destId="{16513E48-812C-4C6D-B580-AF899061C9CC}"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037F0DF-6329-4833-BC0B-447ECA6447BD}"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D8BD88F9-742A-4306-8855-9F61799250F2}">
      <dgm:prSet>
        <dgm:style>
          <a:lnRef idx="0">
            <a:scrgbClr r="0" g="0" b="0"/>
          </a:lnRef>
          <a:fillRef idx="0">
            <a:scrgbClr r="0" g="0" b="0"/>
          </a:fillRef>
          <a:effectRef idx="0">
            <a:scrgbClr r="0" g="0" b="0"/>
          </a:effectRef>
          <a:fontRef idx="minor">
            <a:schemeClr val="dk1"/>
          </a:fontRef>
        </dgm:style>
      </dgm:prSet>
      <dgm:spPr>
        <a:noFill/>
        <a:ln>
          <a:noFill/>
        </a:ln>
      </dgm:spPr>
      <dgm:t>
        <a:bodyPr/>
        <a:lstStyle/>
        <a:p>
          <a:pPr rtl="0"/>
          <a:r>
            <a:rPr lang="en-US" dirty="0">
              <a:latin typeface="Times New Roman" panose="02020603050405020304" pitchFamily="18" charset="0"/>
              <a:cs typeface="Times New Roman" panose="02020603050405020304" pitchFamily="18" charset="0"/>
            </a:rPr>
            <a:t>Intraday and </a:t>
          </a:r>
          <a:r>
            <a:rPr lang="en-US" dirty="0" err="1">
              <a:latin typeface="Times New Roman" panose="02020603050405020304" pitchFamily="18" charset="0"/>
              <a:cs typeface="Times New Roman" panose="02020603050405020304" pitchFamily="18" charset="0"/>
            </a:rPr>
            <a:t>Interday</a:t>
          </a:r>
          <a:r>
            <a:rPr lang="en-US" dirty="0">
              <a:latin typeface="Times New Roman" panose="02020603050405020304" pitchFamily="18" charset="0"/>
              <a:cs typeface="Times New Roman" panose="02020603050405020304" pitchFamily="18" charset="0"/>
            </a:rPr>
            <a:t> Precision for Mirabegron which shows the high precision % amount in between 98% to 102% indicates to analytical method that concluded.</a:t>
          </a:r>
          <a:endParaRPr lang="en-IN" dirty="0">
            <a:latin typeface="Times New Roman" panose="02020603050405020304" pitchFamily="18" charset="0"/>
            <a:cs typeface="Times New Roman" panose="02020603050405020304" pitchFamily="18" charset="0"/>
          </a:endParaRPr>
        </a:p>
      </dgm:t>
    </dgm:pt>
    <dgm:pt modelId="{77FF2602-EE24-482E-B3D1-4528BB4FEA90}" type="parTrans" cxnId="{0E70FE8A-E7E6-494E-8474-3875DCEF19BE}">
      <dgm:prSet/>
      <dgm:spPr/>
      <dgm:t>
        <a:bodyPr/>
        <a:lstStyle/>
        <a:p>
          <a:endParaRPr lang="en-US"/>
        </a:p>
      </dgm:t>
    </dgm:pt>
    <dgm:pt modelId="{3ECECE41-1CB4-4F6F-951F-146C3A5E9889}" type="sibTrans" cxnId="{0E70FE8A-E7E6-494E-8474-3875DCEF19BE}">
      <dgm:prSet/>
      <dgm:spPr/>
      <dgm:t>
        <a:bodyPr/>
        <a:lstStyle/>
        <a:p>
          <a:endParaRPr lang="en-US"/>
        </a:p>
      </dgm:t>
    </dgm:pt>
    <dgm:pt modelId="{5362422F-ECB5-4DF9-9127-358755B48BB1}" type="pres">
      <dgm:prSet presAssocID="{3037F0DF-6329-4833-BC0B-447ECA6447BD}" presName="Name0" presStyleCnt="0">
        <dgm:presLayoutVars>
          <dgm:dir/>
          <dgm:animLvl val="lvl"/>
          <dgm:resizeHandles val="exact"/>
        </dgm:presLayoutVars>
      </dgm:prSet>
      <dgm:spPr/>
    </dgm:pt>
    <dgm:pt modelId="{6AEDF150-33DA-4C29-B885-4C6341609A81}" type="pres">
      <dgm:prSet presAssocID="{D8BD88F9-742A-4306-8855-9F61799250F2}" presName="linNode" presStyleCnt="0"/>
      <dgm:spPr/>
    </dgm:pt>
    <dgm:pt modelId="{3E1C718B-A195-4152-8EF9-081AC16856E4}" type="pres">
      <dgm:prSet presAssocID="{D8BD88F9-742A-4306-8855-9F61799250F2}" presName="parentText" presStyleLbl="node1" presStyleIdx="0" presStyleCnt="1" custScaleX="277068" custLinFactNeighborX="-1701">
        <dgm:presLayoutVars>
          <dgm:chMax val="1"/>
          <dgm:bulletEnabled val="1"/>
        </dgm:presLayoutVars>
      </dgm:prSet>
      <dgm:spPr/>
    </dgm:pt>
  </dgm:ptLst>
  <dgm:cxnLst>
    <dgm:cxn modelId="{0BC89707-783E-4451-95AA-F3238010B75F}" type="presOf" srcId="{D8BD88F9-742A-4306-8855-9F61799250F2}" destId="{3E1C718B-A195-4152-8EF9-081AC16856E4}" srcOrd="0" destOrd="0" presId="urn:microsoft.com/office/officeart/2005/8/layout/vList5"/>
    <dgm:cxn modelId="{55223B36-DAD7-4E0C-B020-BF9C64D02A9B}" type="presOf" srcId="{3037F0DF-6329-4833-BC0B-447ECA6447BD}" destId="{5362422F-ECB5-4DF9-9127-358755B48BB1}" srcOrd="0" destOrd="0" presId="urn:microsoft.com/office/officeart/2005/8/layout/vList5"/>
    <dgm:cxn modelId="{0E70FE8A-E7E6-494E-8474-3875DCEF19BE}" srcId="{3037F0DF-6329-4833-BC0B-447ECA6447BD}" destId="{D8BD88F9-742A-4306-8855-9F61799250F2}" srcOrd="0" destOrd="0" parTransId="{77FF2602-EE24-482E-B3D1-4528BB4FEA90}" sibTransId="{3ECECE41-1CB4-4F6F-951F-146C3A5E9889}"/>
    <dgm:cxn modelId="{E293EA73-9DDE-4D7C-B78A-75B5A9B541BB}" type="presParOf" srcId="{5362422F-ECB5-4DF9-9127-358755B48BB1}" destId="{6AEDF150-33DA-4C29-B885-4C6341609A81}" srcOrd="0" destOrd="0" presId="urn:microsoft.com/office/officeart/2005/8/layout/vList5"/>
    <dgm:cxn modelId="{3C3E7495-0A59-4CC3-B398-FD76A4BB51CB}" type="presParOf" srcId="{6AEDF150-33DA-4C29-B885-4C6341609A81}" destId="{3E1C718B-A195-4152-8EF9-081AC16856E4}"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F73216C-2284-42DA-A6C6-12AE7957C462}"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D78FDA99-217C-4973-8384-450A3E1362CF}">
      <dgm:prSet>
        <dgm:style>
          <a:lnRef idx="0">
            <a:scrgbClr r="0" g="0" b="0"/>
          </a:lnRef>
          <a:fillRef idx="0">
            <a:scrgbClr r="0" g="0" b="0"/>
          </a:fillRef>
          <a:effectRef idx="0">
            <a:scrgbClr r="0" g="0" b="0"/>
          </a:effectRef>
          <a:fontRef idx="minor">
            <a:schemeClr val="dk1"/>
          </a:fontRef>
        </dgm:style>
      </dgm:prSet>
      <dgm:spPr>
        <a:noFill/>
        <a:ln>
          <a:noFill/>
        </a:ln>
      </dgm:spPr>
      <dgm:t>
        <a:bodyPr/>
        <a:lstStyle/>
        <a:p>
          <a:pPr algn="just" rtl="0"/>
          <a:r>
            <a:rPr lang="en-US" dirty="0">
              <a:latin typeface="Times New Roman" panose="02020603050405020304" pitchFamily="18" charset="0"/>
              <a:cs typeface="Times New Roman" panose="02020603050405020304" pitchFamily="18" charset="0"/>
            </a:rPr>
            <a:t>The changes were done flow rate (±1 ml/ min</a:t>
          </a:r>
          <a:r>
            <a:rPr lang="en-US" baseline="30000" dirty="0">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 PH of mobile phase composition, and Wavelength. %RSD for peak area was calculated which should be less than 2%.the result shown in analytical method that concluded</a:t>
          </a:r>
          <a:r>
            <a:rPr lang="en-US" dirty="0"/>
            <a:t>.</a:t>
          </a:r>
          <a:endParaRPr lang="en-IN" dirty="0"/>
        </a:p>
      </dgm:t>
    </dgm:pt>
    <dgm:pt modelId="{4C4728DD-A10F-4EAF-824D-051F5587F577}" type="parTrans" cxnId="{D5F681D5-BB01-4CC8-B5AC-0B8AFE2C039C}">
      <dgm:prSet/>
      <dgm:spPr/>
      <dgm:t>
        <a:bodyPr/>
        <a:lstStyle/>
        <a:p>
          <a:endParaRPr lang="en-US"/>
        </a:p>
      </dgm:t>
    </dgm:pt>
    <dgm:pt modelId="{583BF440-0F16-4E11-A913-9B44D0964E3F}" type="sibTrans" cxnId="{D5F681D5-BB01-4CC8-B5AC-0B8AFE2C039C}">
      <dgm:prSet/>
      <dgm:spPr/>
      <dgm:t>
        <a:bodyPr/>
        <a:lstStyle/>
        <a:p>
          <a:endParaRPr lang="en-US"/>
        </a:p>
      </dgm:t>
    </dgm:pt>
    <dgm:pt modelId="{D596FCD3-5378-4FC9-B852-C36AB51B8FEA}" type="pres">
      <dgm:prSet presAssocID="{1F73216C-2284-42DA-A6C6-12AE7957C462}" presName="Name0" presStyleCnt="0">
        <dgm:presLayoutVars>
          <dgm:dir/>
          <dgm:animLvl val="lvl"/>
          <dgm:resizeHandles val="exact"/>
        </dgm:presLayoutVars>
      </dgm:prSet>
      <dgm:spPr/>
    </dgm:pt>
    <dgm:pt modelId="{6F985C42-7D66-4682-8140-E445C35E309D}" type="pres">
      <dgm:prSet presAssocID="{D78FDA99-217C-4973-8384-450A3E1362CF}" presName="linNode" presStyleCnt="0"/>
      <dgm:spPr/>
    </dgm:pt>
    <dgm:pt modelId="{8E5DD8AA-349B-4D1E-AC9A-53F13993ABC2}" type="pres">
      <dgm:prSet presAssocID="{D78FDA99-217C-4973-8384-450A3E1362CF}" presName="parentText" presStyleLbl="node1" presStyleIdx="0" presStyleCnt="1" custScaleX="277778" custLinFactNeighborX="-84462" custLinFactNeighborY="-3265">
        <dgm:presLayoutVars>
          <dgm:chMax val="1"/>
          <dgm:bulletEnabled val="1"/>
        </dgm:presLayoutVars>
      </dgm:prSet>
      <dgm:spPr/>
    </dgm:pt>
  </dgm:ptLst>
  <dgm:cxnLst>
    <dgm:cxn modelId="{7E59D08F-CEB4-4CBB-899E-CE96009E33D9}" type="presOf" srcId="{D78FDA99-217C-4973-8384-450A3E1362CF}" destId="{8E5DD8AA-349B-4D1E-AC9A-53F13993ABC2}" srcOrd="0" destOrd="0" presId="urn:microsoft.com/office/officeart/2005/8/layout/vList5"/>
    <dgm:cxn modelId="{39A211A6-B7E0-4D5E-A1DE-666755272BD6}" type="presOf" srcId="{1F73216C-2284-42DA-A6C6-12AE7957C462}" destId="{D596FCD3-5378-4FC9-B852-C36AB51B8FEA}" srcOrd="0" destOrd="0" presId="urn:microsoft.com/office/officeart/2005/8/layout/vList5"/>
    <dgm:cxn modelId="{D5F681D5-BB01-4CC8-B5AC-0B8AFE2C039C}" srcId="{1F73216C-2284-42DA-A6C6-12AE7957C462}" destId="{D78FDA99-217C-4973-8384-450A3E1362CF}" srcOrd="0" destOrd="0" parTransId="{4C4728DD-A10F-4EAF-824D-051F5587F577}" sibTransId="{583BF440-0F16-4E11-A913-9B44D0964E3F}"/>
    <dgm:cxn modelId="{1444C6FC-5D8D-4A58-8A06-7CFFA1333FDB}" type="presParOf" srcId="{D596FCD3-5378-4FC9-B852-C36AB51B8FEA}" destId="{6F985C42-7D66-4682-8140-E445C35E309D}" srcOrd="0" destOrd="0" presId="urn:microsoft.com/office/officeart/2005/8/layout/vList5"/>
    <dgm:cxn modelId="{13255D43-3FFB-4DE8-886C-51D9279AA1F7}" type="presParOf" srcId="{6F985C42-7D66-4682-8140-E445C35E309D}" destId="{8E5DD8AA-349B-4D1E-AC9A-53F13993ABC2}"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F5BA0A9-6A4C-4C79-BDC6-98A4B57F83FD}"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15FBE797-1A16-4972-B472-2FF892DFC0A6}">
      <dgm:prSet>
        <dgm:style>
          <a:lnRef idx="0">
            <a:scrgbClr r="0" g="0" b="0"/>
          </a:lnRef>
          <a:fillRef idx="0">
            <a:scrgbClr r="0" g="0" b="0"/>
          </a:fillRef>
          <a:effectRef idx="0">
            <a:scrgbClr r="0" g="0" b="0"/>
          </a:effectRef>
          <a:fontRef idx="minor">
            <a:schemeClr val="dk1"/>
          </a:fontRef>
        </dgm:style>
      </dgm:prSet>
      <dgm:spPr>
        <a:noFill/>
        <a:ln>
          <a:noFill/>
        </a:ln>
      </dgm:spPr>
      <dgm:t>
        <a:bodyPr/>
        <a:lstStyle/>
        <a:p>
          <a:pPr rtl="0"/>
          <a:r>
            <a:rPr lang="en-US" dirty="0">
              <a:latin typeface="Times New Roman" panose="02020603050405020304" pitchFamily="18" charset="0"/>
              <a:cs typeface="Times New Roman" panose="02020603050405020304" pitchFamily="18" charset="0"/>
            </a:rPr>
            <a:t>LOD of MBG was found to be 0.0572(µg/ml</a:t>
          </a:r>
          <a:r>
            <a:rPr lang="en-US" dirty="0"/>
            <a:t>)</a:t>
          </a:r>
          <a:endParaRPr lang="en-IN" dirty="0"/>
        </a:p>
      </dgm:t>
    </dgm:pt>
    <dgm:pt modelId="{BB62593C-C1C0-4D50-99F2-388D7EB889D1}" type="parTrans" cxnId="{E9E41D8B-A8FD-48D5-9886-B7D7201DFA94}">
      <dgm:prSet/>
      <dgm:spPr/>
      <dgm:t>
        <a:bodyPr/>
        <a:lstStyle/>
        <a:p>
          <a:endParaRPr lang="en-US"/>
        </a:p>
      </dgm:t>
    </dgm:pt>
    <dgm:pt modelId="{32440A72-7593-4B99-A390-7368C37FD1C4}" type="sibTrans" cxnId="{E9E41D8B-A8FD-48D5-9886-B7D7201DFA94}">
      <dgm:prSet/>
      <dgm:spPr/>
      <dgm:t>
        <a:bodyPr/>
        <a:lstStyle/>
        <a:p>
          <a:endParaRPr lang="en-US"/>
        </a:p>
      </dgm:t>
    </dgm:pt>
    <dgm:pt modelId="{55497C06-224A-4AB5-AEEC-FCA3EC530014}" type="pres">
      <dgm:prSet presAssocID="{7F5BA0A9-6A4C-4C79-BDC6-98A4B57F83FD}" presName="Name0" presStyleCnt="0">
        <dgm:presLayoutVars>
          <dgm:dir/>
          <dgm:animLvl val="lvl"/>
          <dgm:resizeHandles val="exact"/>
        </dgm:presLayoutVars>
      </dgm:prSet>
      <dgm:spPr/>
    </dgm:pt>
    <dgm:pt modelId="{F7224280-00B0-4010-B4BB-12E663C25DBE}" type="pres">
      <dgm:prSet presAssocID="{15FBE797-1A16-4972-B472-2FF892DFC0A6}" presName="linNode" presStyleCnt="0"/>
      <dgm:spPr/>
    </dgm:pt>
    <dgm:pt modelId="{97095AA8-88E6-4501-A53F-C57645A7E580}" type="pres">
      <dgm:prSet presAssocID="{15FBE797-1A16-4972-B472-2FF892DFC0A6}" presName="parentText" presStyleLbl="node1" presStyleIdx="0" presStyleCnt="1" custScaleX="277778" custLinFactNeighborX="-10246" custLinFactNeighborY="-14231">
        <dgm:presLayoutVars>
          <dgm:chMax val="1"/>
          <dgm:bulletEnabled val="1"/>
        </dgm:presLayoutVars>
      </dgm:prSet>
      <dgm:spPr/>
    </dgm:pt>
  </dgm:ptLst>
  <dgm:cxnLst>
    <dgm:cxn modelId="{5F8A1D62-60C9-487A-A749-FC694B1AA1A8}" type="presOf" srcId="{15FBE797-1A16-4972-B472-2FF892DFC0A6}" destId="{97095AA8-88E6-4501-A53F-C57645A7E580}" srcOrd="0" destOrd="0" presId="urn:microsoft.com/office/officeart/2005/8/layout/vList5"/>
    <dgm:cxn modelId="{E9E41D8B-A8FD-48D5-9886-B7D7201DFA94}" srcId="{7F5BA0A9-6A4C-4C79-BDC6-98A4B57F83FD}" destId="{15FBE797-1A16-4972-B472-2FF892DFC0A6}" srcOrd="0" destOrd="0" parTransId="{BB62593C-C1C0-4D50-99F2-388D7EB889D1}" sibTransId="{32440A72-7593-4B99-A390-7368C37FD1C4}"/>
    <dgm:cxn modelId="{BADE84FE-8BDB-46E3-8EA9-6EB5C013F7C8}" type="presOf" srcId="{7F5BA0A9-6A4C-4C79-BDC6-98A4B57F83FD}" destId="{55497C06-224A-4AB5-AEEC-FCA3EC530014}" srcOrd="0" destOrd="0" presId="urn:microsoft.com/office/officeart/2005/8/layout/vList5"/>
    <dgm:cxn modelId="{3FFD7B54-45FD-45FD-B7EC-7365C241A901}" type="presParOf" srcId="{55497C06-224A-4AB5-AEEC-FCA3EC530014}" destId="{F7224280-00B0-4010-B4BB-12E663C25DBE}" srcOrd="0" destOrd="0" presId="urn:microsoft.com/office/officeart/2005/8/layout/vList5"/>
    <dgm:cxn modelId="{94A4DBCE-30E5-4694-8395-A9F4D9FDAC24}" type="presParOf" srcId="{F7224280-00B0-4010-B4BB-12E663C25DBE}" destId="{97095AA8-88E6-4501-A53F-C57645A7E580}" srcOrd="0" destOrd="0" presId="urn:microsoft.com/office/officeart/2005/8/layout/vList5"/>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2486CDA-ACA6-4CCC-9DA1-067968E59987}"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5A28479E-9926-4A9A-956C-7442334F715C}">
      <dgm:prSet>
        <dgm:style>
          <a:lnRef idx="0">
            <a:scrgbClr r="0" g="0" b="0"/>
          </a:lnRef>
          <a:fillRef idx="0">
            <a:scrgbClr r="0" g="0" b="0"/>
          </a:fillRef>
          <a:effectRef idx="0">
            <a:scrgbClr r="0" g="0" b="0"/>
          </a:effectRef>
          <a:fontRef idx="minor">
            <a:schemeClr val="dk1"/>
          </a:fontRef>
        </dgm:style>
      </dgm:prSet>
      <dgm:spPr>
        <a:noFill/>
        <a:ln>
          <a:noFill/>
        </a:ln>
      </dgm:spPr>
      <dgm:t>
        <a:bodyPr/>
        <a:lstStyle/>
        <a:p>
          <a:pPr rtl="0"/>
          <a:r>
            <a:rPr lang="en-US" dirty="0">
              <a:latin typeface="Times New Roman" panose="02020603050405020304" pitchFamily="18" charset="0"/>
              <a:cs typeface="Times New Roman" panose="02020603050405020304" pitchFamily="18" charset="0"/>
            </a:rPr>
            <a:t>LOD of MBG was found to be 0.1735 (</a:t>
          </a:r>
          <a:r>
            <a:rPr lang="en-US" dirty="0" err="1">
              <a:latin typeface="Times New Roman" panose="02020603050405020304" pitchFamily="18" charset="0"/>
              <a:cs typeface="Times New Roman" panose="02020603050405020304" pitchFamily="18" charset="0"/>
            </a:rPr>
            <a:t>μg</a:t>
          </a:r>
          <a:r>
            <a:rPr lang="en-US" dirty="0">
              <a:latin typeface="Times New Roman" panose="02020603050405020304" pitchFamily="18" charset="0"/>
              <a:cs typeface="Times New Roman" panose="02020603050405020304" pitchFamily="18" charset="0"/>
            </a:rPr>
            <a:t>/mL)</a:t>
          </a:r>
          <a:endParaRPr lang="en-IN" dirty="0">
            <a:latin typeface="Times New Roman" panose="02020603050405020304" pitchFamily="18" charset="0"/>
            <a:cs typeface="Times New Roman" panose="02020603050405020304" pitchFamily="18" charset="0"/>
          </a:endParaRPr>
        </a:p>
      </dgm:t>
    </dgm:pt>
    <dgm:pt modelId="{B384EC53-F54D-435C-8551-3EF8BC26296F}" type="parTrans" cxnId="{146C9196-7726-4019-A5E7-09DB57F2301D}">
      <dgm:prSet/>
      <dgm:spPr/>
      <dgm:t>
        <a:bodyPr/>
        <a:lstStyle/>
        <a:p>
          <a:endParaRPr lang="en-US"/>
        </a:p>
      </dgm:t>
    </dgm:pt>
    <dgm:pt modelId="{A6C07A96-249B-4D65-B382-DB2EC801E032}" type="sibTrans" cxnId="{146C9196-7726-4019-A5E7-09DB57F2301D}">
      <dgm:prSet/>
      <dgm:spPr/>
      <dgm:t>
        <a:bodyPr/>
        <a:lstStyle/>
        <a:p>
          <a:endParaRPr lang="en-US"/>
        </a:p>
      </dgm:t>
    </dgm:pt>
    <dgm:pt modelId="{84223862-DE92-4CA2-9940-C470C0E90ADF}" type="pres">
      <dgm:prSet presAssocID="{E2486CDA-ACA6-4CCC-9DA1-067968E59987}" presName="Name0" presStyleCnt="0">
        <dgm:presLayoutVars>
          <dgm:dir/>
          <dgm:animLvl val="lvl"/>
          <dgm:resizeHandles val="exact"/>
        </dgm:presLayoutVars>
      </dgm:prSet>
      <dgm:spPr/>
    </dgm:pt>
    <dgm:pt modelId="{33CF2731-6D07-4CAA-BCE7-41C040019B78}" type="pres">
      <dgm:prSet presAssocID="{5A28479E-9926-4A9A-956C-7442334F715C}" presName="linNode" presStyleCnt="0"/>
      <dgm:spPr/>
    </dgm:pt>
    <dgm:pt modelId="{06A27FB6-4048-42DD-9391-067F8A31EAC0}" type="pres">
      <dgm:prSet presAssocID="{5A28479E-9926-4A9A-956C-7442334F715C}" presName="parentText" presStyleLbl="node1" presStyleIdx="0" presStyleCnt="1" custScaleX="277778">
        <dgm:presLayoutVars>
          <dgm:chMax val="1"/>
          <dgm:bulletEnabled val="1"/>
        </dgm:presLayoutVars>
      </dgm:prSet>
      <dgm:spPr/>
    </dgm:pt>
  </dgm:ptLst>
  <dgm:cxnLst>
    <dgm:cxn modelId="{146C9196-7726-4019-A5E7-09DB57F2301D}" srcId="{E2486CDA-ACA6-4CCC-9DA1-067968E59987}" destId="{5A28479E-9926-4A9A-956C-7442334F715C}" srcOrd="0" destOrd="0" parTransId="{B384EC53-F54D-435C-8551-3EF8BC26296F}" sibTransId="{A6C07A96-249B-4D65-B382-DB2EC801E032}"/>
    <dgm:cxn modelId="{1EBDDABD-077B-46ED-B1F5-493912AAC417}" type="presOf" srcId="{E2486CDA-ACA6-4CCC-9DA1-067968E59987}" destId="{84223862-DE92-4CA2-9940-C470C0E90ADF}" srcOrd="0" destOrd="0" presId="urn:microsoft.com/office/officeart/2005/8/layout/vList5"/>
    <dgm:cxn modelId="{7D0A27E1-82E2-4598-B82E-32DC4472F574}" type="presOf" srcId="{5A28479E-9926-4A9A-956C-7442334F715C}" destId="{06A27FB6-4048-42DD-9391-067F8A31EAC0}" srcOrd="0" destOrd="0" presId="urn:microsoft.com/office/officeart/2005/8/layout/vList5"/>
    <dgm:cxn modelId="{02063801-CF45-44E0-A501-ED2BF9541335}" type="presParOf" srcId="{84223862-DE92-4CA2-9940-C470C0E90ADF}" destId="{33CF2731-6D07-4CAA-BCE7-41C040019B78}" srcOrd="0" destOrd="0" presId="urn:microsoft.com/office/officeart/2005/8/layout/vList5"/>
    <dgm:cxn modelId="{232F4AF2-3BD7-4D00-8419-221D9B8CBB87}" type="presParOf" srcId="{33CF2731-6D07-4CAA-BCE7-41C040019B78}" destId="{06A27FB6-4048-42DD-9391-067F8A31EAC0}"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4C80FE09-2EAF-4420-BE93-4DFD5621CBE0}"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BE89E60C-6F8A-4C27-ABBB-51C36504FA70}">
      <dgm:prSet custT="1">
        <dgm:style>
          <a:lnRef idx="0">
            <a:scrgbClr r="0" g="0" b="0"/>
          </a:lnRef>
          <a:fillRef idx="0">
            <a:scrgbClr r="0" g="0" b="0"/>
          </a:fillRef>
          <a:effectRef idx="0">
            <a:scrgbClr r="0" g="0" b="0"/>
          </a:effectRef>
          <a:fontRef idx="minor">
            <a:schemeClr val="dk1"/>
          </a:fontRef>
        </dgm:style>
      </dgm:prSet>
      <dgm:spPr>
        <a:noFill/>
        <a:ln>
          <a:noFill/>
        </a:ln>
      </dgm:spPr>
      <dgm:t>
        <a:bodyPr/>
        <a:lstStyle/>
        <a:p>
          <a:pPr rtl="0"/>
          <a:r>
            <a:rPr lang="en-US" sz="2400" dirty="0">
              <a:latin typeface="Times New Roman" panose="02020603050405020304" pitchFamily="18" charset="0"/>
              <a:cs typeface="Times New Roman" panose="02020603050405020304" pitchFamily="18" charset="0"/>
            </a:rPr>
            <a:t>Tablet Assay for % Lable claim for was also was found to be  99.80%and %RSD are less than 2 satisfactory result was concluded</a:t>
          </a:r>
          <a:r>
            <a:rPr lang="en-US" sz="2500" dirty="0"/>
            <a:t>.</a:t>
          </a:r>
          <a:endParaRPr lang="en-IN" sz="2500" dirty="0"/>
        </a:p>
      </dgm:t>
    </dgm:pt>
    <dgm:pt modelId="{573E1A75-6E33-49D6-AF96-43F452105F86}" type="parTrans" cxnId="{06A4179F-72E1-455B-86D8-4A2426898064}">
      <dgm:prSet/>
      <dgm:spPr/>
      <dgm:t>
        <a:bodyPr/>
        <a:lstStyle/>
        <a:p>
          <a:endParaRPr lang="en-US"/>
        </a:p>
      </dgm:t>
    </dgm:pt>
    <dgm:pt modelId="{F2C51191-CB29-4ACC-B166-60CED95714D8}" type="sibTrans" cxnId="{06A4179F-72E1-455B-86D8-4A2426898064}">
      <dgm:prSet/>
      <dgm:spPr/>
      <dgm:t>
        <a:bodyPr/>
        <a:lstStyle/>
        <a:p>
          <a:endParaRPr lang="en-US"/>
        </a:p>
      </dgm:t>
    </dgm:pt>
    <dgm:pt modelId="{AC59526F-5208-483F-9943-5D17D69A090B}" type="pres">
      <dgm:prSet presAssocID="{4C80FE09-2EAF-4420-BE93-4DFD5621CBE0}" presName="Name0" presStyleCnt="0">
        <dgm:presLayoutVars>
          <dgm:dir/>
          <dgm:animLvl val="lvl"/>
          <dgm:resizeHandles val="exact"/>
        </dgm:presLayoutVars>
      </dgm:prSet>
      <dgm:spPr/>
    </dgm:pt>
    <dgm:pt modelId="{73CC5EF4-1326-4D39-B723-50FD07B59953}" type="pres">
      <dgm:prSet presAssocID="{BE89E60C-6F8A-4C27-ABBB-51C36504FA70}" presName="linNode" presStyleCnt="0"/>
      <dgm:spPr/>
    </dgm:pt>
    <dgm:pt modelId="{7E7F8B1F-B269-4071-B37C-DA9105C9957C}" type="pres">
      <dgm:prSet presAssocID="{BE89E60C-6F8A-4C27-ABBB-51C36504FA70}" presName="parentText" presStyleLbl="node1" presStyleIdx="0" presStyleCnt="1" custScaleX="273860" custLinFactNeighborX="-5093" custLinFactNeighborY="-7779">
        <dgm:presLayoutVars>
          <dgm:chMax val="1"/>
          <dgm:bulletEnabled val="1"/>
        </dgm:presLayoutVars>
      </dgm:prSet>
      <dgm:spPr/>
    </dgm:pt>
  </dgm:ptLst>
  <dgm:cxnLst>
    <dgm:cxn modelId="{DD6C6D80-30C4-4B85-95A6-81DDE9EF7D86}" type="presOf" srcId="{4C80FE09-2EAF-4420-BE93-4DFD5621CBE0}" destId="{AC59526F-5208-483F-9943-5D17D69A090B}" srcOrd="0" destOrd="0" presId="urn:microsoft.com/office/officeart/2005/8/layout/vList5"/>
    <dgm:cxn modelId="{06A4179F-72E1-455B-86D8-4A2426898064}" srcId="{4C80FE09-2EAF-4420-BE93-4DFD5621CBE0}" destId="{BE89E60C-6F8A-4C27-ABBB-51C36504FA70}" srcOrd="0" destOrd="0" parTransId="{573E1A75-6E33-49D6-AF96-43F452105F86}" sibTransId="{F2C51191-CB29-4ACC-B166-60CED95714D8}"/>
    <dgm:cxn modelId="{702E4DFE-C077-4F41-A0CC-6E1A79F8E281}" type="presOf" srcId="{BE89E60C-6F8A-4C27-ABBB-51C36504FA70}" destId="{7E7F8B1F-B269-4071-B37C-DA9105C9957C}" srcOrd="0" destOrd="0" presId="urn:microsoft.com/office/officeart/2005/8/layout/vList5"/>
    <dgm:cxn modelId="{E20041E9-19E9-4B60-80C8-0CBAA336CD7C}" type="presParOf" srcId="{AC59526F-5208-483F-9943-5D17D69A090B}" destId="{73CC5EF4-1326-4D39-B723-50FD07B59953}" srcOrd="0" destOrd="0" presId="urn:microsoft.com/office/officeart/2005/8/layout/vList5"/>
    <dgm:cxn modelId="{8828966B-2BE7-4EE8-9DB9-31488E96E4E5}" type="presParOf" srcId="{73CC5EF4-1326-4D39-B723-50FD07B59953}" destId="{7E7F8B1F-B269-4071-B37C-DA9105C9957C}"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43D53C-0AE3-42F2-86C4-AB282B005805}">
      <dsp:nvSpPr>
        <dsp:cNvPr id="0" name=""/>
        <dsp:cNvSpPr/>
      </dsp:nvSpPr>
      <dsp:spPr>
        <a:xfrm>
          <a:off x="2542" y="0"/>
          <a:ext cx="5206995" cy="830997"/>
        </a:xfrm>
        <a:prstGeom prst="roundRect">
          <a:avLst/>
        </a:prstGeom>
        <a:noFill/>
        <a:ln>
          <a:noFill/>
        </a:ln>
        <a:effectLst/>
      </dsp:spPr>
      <dsp:style>
        <a:lnRef idx="0">
          <a:scrgbClr r="0" g="0" b="0"/>
        </a:lnRef>
        <a:fillRef idx="0">
          <a:scrgbClr r="0" g="0" b="0"/>
        </a:fillRef>
        <a:effectRef idx="0">
          <a:scrgbClr r="0" g="0" b="0"/>
        </a:effectRef>
        <a:fontRef idx="minor">
          <a:schemeClr val="dk1"/>
        </a:fontRef>
      </dsp:style>
      <dsp:txBody>
        <a:bodyPr spcFirstLastPara="0" vert="horz" wrap="square" lIns="91440" tIns="45720" rIns="91440" bIns="45720" numCol="1" spcCol="1270" anchor="ctr" anchorCtr="0">
          <a:noAutofit/>
        </a:bodyPr>
        <a:lstStyle/>
        <a:p>
          <a:pPr marL="0" lvl="0" indent="0" algn="ctr" defTabSz="1066800" rtl="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Accuracy of method by recovery studies was found to be between 98-102%</a:t>
          </a:r>
          <a:endParaRPr lang="en-IN" sz="2400" kern="1200" dirty="0">
            <a:latin typeface="Times New Roman" panose="02020603050405020304" pitchFamily="18" charset="0"/>
            <a:cs typeface="Times New Roman" panose="02020603050405020304" pitchFamily="18" charset="0"/>
          </a:endParaRPr>
        </a:p>
      </dsp:txBody>
      <dsp:txXfrm>
        <a:off x="43108" y="40566"/>
        <a:ext cx="5125863" cy="74986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513E48-812C-4C6D-B580-AF899061C9CC}">
      <dsp:nvSpPr>
        <dsp:cNvPr id="0" name=""/>
        <dsp:cNvSpPr/>
      </dsp:nvSpPr>
      <dsp:spPr>
        <a:xfrm>
          <a:off x="5047" y="0"/>
          <a:ext cx="10335687" cy="1200329"/>
        </a:xfrm>
        <a:prstGeom prst="roundRect">
          <a:avLst/>
        </a:prstGeom>
        <a:noFill/>
        <a:ln>
          <a:noFill/>
        </a:ln>
        <a:effectLst/>
      </dsp:spPr>
      <dsp:style>
        <a:lnRef idx="0">
          <a:scrgbClr r="0" g="0" b="0"/>
        </a:lnRef>
        <a:fillRef idx="0">
          <a:scrgbClr r="0" g="0" b="0"/>
        </a:fillRef>
        <a:effectRef idx="0">
          <a:scrgbClr r="0" g="0" b="0"/>
        </a:effectRef>
        <a:fontRef idx="minor">
          <a:schemeClr val="dk1"/>
        </a:fontRef>
      </dsp:style>
      <dsp:txBody>
        <a:bodyPr spcFirstLastPara="0" vert="horz" wrap="square" lIns="95250" tIns="47625" rIns="95250" bIns="47625" numCol="1" spcCol="1270" anchor="ctr" anchorCtr="0">
          <a:noAutofit/>
        </a:bodyPr>
        <a:lstStyle/>
        <a:p>
          <a:pPr marL="0" lvl="0" indent="0" algn="ctr" defTabSz="1111250" rtl="0">
            <a:lnSpc>
              <a:spcPct val="90000"/>
            </a:lnSpc>
            <a:spcBef>
              <a:spcPct val="0"/>
            </a:spcBef>
            <a:spcAft>
              <a:spcPct val="35000"/>
            </a:spcAft>
            <a:buNone/>
          </a:pPr>
          <a:r>
            <a:rPr lang="en-US" sz="2500" kern="1200" dirty="0">
              <a:latin typeface="Times New Roman" panose="02020603050405020304" pitchFamily="18" charset="0"/>
              <a:cs typeface="Times New Roman" panose="02020603050405020304" pitchFamily="18" charset="0"/>
            </a:rPr>
            <a:t>Repeatability studies of Mirabegron was found to be 98.30 ,The % RSD was less than 2, which shows high percentage amount found in between 98% to 102% indicates the analytical method that concluded .</a:t>
          </a:r>
          <a:endParaRPr lang="en-IN" sz="2500" kern="1200" dirty="0">
            <a:latin typeface="Times New Roman" panose="02020603050405020304" pitchFamily="18" charset="0"/>
            <a:cs typeface="Times New Roman" panose="02020603050405020304" pitchFamily="18" charset="0"/>
          </a:endParaRPr>
        </a:p>
      </dsp:txBody>
      <dsp:txXfrm>
        <a:off x="63642" y="58595"/>
        <a:ext cx="10218497" cy="108313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1C718B-A195-4152-8EF9-081AC16856E4}">
      <dsp:nvSpPr>
        <dsp:cNvPr id="0" name=""/>
        <dsp:cNvSpPr/>
      </dsp:nvSpPr>
      <dsp:spPr>
        <a:xfrm>
          <a:off x="0" y="0"/>
          <a:ext cx="10202078" cy="1200329"/>
        </a:xfrm>
        <a:prstGeom prst="roundRect">
          <a:avLst/>
        </a:prstGeom>
        <a:noFill/>
        <a:ln>
          <a:noFill/>
        </a:ln>
        <a:effectLst/>
      </dsp:spPr>
      <dsp:style>
        <a:lnRef idx="0">
          <a:scrgbClr r="0" g="0" b="0"/>
        </a:lnRef>
        <a:fillRef idx="0">
          <a:scrgbClr r="0" g="0" b="0"/>
        </a:fillRef>
        <a:effectRef idx="0">
          <a:scrgbClr r="0" g="0" b="0"/>
        </a:effectRef>
        <a:fontRef idx="minor">
          <a:schemeClr val="dk1"/>
        </a:fontRef>
      </dsp:style>
      <dsp:txBody>
        <a:bodyPr spcFirstLastPara="0" vert="horz" wrap="square" lIns="95250" tIns="47625" rIns="95250" bIns="47625" numCol="1" spcCol="1270" anchor="ctr" anchorCtr="0">
          <a:noAutofit/>
        </a:bodyPr>
        <a:lstStyle/>
        <a:p>
          <a:pPr marL="0" lvl="0" indent="0" algn="ctr" defTabSz="1111250" rtl="0">
            <a:lnSpc>
              <a:spcPct val="90000"/>
            </a:lnSpc>
            <a:spcBef>
              <a:spcPct val="0"/>
            </a:spcBef>
            <a:spcAft>
              <a:spcPct val="35000"/>
            </a:spcAft>
            <a:buNone/>
          </a:pPr>
          <a:r>
            <a:rPr lang="en-US" sz="2500" kern="1200" dirty="0">
              <a:latin typeface="Times New Roman" panose="02020603050405020304" pitchFamily="18" charset="0"/>
              <a:cs typeface="Times New Roman" panose="02020603050405020304" pitchFamily="18" charset="0"/>
            </a:rPr>
            <a:t>Intraday and </a:t>
          </a:r>
          <a:r>
            <a:rPr lang="en-US" sz="2500" kern="1200" dirty="0" err="1">
              <a:latin typeface="Times New Roman" panose="02020603050405020304" pitchFamily="18" charset="0"/>
              <a:cs typeface="Times New Roman" panose="02020603050405020304" pitchFamily="18" charset="0"/>
            </a:rPr>
            <a:t>Interday</a:t>
          </a:r>
          <a:r>
            <a:rPr lang="en-US" sz="2500" kern="1200" dirty="0">
              <a:latin typeface="Times New Roman" panose="02020603050405020304" pitchFamily="18" charset="0"/>
              <a:cs typeface="Times New Roman" panose="02020603050405020304" pitchFamily="18" charset="0"/>
            </a:rPr>
            <a:t> Precision for Mirabegron which shows the high precision % amount in between 98% to 102% indicates to analytical method that concluded.</a:t>
          </a:r>
          <a:endParaRPr lang="en-IN" sz="2500" kern="1200" dirty="0">
            <a:latin typeface="Times New Roman" panose="02020603050405020304" pitchFamily="18" charset="0"/>
            <a:cs typeface="Times New Roman" panose="02020603050405020304" pitchFamily="18" charset="0"/>
          </a:endParaRPr>
        </a:p>
      </dsp:txBody>
      <dsp:txXfrm>
        <a:off x="58595" y="58595"/>
        <a:ext cx="10084888" cy="108313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5DD8AA-349B-4D1E-AC9A-53F13993ABC2}">
      <dsp:nvSpPr>
        <dsp:cNvPr id="0" name=""/>
        <dsp:cNvSpPr/>
      </dsp:nvSpPr>
      <dsp:spPr>
        <a:xfrm>
          <a:off x="0" y="0"/>
          <a:ext cx="10601039" cy="1200329"/>
        </a:xfrm>
        <a:prstGeom prst="roundRect">
          <a:avLst/>
        </a:prstGeom>
        <a:noFill/>
        <a:ln>
          <a:noFill/>
        </a:ln>
        <a:effectLst/>
      </dsp:spPr>
      <dsp:style>
        <a:lnRef idx="0">
          <a:scrgbClr r="0" g="0" b="0"/>
        </a:lnRef>
        <a:fillRef idx="0">
          <a:scrgbClr r="0" g="0" b="0"/>
        </a:fillRef>
        <a:effectRef idx="0">
          <a:scrgbClr r="0" g="0" b="0"/>
        </a:effectRef>
        <a:fontRef idx="minor">
          <a:schemeClr val="dk1"/>
        </a:fontRef>
      </dsp:style>
      <dsp:txBody>
        <a:bodyPr spcFirstLastPara="0" vert="horz" wrap="square" lIns="91440" tIns="45720" rIns="91440" bIns="45720" numCol="1" spcCol="1270" anchor="ctr" anchorCtr="0">
          <a:noAutofit/>
        </a:bodyPr>
        <a:lstStyle/>
        <a:p>
          <a:pPr marL="0" lvl="0" indent="0" algn="just" defTabSz="1066800" rtl="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The changes were done flow rate (±1 ml/ min</a:t>
          </a:r>
          <a:r>
            <a:rPr lang="en-US" sz="2400" kern="1200" baseline="30000" dirty="0">
              <a:latin typeface="Times New Roman" panose="02020603050405020304" pitchFamily="18" charset="0"/>
              <a:cs typeface="Times New Roman" panose="02020603050405020304" pitchFamily="18" charset="0"/>
            </a:rPr>
            <a:t>-1</a:t>
          </a:r>
          <a:r>
            <a:rPr lang="en-US" sz="2400" kern="1200" dirty="0">
              <a:latin typeface="Times New Roman" panose="02020603050405020304" pitchFamily="18" charset="0"/>
              <a:cs typeface="Times New Roman" panose="02020603050405020304" pitchFamily="18" charset="0"/>
            </a:rPr>
            <a:t>), PH of mobile phase composition, and Wavelength. %RSD for peak area was calculated which should be less than 2%.the result shown in analytical method that concluded</a:t>
          </a:r>
          <a:r>
            <a:rPr lang="en-US" sz="2400" kern="1200" dirty="0"/>
            <a:t>.</a:t>
          </a:r>
          <a:endParaRPr lang="en-IN" sz="2400" kern="1200" dirty="0"/>
        </a:p>
      </dsp:txBody>
      <dsp:txXfrm>
        <a:off x="58595" y="58595"/>
        <a:ext cx="10483849" cy="108313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095AA8-88E6-4501-A53F-C57645A7E580}">
      <dsp:nvSpPr>
        <dsp:cNvPr id="0" name=""/>
        <dsp:cNvSpPr/>
      </dsp:nvSpPr>
      <dsp:spPr>
        <a:xfrm>
          <a:off x="0" y="0"/>
          <a:ext cx="10048587" cy="461665"/>
        </a:xfrm>
        <a:prstGeom prst="roundRect">
          <a:avLst/>
        </a:prstGeom>
        <a:noFill/>
        <a:ln>
          <a:noFill/>
        </a:ln>
        <a:effectLst/>
      </dsp:spPr>
      <dsp:style>
        <a:lnRef idx="0">
          <a:scrgbClr r="0" g="0" b="0"/>
        </a:lnRef>
        <a:fillRef idx="0">
          <a:scrgbClr r="0" g="0" b="0"/>
        </a:fillRef>
        <a:effectRef idx="0">
          <a:scrgbClr r="0" g="0" b="0"/>
        </a:effectRef>
        <a:fontRef idx="minor">
          <a:schemeClr val="dk1"/>
        </a:fontRef>
      </dsp:style>
      <dsp:txBody>
        <a:bodyPr spcFirstLastPara="0" vert="horz" wrap="square" lIns="91440" tIns="45720" rIns="91440" bIns="45720" numCol="1" spcCol="1270" anchor="ctr" anchorCtr="0">
          <a:noAutofit/>
        </a:bodyPr>
        <a:lstStyle/>
        <a:p>
          <a:pPr marL="0" lvl="0" indent="0" algn="ctr" defTabSz="1066800" rtl="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LOD of MBG was found to be 0.0572(µg/ml</a:t>
          </a:r>
          <a:r>
            <a:rPr lang="en-US" sz="2400" kern="1200" dirty="0"/>
            <a:t>)</a:t>
          </a:r>
          <a:endParaRPr lang="en-IN" sz="2400" kern="1200" dirty="0"/>
        </a:p>
      </dsp:txBody>
      <dsp:txXfrm>
        <a:off x="22537" y="22537"/>
        <a:ext cx="10003513" cy="41659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A27FB6-4048-42DD-9391-067F8A31EAC0}">
      <dsp:nvSpPr>
        <dsp:cNvPr id="0" name=""/>
        <dsp:cNvSpPr/>
      </dsp:nvSpPr>
      <dsp:spPr>
        <a:xfrm>
          <a:off x="4716" y="0"/>
          <a:ext cx="9657081" cy="461665"/>
        </a:xfrm>
        <a:prstGeom prst="roundRect">
          <a:avLst/>
        </a:prstGeom>
        <a:noFill/>
        <a:ln>
          <a:noFill/>
        </a:ln>
        <a:effectLst/>
      </dsp:spPr>
      <dsp:style>
        <a:lnRef idx="0">
          <a:scrgbClr r="0" g="0" b="0"/>
        </a:lnRef>
        <a:fillRef idx="0">
          <a:scrgbClr r="0" g="0" b="0"/>
        </a:fillRef>
        <a:effectRef idx="0">
          <a:scrgbClr r="0" g="0" b="0"/>
        </a:effectRef>
        <a:fontRef idx="minor">
          <a:schemeClr val="dk1"/>
        </a:fontRef>
      </dsp:style>
      <dsp:txBody>
        <a:bodyPr spcFirstLastPara="0" vert="horz" wrap="square" lIns="91440" tIns="45720" rIns="91440" bIns="45720" numCol="1" spcCol="1270" anchor="ctr" anchorCtr="0">
          <a:noAutofit/>
        </a:bodyPr>
        <a:lstStyle/>
        <a:p>
          <a:pPr marL="0" lvl="0" indent="0" algn="ctr" defTabSz="1066800" rtl="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LOD of MBG was found to be 0.1735 (</a:t>
          </a:r>
          <a:r>
            <a:rPr lang="en-US" sz="2400" kern="1200" dirty="0" err="1">
              <a:latin typeface="Times New Roman" panose="02020603050405020304" pitchFamily="18" charset="0"/>
              <a:cs typeface="Times New Roman" panose="02020603050405020304" pitchFamily="18" charset="0"/>
            </a:rPr>
            <a:t>μg</a:t>
          </a:r>
          <a:r>
            <a:rPr lang="en-US" sz="2400" kern="1200" dirty="0">
              <a:latin typeface="Times New Roman" panose="02020603050405020304" pitchFamily="18" charset="0"/>
              <a:cs typeface="Times New Roman" panose="02020603050405020304" pitchFamily="18" charset="0"/>
            </a:rPr>
            <a:t>/mL)</a:t>
          </a:r>
          <a:endParaRPr lang="en-IN" sz="2400" kern="1200" dirty="0">
            <a:latin typeface="Times New Roman" panose="02020603050405020304" pitchFamily="18" charset="0"/>
            <a:cs typeface="Times New Roman" panose="02020603050405020304" pitchFamily="18" charset="0"/>
          </a:endParaRPr>
        </a:p>
      </dsp:txBody>
      <dsp:txXfrm>
        <a:off x="27253" y="22537"/>
        <a:ext cx="9612007" cy="41659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7F8B1F-B269-4071-B37C-DA9105C9957C}">
      <dsp:nvSpPr>
        <dsp:cNvPr id="0" name=""/>
        <dsp:cNvSpPr/>
      </dsp:nvSpPr>
      <dsp:spPr>
        <a:xfrm>
          <a:off x="0" y="0"/>
          <a:ext cx="9130940" cy="922428"/>
        </a:xfrm>
        <a:prstGeom prst="roundRect">
          <a:avLst/>
        </a:prstGeom>
        <a:noFill/>
        <a:ln>
          <a:noFill/>
        </a:ln>
        <a:effectLst/>
      </dsp:spPr>
      <dsp:style>
        <a:lnRef idx="0">
          <a:scrgbClr r="0" g="0" b="0"/>
        </a:lnRef>
        <a:fillRef idx="0">
          <a:scrgbClr r="0" g="0" b="0"/>
        </a:fillRef>
        <a:effectRef idx="0">
          <a:scrgbClr r="0" g="0" b="0"/>
        </a:effectRef>
        <a:fontRef idx="minor">
          <a:schemeClr val="dk1"/>
        </a:fontRef>
      </dsp:style>
      <dsp:txBody>
        <a:bodyPr spcFirstLastPara="0" vert="horz" wrap="square" lIns="91440" tIns="45720" rIns="91440" bIns="45720" numCol="1" spcCol="1270" anchor="ctr" anchorCtr="0">
          <a:noAutofit/>
        </a:bodyPr>
        <a:lstStyle/>
        <a:p>
          <a:pPr marL="0" lvl="0" indent="0" algn="ctr" defTabSz="1066800" rtl="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Tablet Assay for % Lable claim for was also was found to be  99.80%and %RSD are less than 2 satisfactory result was concluded</a:t>
          </a:r>
          <a:r>
            <a:rPr lang="en-US" sz="2500" kern="1200" dirty="0"/>
            <a:t>.</a:t>
          </a:r>
          <a:endParaRPr lang="en-IN" sz="2500" kern="1200" dirty="0"/>
        </a:p>
      </dsp:txBody>
      <dsp:txXfrm>
        <a:off x="45029" y="45029"/>
        <a:ext cx="9040882" cy="832370"/>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3216FE-1D7F-4FC5-8A9B-2A429EB9F6DD}" type="datetimeFigureOut">
              <a:rPr lang="en-IN" smtClean="0"/>
              <a:pPr/>
              <a:t>08-04-2026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F6FF6E-D4BA-4FBB-8C47-810AE9233E00}" type="slidenum">
              <a:rPr lang="en-IN" smtClean="0"/>
              <a:pPr/>
              <a:t>‹#›</a:t>
            </a:fld>
            <a:endParaRPr lang="en-IN"/>
          </a:p>
        </p:txBody>
      </p:sp>
    </p:spTree>
    <p:extLst>
      <p:ext uri="{BB962C8B-B14F-4D97-AF65-F5344CB8AC3E}">
        <p14:creationId xmlns:p14="http://schemas.microsoft.com/office/powerpoint/2010/main" val="33168710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t>2026/4/8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9946917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t>2026/4/8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4955347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997B5FA-0921-464F-AAE1-844C04324D75}" type="datetimeFigureOut">
              <a:rPr lang="zh-CN" altLang="en-US" smtClean="0"/>
              <a:t>2026/4/8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779112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997B5FA-0921-464F-AAE1-844C04324D75}" type="datetimeFigureOut">
              <a:rPr lang="zh-CN" altLang="en-US" smtClean="0"/>
              <a:t>2026/4/8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0502202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997B5FA-0921-464F-AAE1-844C04324D75}" type="datetimeFigureOut">
              <a:rPr lang="zh-CN" altLang="en-US" smtClean="0"/>
              <a:t>2026/4/8</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5920442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997B5FA-0921-464F-AAE1-844C04324D75}" type="datetimeFigureOut">
              <a:rPr lang="zh-CN" altLang="en-US" smtClean="0"/>
              <a:t>2026/4/8</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6044499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97B5FA-0921-464F-AAE1-844C04324D75}" type="datetimeFigureOut">
              <a:rPr lang="zh-CN" altLang="en-US" smtClean="0"/>
              <a:t>2026/4/8</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377896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997B5FA-0921-464F-AAE1-844C04324D75}" type="datetimeFigureOut">
              <a:rPr lang="zh-CN" altLang="en-US" smtClean="0"/>
              <a:t>2026/4/8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1605680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997B5FA-0921-464F-AAE1-844C04324D75}" type="datetimeFigureOut">
              <a:rPr lang="zh-CN" altLang="en-US" smtClean="0"/>
              <a:t>2026/4/8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607444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997B5FA-0921-464F-AAE1-844C04324D75}" type="datetimeFigureOut">
              <a:rPr lang="zh-CN" altLang="en-US" smtClean="0"/>
              <a:t>2026/4/8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0372046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997B5FA-0921-464F-AAE1-844C04324D75}" type="datetimeFigureOut">
              <a:rPr lang="zh-CN" altLang="en-US" smtClean="0"/>
              <a:t>2026/4/8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5316283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997B5FA-0921-464F-AAE1-844C04324D75}" type="datetimeFigureOut">
              <a:rPr lang="zh-CN" altLang="en-US" smtClean="0"/>
              <a:t>2026/4/8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933065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997B5FA-0921-464F-AAE1-844C04324D75}" type="datetimeFigureOut">
              <a:rPr lang="zh-CN" altLang="en-US" smtClean="0"/>
              <a:t>2026/4/8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391996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997B5FA-0921-464F-AAE1-844C04324D75}" type="datetimeFigureOut">
              <a:rPr lang="zh-CN" altLang="en-US" smtClean="0"/>
              <a:t>2026/4/8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8911514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t>2026/4/8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2160399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t>2026/4/8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6309083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theme" Target="../theme/theme1.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997B5FA-0921-464F-AAE1-844C04324D75}" type="datetimeFigureOut">
              <a:rPr lang="zh-CN" altLang="en-US" smtClean="0"/>
              <a:t>2026/4/8</a:t>
            </a:fld>
            <a:endParaRPr lang="zh-CN" alt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679440155"/>
      </p:ext>
    </p:extLst>
  </p:cSld>
  <p:clrMap bg1="lt1" tx1="dk1" bg2="lt2" tx2="dk2" accent1="accent1" accent2="accent2" accent3="accent3" accent4="accent4" accent5="accent5" accent6="accent6" hlink="hlink" folHlink="folHlink"/>
  <p:sldLayoutIdLst>
    <p:sldLayoutId id="2147483836" r:id="rId1"/>
    <p:sldLayoutId id="2147483837" r:id="rId2"/>
    <p:sldLayoutId id="2147483838" r:id="rId3"/>
    <p:sldLayoutId id="2147483839" r:id="rId4"/>
    <p:sldLayoutId id="2147483840" r:id="rId5"/>
    <p:sldLayoutId id="2147483841" r:id="rId6"/>
    <p:sldLayoutId id="2147483842" r:id="rId7"/>
    <p:sldLayoutId id="2147483843" r:id="rId8"/>
    <p:sldLayoutId id="2147483844" r:id="rId9"/>
    <p:sldLayoutId id="2147483845" r:id="rId10"/>
    <p:sldLayoutId id="2147483846" r:id="rId11"/>
    <p:sldLayoutId id="2147483847" r:id="rId12"/>
    <p:sldLayoutId id="2147483848" r:id="rId13"/>
    <p:sldLayoutId id="2147483849" r:id="rId14"/>
    <p:sldLayoutId id="2147483850" r:id="rId15"/>
    <p:sldLayoutId id="2147483851" r:id="rId16"/>
  </p:sldLayoutIdLst>
  <p:transition>
    <p:cut/>
  </p:transition>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8.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Relationship Id="rId2" Type="http://schemas.openxmlformats.org/officeDocument/2006/relationships/image" Target="../media/image5.jpeg"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image" Target="../media/image5.jpeg" /><Relationship Id="rId1" Type="http://schemas.openxmlformats.org/officeDocument/2006/relationships/slideLayout" Target="../slideLayouts/slideLayout7.xml" /></Relationships>
</file>

<file path=ppt/slides/_rels/slide14.xml.rels><?xml version="1.0" encoding="UTF-8" standalone="yes"?>
<Relationships xmlns="http://schemas.openxmlformats.org/package/2006/relationships"><Relationship Id="rId8" Type="http://schemas.openxmlformats.org/officeDocument/2006/relationships/image" Target="../media/image12.png" /><Relationship Id="rId3" Type="http://schemas.openxmlformats.org/officeDocument/2006/relationships/image" Target="../media/image7.png" /><Relationship Id="rId7" Type="http://schemas.openxmlformats.org/officeDocument/2006/relationships/image" Target="../media/image11.png" /><Relationship Id="rId2" Type="http://schemas.openxmlformats.org/officeDocument/2006/relationships/image" Target="../media/image6.jpeg" /><Relationship Id="rId1" Type="http://schemas.openxmlformats.org/officeDocument/2006/relationships/slideLayout" Target="../slideLayouts/slideLayout7.xml" /><Relationship Id="rId6" Type="http://schemas.openxmlformats.org/officeDocument/2006/relationships/image" Target="../media/image10.png" /><Relationship Id="rId5" Type="http://schemas.openxmlformats.org/officeDocument/2006/relationships/image" Target="../media/image9.png" /><Relationship Id="rId4" Type="http://schemas.openxmlformats.org/officeDocument/2006/relationships/image" Target="../media/image8.png" /></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xml" /><Relationship Id="rId7" Type="http://schemas.microsoft.com/office/2007/relationships/diagramDrawing" Target="../diagrams/drawing1.xml" /><Relationship Id="rId2" Type="http://schemas.openxmlformats.org/officeDocument/2006/relationships/image" Target="../media/image13.jpeg" /><Relationship Id="rId1" Type="http://schemas.openxmlformats.org/officeDocument/2006/relationships/slideLayout" Target="../slideLayouts/slideLayout7.xml" /><Relationship Id="rId6" Type="http://schemas.openxmlformats.org/officeDocument/2006/relationships/diagramColors" Target="../diagrams/colors1.xml" /><Relationship Id="rId5" Type="http://schemas.openxmlformats.org/officeDocument/2006/relationships/diagramQuickStyle" Target="../diagrams/quickStyle1.xml" /><Relationship Id="rId4" Type="http://schemas.openxmlformats.org/officeDocument/2006/relationships/diagramLayout" Target="../diagrams/layout1.xml" /></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2.xml" /><Relationship Id="rId2" Type="http://schemas.openxmlformats.org/officeDocument/2006/relationships/diagramData" Target="../diagrams/data2.xml" /><Relationship Id="rId1" Type="http://schemas.openxmlformats.org/officeDocument/2006/relationships/slideLayout" Target="../slideLayouts/slideLayout7.xml" /><Relationship Id="rId6" Type="http://schemas.microsoft.com/office/2007/relationships/diagramDrawing" Target="../diagrams/drawing2.xml" /><Relationship Id="rId5" Type="http://schemas.openxmlformats.org/officeDocument/2006/relationships/diagramColors" Target="../diagrams/colors2.xml" /><Relationship Id="rId4" Type="http://schemas.openxmlformats.org/officeDocument/2006/relationships/diagramQuickStyle" Target="../diagrams/quickStyle2.xml" /></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3.xml" /><Relationship Id="rId2" Type="http://schemas.openxmlformats.org/officeDocument/2006/relationships/diagramData" Target="../diagrams/data3.xml" /><Relationship Id="rId1" Type="http://schemas.openxmlformats.org/officeDocument/2006/relationships/slideLayout" Target="../slideLayouts/slideLayout7.xml" /><Relationship Id="rId6" Type="http://schemas.microsoft.com/office/2007/relationships/diagramDrawing" Target="../diagrams/drawing3.xml" /><Relationship Id="rId5" Type="http://schemas.openxmlformats.org/officeDocument/2006/relationships/diagramColors" Target="../diagrams/colors3.xml" /><Relationship Id="rId4" Type="http://schemas.openxmlformats.org/officeDocument/2006/relationships/diagramQuickStyle" Target="../diagrams/quickStyle3.xml" /></Relationships>
</file>

<file path=ppt/slides/_rels/slide18.xml.rels><?xml version="1.0" encoding="UTF-8" standalone="yes"?>
<Relationships xmlns="http://schemas.openxmlformats.org/package/2006/relationships"><Relationship Id="rId8" Type="http://schemas.openxmlformats.org/officeDocument/2006/relationships/diagramLayout" Target="../diagrams/layout5.xml" /><Relationship Id="rId3" Type="http://schemas.openxmlformats.org/officeDocument/2006/relationships/diagramLayout" Target="../diagrams/layout4.xml" /><Relationship Id="rId7" Type="http://schemas.openxmlformats.org/officeDocument/2006/relationships/diagramData" Target="../diagrams/data5.xml" /><Relationship Id="rId2" Type="http://schemas.openxmlformats.org/officeDocument/2006/relationships/diagramData" Target="../diagrams/data4.xml" /><Relationship Id="rId1" Type="http://schemas.openxmlformats.org/officeDocument/2006/relationships/slideLayout" Target="../slideLayouts/slideLayout7.xml" /><Relationship Id="rId6" Type="http://schemas.microsoft.com/office/2007/relationships/diagramDrawing" Target="../diagrams/drawing4.xml" /><Relationship Id="rId11" Type="http://schemas.microsoft.com/office/2007/relationships/diagramDrawing" Target="../diagrams/drawing5.xml" /><Relationship Id="rId5" Type="http://schemas.openxmlformats.org/officeDocument/2006/relationships/diagramColors" Target="../diagrams/colors4.xml" /><Relationship Id="rId10" Type="http://schemas.openxmlformats.org/officeDocument/2006/relationships/diagramColors" Target="../diagrams/colors5.xml" /><Relationship Id="rId4" Type="http://schemas.openxmlformats.org/officeDocument/2006/relationships/diagramQuickStyle" Target="../diagrams/quickStyle4.xml" /><Relationship Id="rId9" Type="http://schemas.openxmlformats.org/officeDocument/2006/relationships/diagramQuickStyle" Target="../diagrams/quickStyle5.xml" /></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6.xml" /><Relationship Id="rId2" Type="http://schemas.openxmlformats.org/officeDocument/2006/relationships/diagramData" Target="../diagrams/data6.xml" /><Relationship Id="rId1" Type="http://schemas.openxmlformats.org/officeDocument/2006/relationships/slideLayout" Target="../slideLayouts/slideLayout7.xml" /><Relationship Id="rId6" Type="http://schemas.microsoft.com/office/2007/relationships/diagramDrawing" Target="../diagrams/drawing6.xml" /><Relationship Id="rId5" Type="http://schemas.openxmlformats.org/officeDocument/2006/relationships/diagramColors" Target="../diagrams/colors6.xml" /><Relationship Id="rId4" Type="http://schemas.openxmlformats.org/officeDocument/2006/relationships/diagramQuickStyle" Target="../diagrams/quickStyle6.xml" /></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7.xml" /><Relationship Id="rId2" Type="http://schemas.openxmlformats.org/officeDocument/2006/relationships/diagramData" Target="../diagrams/data7.xml" /><Relationship Id="rId1" Type="http://schemas.openxmlformats.org/officeDocument/2006/relationships/slideLayout" Target="../slideLayouts/slideLayout7.xml" /><Relationship Id="rId6" Type="http://schemas.microsoft.com/office/2007/relationships/diagramDrawing" Target="../diagrams/drawing7.xml" /><Relationship Id="rId5" Type="http://schemas.openxmlformats.org/officeDocument/2006/relationships/diagramColors" Target="../diagrams/colors7.xml" /><Relationship Id="rId4" Type="http://schemas.openxmlformats.org/officeDocument/2006/relationships/diagramQuickStyle" Target="../diagrams/quickStyle7.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6.xml.rels><?xml version="1.0" encoding="UTF-8" standalone="yes"?>
<Relationships xmlns="http://schemas.openxmlformats.org/package/2006/relationships"><Relationship Id="rId3" Type="http://schemas.openxmlformats.org/officeDocument/2006/relationships/hyperlink" Target="http://www.chemicalbook.com/" TargetMode="External" /><Relationship Id="rId2" Type="http://schemas.openxmlformats.org/officeDocument/2006/relationships/hyperlink" Target="http://www.rxlist.com/Mirabegron" TargetMode="External" /><Relationship Id="rId1" Type="http://schemas.openxmlformats.org/officeDocument/2006/relationships/slideLayout" Target="../slideLayouts/slideLayout7.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10124" y="352202"/>
            <a:ext cx="9652062" cy="952872"/>
          </a:xfrm>
        </p:spPr>
        <p:txBody>
          <a:bodyPr>
            <a:normAutofit/>
          </a:bodyPr>
          <a:lstStyle/>
          <a:p>
            <a:pPr algn="ctr"/>
            <a:r>
              <a:rPr lang="en-US" sz="2400" b="1" dirty="0">
                <a:solidFill>
                  <a:schemeClr val="accent1">
                    <a:lumMod val="75000"/>
                  </a:schemeClr>
                </a:solidFill>
                <a:latin typeface="Times New Roman" panose="02020603050405020304" pitchFamily="18" charset="0"/>
                <a:cs typeface="Times New Roman" panose="02020603050405020304" pitchFamily="18" charset="0"/>
              </a:rPr>
              <a:t>KAVAYITRI BAHINABAI CHAUDHARI </a:t>
            </a:r>
            <a:br>
              <a:rPr lang="en-US" sz="2400" b="1" dirty="0">
                <a:solidFill>
                  <a:schemeClr val="accent1">
                    <a:lumMod val="75000"/>
                  </a:schemeClr>
                </a:solidFill>
                <a:latin typeface="Times New Roman" panose="02020603050405020304" pitchFamily="18" charset="0"/>
                <a:cs typeface="Times New Roman" panose="02020603050405020304" pitchFamily="18" charset="0"/>
              </a:rPr>
            </a:br>
            <a:r>
              <a:rPr lang="en-US" sz="2400" b="1" dirty="0">
                <a:solidFill>
                  <a:schemeClr val="accent1">
                    <a:lumMod val="75000"/>
                  </a:schemeClr>
                </a:solidFill>
                <a:latin typeface="Times New Roman" panose="02020603050405020304" pitchFamily="18" charset="0"/>
                <a:cs typeface="Times New Roman" panose="02020603050405020304" pitchFamily="18" charset="0"/>
              </a:rPr>
              <a:t>NORTH MAHARASHTRA UNIVERSITY, JALGAON </a:t>
            </a:r>
            <a:endParaRPr lang="en-IN" sz="2400" dirty="0">
              <a:solidFill>
                <a:schemeClr val="accent1">
                  <a:lumMod val="75000"/>
                </a:schemeClr>
              </a:solidFill>
            </a:endParaRPr>
          </a:p>
        </p:txBody>
      </p:sp>
      <p:sp>
        <p:nvSpPr>
          <p:cNvPr id="4" name="TextBox 3"/>
          <p:cNvSpPr txBox="1"/>
          <p:nvPr/>
        </p:nvSpPr>
        <p:spPr>
          <a:xfrm>
            <a:off x="1066989" y="1305074"/>
            <a:ext cx="10129652" cy="1661993"/>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For fulfillment of  requirements for the award of degree of  pharmacy</a:t>
            </a:r>
          </a:p>
          <a:p>
            <a:pPr algn="ctr"/>
            <a:r>
              <a:rPr lang="en-US" dirty="0">
                <a:latin typeface="Times New Roman" panose="02020603050405020304" pitchFamily="18" charset="0"/>
                <a:cs typeface="Times New Roman" panose="02020603050405020304" pitchFamily="18" charset="0"/>
              </a:rPr>
              <a:t>( B. Pharm.)</a:t>
            </a:r>
          </a:p>
          <a:p>
            <a:pPr algn="ctr"/>
            <a:endParaRPr lang="en-US" dirty="0">
              <a:latin typeface="Times New Roman" panose="02020603050405020304" pitchFamily="18" charset="0"/>
              <a:cs typeface="Times New Roman" panose="02020603050405020304" pitchFamily="18" charset="0"/>
            </a:endParaRPr>
          </a:p>
          <a:p>
            <a:pPr algn="ctr"/>
            <a:r>
              <a:rPr lang="en-US" sz="2400" dirty="0">
                <a:latin typeface="Times New Roman" panose="02020603050405020304" pitchFamily="18" charset="0"/>
                <a:cs typeface="Times New Roman" panose="02020603050405020304" pitchFamily="18" charset="0"/>
              </a:rPr>
              <a:t>Analytical Method Development and Validation of Mirabegron By Using </a:t>
            </a:r>
            <a:r>
              <a:rPr lang="en-US" sz="2400" dirty="0" err="1">
                <a:latin typeface="Times New Roman" panose="02020603050405020304" pitchFamily="18" charset="0"/>
                <a:cs typeface="Times New Roman" panose="02020603050405020304" pitchFamily="18" charset="0"/>
              </a:rPr>
              <a:t>Rp</a:t>
            </a:r>
            <a:r>
              <a:rPr lang="en-US" sz="2400" dirty="0">
                <a:latin typeface="Times New Roman" panose="02020603050405020304" pitchFamily="18" charset="0"/>
                <a:cs typeface="Times New Roman" panose="02020603050405020304" pitchFamily="18" charset="0"/>
              </a:rPr>
              <a:t>-HPLC Method of Bulk and Pharmaceutical Dosage Form</a:t>
            </a:r>
            <a:r>
              <a:rPr lang="en-US" dirty="0">
                <a:latin typeface="Times New Roman" panose="02020603050405020304" pitchFamily="18" charset="0"/>
                <a:cs typeface="Times New Roman" panose="02020603050405020304" pitchFamily="18" charset="0"/>
              </a:rPr>
              <a:t>.</a:t>
            </a:r>
          </a:p>
        </p:txBody>
      </p:sp>
      <p:pic>
        <p:nvPicPr>
          <p:cNvPr id="5" name="Picture 2" descr="Arunamai College of Pharmacy Mamurabad"/>
          <p:cNvPicPr>
            <a:picLocks noChangeAspect="1" noChangeArrowheads="1"/>
          </p:cNvPicPr>
          <p:nvPr/>
        </p:nvPicPr>
        <p:blipFill>
          <a:blip r:embed="rId2"/>
          <a:srcRect/>
          <a:stretch>
            <a:fillRect/>
          </a:stretch>
        </p:blipFill>
        <p:spPr bwMode="auto">
          <a:xfrm>
            <a:off x="4613755" y="3680099"/>
            <a:ext cx="2844800" cy="2528711"/>
          </a:xfrm>
          <a:prstGeom prst="rect">
            <a:avLst/>
          </a:prstGeom>
          <a:ln>
            <a:noFill/>
          </a:ln>
          <a:effectLst>
            <a:softEdge rad="112500"/>
          </a:effectLst>
        </p:spPr>
      </p:pic>
      <p:sp>
        <p:nvSpPr>
          <p:cNvPr id="7" name="TextBox 6"/>
          <p:cNvSpPr txBox="1"/>
          <p:nvPr/>
        </p:nvSpPr>
        <p:spPr>
          <a:xfrm>
            <a:off x="64907" y="5842337"/>
            <a:ext cx="3823853" cy="1015663"/>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SUBMITTED BY</a:t>
            </a:r>
            <a:r>
              <a:rPr lang="en-IN" sz="2000" b="1" dirty="0">
                <a:latin typeface="Times New Roman" panose="02020603050405020304" pitchFamily="18" charset="0"/>
                <a:cs typeface="Times New Roman" panose="02020603050405020304" pitchFamily="18" charset="0"/>
              </a:rPr>
              <a:t>:</a:t>
            </a:r>
          </a:p>
          <a:p>
            <a:r>
              <a:rPr lang="en-US" sz="2000" dirty="0" err="1">
                <a:latin typeface="Times New Roman" panose="02020603050405020304" pitchFamily="18" charset="0"/>
                <a:cs typeface="Times New Roman" panose="02020603050405020304" pitchFamily="18" charset="0"/>
              </a:rPr>
              <a:t>Mr.Yash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Shantaram</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Wagh</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(PRN No- 2022015400389912)</a:t>
            </a:r>
          </a:p>
        </p:txBody>
      </p:sp>
      <p:sp>
        <p:nvSpPr>
          <p:cNvPr id="8" name="TextBox 7"/>
          <p:cNvSpPr txBox="1"/>
          <p:nvPr/>
        </p:nvSpPr>
        <p:spPr>
          <a:xfrm>
            <a:off x="9809024" y="5891727"/>
            <a:ext cx="2453957" cy="1292662"/>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GUIDED BY:</a:t>
            </a:r>
          </a:p>
          <a:p>
            <a:r>
              <a:rPr lang="en-US" sz="2000" dirty="0">
                <a:latin typeface="Times New Roman" panose="02020603050405020304" pitchFamily="18" charset="0"/>
                <a:cs typeface="Times New Roman" panose="02020603050405020304" pitchFamily="18" charset="0"/>
              </a:rPr>
              <a:t>Mrs. Neha A. </a:t>
            </a:r>
            <a:r>
              <a:rPr lang="en-US" sz="2000" dirty="0" err="1">
                <a:latin typeface="Times New Roman" panose="02020603050405020304" pitchFamily="18" charset="0"/>
                <a:cs typeface="Times New Roman" panose="02020603050405020304" pitchFamily="18" charset="0"/>
              </a:rPr>
              <a:t>Porwar</a:t>
            </a:r>
            <a:endParaRPr lang="en-US" sz="2000" dirty="0">
              <a:latin typeface="Times New Roman" panose="02020603050405020304" pitchFamily="18" charset="0"/>
              <a:cs typeface="Times New Roman" panose="02020603050405020304" pitchFamily="18" charset="0"/>
            </a:endParaRPr>
          </a:p>
          <a:p>
            <a:r>
              <a:rPr lang="en-IN" sz="2000" dirty="0" err="1">
                <a:latin typeface="Times New Roman" panose="02020603050405020304" pitchFamily="18" charset="0"/>
                <a:cs typeface="Times New Roman" panose="02020603050405020304" pitchFamily="18" charset="0"/>
              </a:rPr>
              <a:t>Asso</a:t>
            </a:r>
            <a:r>
              <a:rPr lang="en-IN" sz="2000" dirty="0">
                <a:latin typeface="Times New Roman" panose="02020603050405020304" pitchFamily="18" charset="0"/>
                <a:cs typeface="Times New Roman" panose="02020603050405020304" pitchFamily="18" charset="0"/>
              </a:rPr>
              <a:t>. Prof.</a:t>
            </a:r>
            <a:endParaRPr lang="en-US" sz="20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6348830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697029" y="-288099"/>
            <a:ext cx="3401064" cy="1447800"/>
          </a:xfrm>
        </p:spPr>
        <p:txBody>
          <a:bodyPr>
            <a:normAutofit/>
          </a:bodyPr>
          <a:lstStyle/>
          <a:p>
            <a:r>
              <a:rPr lang="en-US" sz="2800" b="1" dirty="0">
                <a:solidFill>
                  <a:schemeClr val="accent1">
                    <a:lumMod val="60000"/>
                    <a:lumOff val="40000"/>
                  </a:schemeClr>
                </a:solidFill>
                <a:latin typeface="Times New Roman" panose="02020603050405020304" pitchFamily="18" charset="0"/>
                <a:cs typeface="Times New Roman" panose="02020603050405020304" pitchFamily="18" charset="0"/>
              </a:rPr>
              <a:t>CONTENTS</a:t>
            </a:r>
            <a:endParaRPr lang="en-IN" sz="2800" b="1" dirty="0">
              <a:solidFill>
                <a:schemeClr val="accent1">
                  <a:lumMod val="60000"/>
                  <a:lumOff val="40000"/>
                </a:schemeClr>
              </a:solidFill>
              <a:latin typeface="Times New Roman" panose="02020603050405020304" pitchFamily="18" charset="0"/>
              <a:cs typeface="Times New Roman" panose="02020603050405020304" pitchFamily="18" charset="0"/>
            </a:endParaRPr>
          </a:p>
        </p:txBody>
      </p:sp>
      <p:sp>
        <p:nvSpPr>
          <p:cNvPr id="6" name="Text Placeholder 5"/>
          <p:cNvSpPr>
            <a:spLocks noGrp="1"/>
          </p:cNvSpPr>
          <p:nvPr>
            <p:ph type="body" sz="half" idx="2"/>
          </p:nvPr>
        </p:nvSpPr>
        <p:spPr>
          <a:xfrm>
            <a:off x="1480629" y="824491"/>
            <a:ext cx="3617464" cy="3496989"/>
          </a:xfrm>
        </p:spPr>
        <p:txBody>
          <a:bodyPr>
            <a:normAutofit fontScale="55000" lnSpcReduction="20000"/>
          </a:bodyPr>
          <a:lstStyle/>
          <a:p>
            <a:pPr marL="342900" indent="-342900">
              <a:buFont typeface="Arial" panose="020B0604020202020204" pitchFamily="34" charset="0"/>
              <a:buChar char="•"/>
            </a:pPr>
            <a:endParaRPr lang="en-US" sz="38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3800" dirty="0">
                <a:latin typeface="Times New Roman" panose="02020603050405020304" pitchFamily="18" charset="0"/>
                <a:cs typeface="Times New Roman" panose="02020603050405020304" pitchFamily="18" charset="0"/>
              </a:rPr>
              <a:t>Introduction</a:t>
            </a:r>
          </a:p>
          <a:p>
            <a:pPr marL="342900" indent="-342900">
              <a:buFont typeface="Arial" panose="020B0604020202020204" pitchFamily="34" charset="0"/>
              <a:buChar char="•"/>
            </a:pPr>
            <a:r>
              <a:rPr lang="en-US" sz="3800" dirty="0">
                <a:latin typeface="Times New Roman" panose="02020603050405020304" pitchFamily="18" charset="0"/>
                <a:cs typeface="Times New Roman" panose="02020603050405020304" pitchFamily="18" charset="0"/>
              </a:rPr>
              <a:t>Objective</a:t>
            </a:r>
          </a:p>
          <a:p>
            <a:pPr marL="342900" indent="-342900">
              <a:buFont typeface="Arial" panose="020B0604020202020204" pitchFamily="34" charset="0"/>
              <a:buChar char="•"/>
            </a:pPr>
            <a:r>
              <a:rPr lang="en-US" sz="3800" dirty="0">
                <a:latin typeface="Times New Roman" panose="02020603050405020304" pitchFamily="18" charset="0"/>
                <a:cs typeface="Times New Roman" panose="02020603050405020304" pitchFamily="18" charset="0"/>
              </a:rPr>
              <a:t>Drug Profile</a:t>
            </a:r>
          </a:p>
          <a:p>
            <a:pPr marL="342900" indent="-342900">
              <a:buFont typeface="Arial" panose="020B0604020202020204" pitchFamily="34" charset="0"/>
              <a:buChar char="•"/>
            </a:pPr>
            <a:r>
              <a:rPr lang="en-US" sz="3800" dirty="0">
                <a:latin typeface="Times New Roman" panose="02020603050405020304" pitchFamily="18" charset="0"/>
                <a:cs typeface="Times New Roman" panose="02020603050405020304" pitchFamily="18" charset="0"/>
              </a:rPr>
              <a:t>Experimental work</a:t>
            </a:r>
          </a:p>
          <a:p>
            <a:pPr marL="342900" indent="-342900">
              <a:buFont typeface="Arial" panose="020B0604020202020204" pitchFamily="34" charset="0"/>
              <a:buChar char="•"/>
            </a:pPr>
            <a:r>
              <a:rPr lang="en-US" sz="3800" dirty="0">
                <a:latin typeface="Times New Roman" panose="02020603050405020304" pitchFamily="18" charset="0"/>
                <a:cs typeface="Times New Roman" panose="02020603050405020304" pitchFamily="18" charset="0"/>
              </a:rPr>
              <a:t>Result</a:t>
            </a:r>
          </a:p>
          <a:p>
            <a:pPr marL="342900" indent="-342900">
              <a:buFont typeface="Arial" panose="020B0604020202020204" pitchFamily="34" charset="0"/>
              <a:buChar char="•"/>
            </a:pPr>
            <a:r>
              <a:rPr lang="en-US" sz="3800" dirty="0">
                <a:latin typeface="Times New Roman" panose="02020603050405020304" pitchFamily="18" charset="0"/>
                <a:cs typeface="Times New Roman" panose="02020603050405020304" pitchFamily="18" charset="0"/>
              </a:rPr>
              <a:t>Summary</a:t>
            </a:r>
          </a:p>
          <a:p>
            <a:pPr marL="342900" indent="-342900">
              <a:buFont typeface="Arial" panose="020B0604020202020204" pitchFamily="34" charset="0"/>
              <a:buChar char="•"/>
            </a:pPr>
            <a:r>
              <a:rPr lang="en-US" sz="3800" dirty="0">
                <a:latin typeface="Times New Roman" panose="02020603050405020304" pitchFamily="18" charset="0"/>
                <a:cs typeface="Times New Roman" panose="02020603050405020304" pitchFamily="18" charset="0"/>
              </a:rPr>
              <a:t>Conclusion</a:t>
            </a:r>
          </a:p>
          <a:p>
            <a:pPr marL="342900" indent="-342900">
              <a:buFont typeface="Arial" panose="020B0604020202020204" pitchFamily="34" charset="0"/>
              <a:buChar char="•"/>
            </a:pPr>
            <a:r>
              <a:rPr lang="en-US" sz="3800" dirty="0">
                <a:latin typeface="Times New Roman" panose="02020603050405020304" pitchFamily="18" charset="0"/>
                <a:cs typeface="Times New Roman" panose="02020603050405020304" pitchFamily="18" charset="0"/>
              </a:rPr>
              <a:t>Reference</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48741088"/>
      </p:ext>
    </p:extLst>
  </p:cSld>
  <p:clrMapOvr>
    <a:masterClrMapping/>
  </p:clrMapOvr>
  <p:transition>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1553666" y="489499"/>
            <a:ext cx="8915399" cy="502921"/>
          </a:xfrm>
        </p:spPr>
        <p:txBody>
          <a:bodyPr>
            <a:noAutofit/>
          </a:bodyPr>
          <a:lstStyle/>
          <a:p>
            <a:pPr algn="ctr"/>
            <a:r>
              <a:rPr lang="en-US" sz="2800" b="1" dirty="0">
                <a:latin typeface="Times New Roman" panose="02020603050405020304" pitchFamily="18" charset="0"/>
                <a:cs typeface="Times New Roman" panose="02020603050405020304" pitchFamily="18" charset="0"/>
              </a:rPr>
              <a:t>INTRODUCTION</a:t>
            </a:r>
            <a:endParaRPr lang="en-IN" sz="2800" b="1" dirty="0">
              <a:latin typeface="Times New Roman" panose="02020603050405020304" pitchFamily="18" charset="0"/>
              <a:cs typeface="Times New Roman" panose="02020603050405020304" pitchFamily="18" charset="0"/>
            </a:endParaRPr>
          </a:p>
        </p:txBody>
      </p:sp>
      <p:sp>
        <p:nvSpPr>
          <p:cNvPr id="6" name="Subtitle 5"/>
          <p:cNvSpPr>
            <a:spLocks noGrp="1"/>
          </p:cNvSpPr>
          <p:nvPr>
            <p:ph type="subTitle" idx="1"/>
          </p:nvPr>
        </p:nvSpPr>
        <p:spPr>
          <a:xfrm>
            <a:off x="1448624" y="1117593"/>
            <a:ext cx="8915399" cy="2446381"/>
          </a:xfrm>
        </p:spPr>
        <p:txBody>
          <a:bodyPr>
            <a:normAutofit/>
          </a:bodyPr>
          <a:lstStyle/>
          <a:p>
            <a:pPr algn="just"/>
            <a:r>
              <a:rPr lang="en-US" sz="2400" dirty="0">
                <a:latin typeface="Times New Roman" panose="02020603050405020304" pitchFamily="18" charset="0"/>
                <a:cs typeface="Times New Roman" panose="02020603050405020304" pitchFamily="18" charset="0"/>
              </a:rPr>
              <a:t>Analytical chemistry is a science and art of recognized the various substance use in specify matrix and determination of its constitute. </a:t>
            </a:r>
          </a:p>
          <a:p>
            <a:pPr algn="just"/>
            <a:r>
              <a:rPr lang="en-US" sz="2400" dirty="0">
                <a:latin typeface="Times New Roman" panose="02020603050405020304" pitchFamily="18" charset="0"/>
                <a:cs typeface="Times New Roman" panose="02020603050405020304" pitchFamily="18" charset="0"/>
              </a:rPr>
              <a:t>Analytical chemistry is derived in two parts:</a:t>
            </a:r>
          </a:p>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Qualitative analysis</a:t>
            </a:r>
          </a:p>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Quantitative analysis</a:t>
            </a:r>
          </a:p>
          <a:p>
            <a:pPr algn="just"/>
            <a:endParaRPr lang="en-IN" sz="2400" dirty="0">
              <a:latin typeface="Times New Roman" panose="02020603050405020304" pitchFamily="18" charset="0"/>
              <a:cs typeface="Times New Roman" panose="02020603050405020304" pitchFamily="18" charset="0"/>
            </a:endParaRPr>
          </a:p>
        </p:txBody>
      </p:sp>
      <p:sp>
        <p:nvSpPr>
          <p:cNvPr id="7" name="TextBox 6"/>
          <p:cNvSpPr txBox="1"/>
          <p:nvPr/>
        </p:nvSpPr>
        <p:spPr>
          <a:xfrm>
            <a:off x="1448624" y="3576500"/>
            <a:ext cx="9866816" cy="4339650"/>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Chromatography:</a:t>
            </a:r>
          </a:p>
          <a:p>
            <a:r>
              <a:rPr lang="en-US" sz="2400" dirty="0">
                <a:latin typeface="Times New Roman" panose="02020603050405020304" pitchFamily="18" charset="0"/>
                <a:cs typeface="Times New Roman" panose="02020603050405020304" pitchFamily="18" charset="0"/>
              </a:rPr>
              <a:t>A method of separating a mixture of components into individual components through equilibrium distribution between two phases that is mobile phase and stationary phase.</a:t>
            </a:r>
          </a:p>
          <a:p>
            <a:r>
              <a:rPr lang="en-US" sz="2400" dirty="0">
                <a:latin typeface="Times New Roman" panose="02020603050405020304" pitchFamily="18" charset="0"/>
                <a:cs typeface="Times New Roman" panose="02020603050405020304" pitchFamily="18" charset="0"/>
              </a:rPr>
              <a:t>There are two types of chromatography:</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Adsorption Chromatography</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Partition Chromatography </a:t>
            </a:r>
          </a:p>
          <a:p>
            <a:pPr marL="342900" indent="-342900">
              <a:lnSpc>
                <a:spcPct val="150000"/>
              </a:lnSpc>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09305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489165" y="330331"/>
            <a:ext cx="9731829" cy="3108543"/>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High Liquid Performance Chromatography:</a:t>
            </a:r>
          </a:p>
          <a:p>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HPLC is an advanced form of chromatography.</a:t>
            </a:r>
          </a:p>
          <a:p>
            <a:pPr marL="342900" indent="-342900">
              <a:lnSpc>
                <a:spcPct val="15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It has mobile phase and stationary phase.</a:t>
            </a:r>
          </a:p>
          <a:p>
            <a:pPr marL="342900" indent="-342900">
              <a:lnSpc>
                <a:spcPct val="15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 sample mixture in a solvent(mobile phase) is pumped at high pressure through a column with packing material(stationary phase).</a:t>
            </a:r>
          </a:p>
        </p:txBody>
      </p:sp>
      <p:sp>
        <p:nvSpPr>
          <p:cNvPr id="6" name="TextBox 5"/>
          <p:cNvSpPr txBox="1"/>
          <p:nvPr/>
        </p:nvSpPr>
        <p:spPr>
          <a:xfrm>
            <a:off x="1489165" y="3301088"/>
            <a:ext cx="4101738" cy="1938992"/>
          </a:xfrm>
          <a:prstGeom prst="rect">
            <a:avLst/>
          </a:prstGeom>
          <a:noFill/>
        </p:spPr>
        <p:txBody>
          <a:bodyPr wrap="square" rtlCol="0">
            <a:spAutoFit/>
          </a:bodyPr>
          <a:lstStyle/>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Advantages: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High accuracy</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High reproducibility</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Fast analysis</a:t>
            </a:r>
            <a:endParaRPr lang="en-IN" sz="2400" dirty="0">
              <a:latin typeface="Times New Roman" panose="02020603050405020304" pitchFamily="18" charset="0"/>
              <a:cs typeface="Times New Roman" panose="02020603050405020304" pitchFamily="18" charset="0"/>
            </a:endParaRPr>
          </a:p>
        </p:txBody>
      </p:sp>
      <p:sp>
        <p:nvSpPr>
          <p:cNvPr id="7" name="TextBox 6"/>
          <p:cNvSpPr txBox="1"/>
          <p:nvPr/>
        </p:nvSpPr>
        <p:spPr>
          <a:xfrm>
            <a:off x="1489165" y="4996008"/>
            <a:ext cx="8712926" cy="1569660"/>
          </a:xfrm>
          <a:prstGeom prst="rect">
            <a:avLst/>
          </a:prstGeom>
          <a:noFill/>
        </p:spPr>
        <p:txBody>
          <a:bodyPr wrap="square" rtlCol="0">
            <a:spAutoFit/>
          </a:bodyPr>
          <a:lstStyle/>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Applications: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Widely used for drug analysis and drug separation.</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Separates compounds based on polarity and interactions.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005958"/>
      </p:ext>
    </p:extLst>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568616" y="62814"/>
            <a:ext cx="7680960"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Instrumentation:</a:t>
            </a:r>
            <a:endParaRPr lang="en-IN" sz="24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1557521" y="586034"/>
            <a:ext cx="5617028" cy="3046988"/>
          </a:xfrm>
          <a:prstGeom prst="rect">
            <a:avLst/>
          </a:prstGeom>
          <a:noFill/>
        </p:spPr>
        <p:txBody>
          <a:bodyPr wrap="square" rtlCol="0">
            <a:spAutoFit/>
          </a:bodyPr>
          <a:lstStyle/>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Solvent reservoir and Treatment system</a:t>
            </a:r>
          </a:p>
          <a:p>
            <a:pPr marL="342900"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Following are the components in HPLC:</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Mobile phase</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Pump system</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Sample Injection System</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Column</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Detector</a:t>
            </a:r>
          </a:p>
          <a:p>
            <a:endParaRPr lang="en-IN" sz="2400" dirty="0">
              <a:latin typeface="Times New Roman" panose="02020603050405020304" pitchFamily="18" charset="0"/>
              <a:cs typeface="Times New Roman" panose="02020603050405020304" pitchFamily="18" charset="0"/>
            </a:endParaRPr>
          </a:p>
        </p:txBody>
      </p:sp>
      <p:pic>
        <p:nvPicPr>
          <p:cNvPr id="7" name="Image 21"/>
          <p:cNvPicPr/>
          <p:nvPr/>
        </p:nvPicPr>
        <p:blipFill>
          <a:blip r:embed="rId2" cstate="print">
            <a:extLst>
              <a:ext uri="{28A0092B-C50C-407E-A947-70E740481C1C}">
                <a14:useLocalDpi xmlns:a14="http://schemas.microsoft.com/office/drawing/2010/main" val="0"/>
              </a:ext>
            </a:extLst>
          </a:blip>
          <a:stretch>
            <a:fillRect/>
          </a:stretch>
        </p:blipFill>
        <p:spPr>
          <a:xfrm>
            <a:off x="2939859" y="3489037"/>
            <a:ext cx="6605689" cy="3237978"/>
          </a:xfrm>
          <a:prstGeom prst="rect">
            <a:avLst/>
          </a:prstGeom>
          <a:ln>
            <a:noFill/>
          </a:ln>
          <a:effectLst>
            <a:softEdge rad="112500"/>
          </a:effectLst>
        </p:spPr>
      </p:pic>
      <p:sp>
        <p:nvSpPr>
          <p:cNvPr id="8" name="TextBox 7"/>
          <p:cNvSpPr txBox="1"/>
          <p:nvPr/>
        </p:nvSpPr>
        <p:spPr>
          <a:xfrm>
            <a:off x="4917002" y="2996595"/>
            <a:ext cx="2899954" cy="461665"/>
          </a:xfrm>
          <a:prstGeom prst="rect">
            <a:avLst/>
          </a:prstGeom>
          <a:noFill/>
        </p:spPr>
        <p:txBody>
          <a:bodyPr wrap="square" rtlCol="0">
            <a:spAutoFit/>
          </a:bodyPr>
          <a:lstStyle/>
          <a:p>
            <a:r>
              <a:rPr lang="en-US" sz="2400" b="1" u="sng" dirty="0">
                <a:solidFill>
                  <a:schemeClr val="tx2">
                    <a:lumMod val="50000"/>
                  </a:schemeClr>
                </a:solidFill>
                <a:latin typeface="Times New Roman" panose="02020603050405020304" pitchFamily="18" charset="0"/>
                <a:cs typeface="Times New Roman" panose="02020603050405020304" pitchFamily="18" charset="0"/>
              </a:rPr>
              <a:t>Diagram of HPLC</a:t>
            </a:r>
            <a:endParaRPr lang="en-IN" sz="2400" b="1" u="sng" dirty="0">
              <a:solidFill>
                <a:schemeClr val="tx2">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9747996"/>
      </p:ext>
    </p:extLst>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55371" y="404949"/>
            <a:ext cx="9914710" cy="461665"/>
          </a:xfrm>
          <a:prstGeom prst="rect">
            <a:avLst/>
          </a:prstGeom>
          <a:noFill/>
        </p:spPr>
        <p:txBody>
          <a:bodyPr wrap="square" rtlCol="0">
            <a:spAutoFit/>
          </a:bodyPr>
          <a:lstStyle/>
          <a:p>
            <a:endParaRPr lang="en-IN" sz="24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420093" y="404949"/>
            <a:ext cx="9091748" cy="1815882"/>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 Validation:</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Assures that the method works reproducibly.</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understand parameters in the process.</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ICH Guidelines.</a:t>
            </a:r>
            <a:endParaRPr lang="en-IN" sz="2800" dirty="0">
              <a:latin typeface="Times New Roman" panose="02020603050405020304" pitchFamily="18" charset="0"/>
              <a:cs typeface="Times New Roman" panose="02020603050405020304" pitchFamily="18" charset="0"/>
            </a:endParaRPr>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3927413" y="2547765"/>
            <a:ext cx="4639945" cy="3422137"/>
          </a:xfrm>
          <a:prstGeom prst="rect">
            <a:avLst/>
          </a:prstGeom>
          <a:ln>
            <a:noFill/>
          </a:ln>
          <a:effectLst>
            <a:outerShdw blurRad="292100" dist="139700" dir="2700000" algn="tl" rotWithShape="0">
              <a:srgbClr val="333333">
                <a:alpha val="65000"/>
              </a:srgbClr>
            </a:outerShdw>
          </a:effectLst>
        </p:spPr>
      </p:pic>
      <p:sp>
        <p:nvSpPr>
          <p:cNvPr id="6" name="TextBox 5"/>
          <p:cNvSpPr txBox="1"/>
          <p:nvPr/>
        </p:nvSpPr>
        <p:spPr>
          <a:xfrm>
            <a:off x="3562967" y="6066003"/>
            <a:ext cx="5368835" cy="461665"/>
          </a:xfrm>
          <a:prstGeom prst="rect">
            <a:avLst/>
          </a:prstGeom>
          <a:noFill/>
        </p:spPr>
        <p:txBody>
          <a:bodyPr wrap="square" rtlCol="0">
            <a:spAutoFit/>
          </a:bodyPr>
          <a:lstStyle/>
          <a:p>
            <a:pPr algn="ctr"/>
            <a:r>
              <a:rPr lang="en-US" sz="2400" b="1" u="sng" dirty="0">
                <a:solidFill>
                  <a:schemeClr val="tx2">
                    <a:lumMod val="50000"/>
                  </a:schemeClr>
                </a:solidFill>
                <a:latin typeface="Times New Roman" panose="02020603050405020304" pitchFamily="18" charset="0"/>
                <a:cs typeface="Times New Roman" panose="02020603050405020304" pitchFamily="18" charset="0"/>
              </a:rPr>
              <a:t>Methods of validation</a:t>
            </a:r>
            <a:endParaRPr lang="en-IN" sz="2400" u="sng" dirty="0">
              <a:solidFill>
                <a:schemeClr val="tx2">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252338"/>
      </p:ext>
    </p:extLst>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824543" y="440337"/>
            <a:ext cx="7217282" cy="812804"/>
          </a:xfrm>
        </p:spPr>
        <p:txBody>
          <a:bodyPr>
            <a:normAutofit/>
          </a:bodyPr>
          <a:lstStyle/>
          <a:p>
            <a:r>
              <a:rPr lang="en-US" sz="2800" b="1" dirty="0">
                <a:latin typeface="Times New Roman" panose="02020603050405020304" pitchFamily="18" charset="0"/>
                <a:cs typeface="Times New Roman" panose="02020603050405020304" pitchFamily="18" charset="0"/>
              </a:rPr>
              <a:t>                            OBJECTIVES</a:t>
            </a:r>
            <a:endParaRPr lang="en-IN" sz="2800" dirty="0">
              <a:latin typeface="Times New Roman" panose="02020603050405020304" pitchFamily="18" charset="0"/>
              <a:cs typeface="Times New Roman" panose="02020603050405020304" pitchFamily="18" charset="0"/>
            </a:endParaRPr>
          </a:p>
        </p:txBody>
      </p:sp>
      <p:sp>
        <p:nvSpPr>
          <p:cNvPr id="7" name="TextBox 6"/>
          <p:cNvSpPr txBox="1"/>
          <p:nvPr/>
        </p:nvSpPr>
        <p:spPr>
          <a:xfrm>
            <a:off x="1428003" y="1478250"/>
            <a:ext cx="8911687" cy="637097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The objectives of this dissertation work areas follows:</a:t>
            </a:r>
            <a:endParaRPr lang="en-IN"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marL="285750" lvl="0" indent="-28575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To develop simple, rapid and sensitive, stable and highly effective simple RP-HPLC method for determination of Mirabegron.</a:t>
            </a:r>
          </a:p>
          <a:p>
            <a:pPr marL="285750" lvl="0" indent="-285750">
              <a:buFont typeface="Wingdings" panose="05000000000000000000" pitchFamily="2" charset="2"/>
              <a:buChar char="ü"/>
            </a:pPr>
            <a:endParaRPr lang="en-IN" sz="2400" dirty="0">
              <a:latin typeface="Times New Roman" panose="02020603050405020304" pitchFamily="18" charset="0"/>
              <a:cs typeface="Times New Roman" panose="02020603050405020304" pitchFamily="18" charset="0"/>
            </a:endParaRPr>
          </a:p>
          <a:p>
            <a:pPr marL="285750" lvl="0" indent="-28575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To validate methods as per ICH Guidelines.</a:t>
            </a:r>
          </a:p>
          <a:p>
            <a:pPr marL="285750" lvl="0" indent="-285750">
              <a:buFont typeface="Wingdings" panose="05000000000000000000" pitchFamily="2" charset="2"/>
              <a:buChar char="ü"/>
            </a:pPr>
            <a:endParaRPr lang="en-IN" sz="2400" dirty="0">
              <a:latin typeface="Times New Roman" panose="02020603050405020304" pitchFamily="18" charset="0"/>
              <a:cs typeface="Times New Roman" panose="02020603050405020304" pitchFamily="18" charset="0"/>
            </a:endParaRPr>
          </a:p>
          <a:p>
            <a:pPr marL="285750" lvl="0" indent="-28575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To analyse Mirabegron using validated methods quantitatively and qualitatively.</a:t>
            </a:r>
            <a:endParaRPr lang="en-IN" sz="2400" dirty="0">
              <a:latin typeface="Times New Roman" panose="02020603050405020304" pitchFamily="18" charset="0"/>
              <a:cs typeface="Times New Roman" panose="02020603050405020304" pitchFamily="18" charset="0"/>
            </a:endParaRPr>
          </a:p>
          <a:p>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dirty="0"/>
          </a:p>
          <a:p>
            <a:endParaRPr lang="en-US" dirty="0"/>
          </a:p>
          <a:p>
            <a:endParaRPr lang="en-US" dirty="0"/>
          </a:p>
          <a:p>
            <a:endParaRPr lang="en-IN" dirty="0"/>
          </a:p>
        </p:txBody>
      </p:sp>
    </p:spTree>
    <p:extLst>
      <p:ext uri="{BB962C8B-B14F-4D97-AF65-F5344CB8AC3E}">
        <p14:creationId xmlns:p14="http://schemas.microsoft.com/office/powerpoint/2010/main" val="2710942618"/>
      </p:ext>
    </p:extLst>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1609689" y="543978"/>
            <a:ext cx="9562011" cy="523220"/>
          </a:xfrm>
          <a:prstGeom prst="rect">
            <a:avLst/>
          </a:prstGeom>
          <a:noFill/>
        </p:spPr>
        <p:txBody>
          <a:bodyPr wrap="square" rtlCol="0">
            <a:spAutoFit/>
          </a:bodyPr>
          <a:lstStyle/>
          <a:p>
            <a:pPr lvl="6"/>
            <a:r>
              <a:rPr lang="en-US" sz="2800" b="1" dirty="0">
                <a:solidFill>
                  <a:schemeClr val="accent1">
                    <a:lumMod val="60000"/>
                    <a:lumOff val="40000"/>
                  </a:schemeClr>
                </a:solidFill>
                <a:latin typeface="Times New Roman" panose="02020603050405020304" pitchFamily="18" charset="0"/>
                <a:cs typeface="Times New Roman" panose="02020603050405020304" pitchFamily="18" charset="0"/>
              </a:rPr>
              <a:t>DRUG PROFILE</a:t>
            </a:r>
            <a:endParaRPr lang="en-IN" sz="2800" b="1" dirty="0">
              <a:solidFill>
                <a:schemeClr val="accent1">
                  <a:lumMod val="60000"/>
                  <a:lumOff val="40000"/>
                </a:schemeClr>
              </a:solidFill>
              <a:latin typeface="Times New Roman" panose="02020603050405020304" pitchFamily="18" charset="0"/>
              <a:cs typeface="Times New Roman" panose="02020603050405020304" pitchFamily="18" charset="0"/>
            </a:endParaRPr>
          </a:p>
        </p:txBody>
      </p:sp>
      <p:sp>
        <p:nvSpPr>
          <p:cNvPr id="11" name="TextBox 10"/>
          <p:cNvSpPr txBox="1"/>
          <p:nvPr/>
        </p:nvSpPr>
        <p:spPr>
          <a:xfrm>
            <a:off x="1386224" y="1268123"/>
            <a:ext cx="9562012" cy="1938992"/>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Drug: Mirabegron</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Brand name: </a:t>
            </a:r>
            <a:r>
              <a:rPr lang="en-US" sz="2400" dirty="0" err="1">
                <a:latin typeface="Times New Roman" panose="02020603050405020304" pitchFamily="18" charset="0"/>
                <a:cs typeface="Times New Roman" panose="02020603050405020304" pitchFamily="18" charset="0"/>
              </a:rPr>
              <a:t>Miraben</a:t>
            </a:r>
            <a:r>
              <a:rPr lang="en-US" sz="2400" dirty="0">
                <a:latin typeface="Times New Roman" panose="02020603050405020304" pitchFamily="18" charset="0"/>
                <a:cs typeface="Times New Roman" panose="02020603050405020304" pitchFamily="18" charset="0"/>
              </a:rPr>
              <a:t> ER-25</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Structure: </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a:t>
            </a:r>
          </a:p>
        </p:txBody>
      </p:sp>
      <p:grpSp>
        <p:nvGrpSpPr>
          <p:cNvPr id="13" name="Group 12"/>
          <p:cNvGrpSpPr>
            <a:grpSpLocks/>
          </p:cNvGrpSpPr>
          <p:nvPr/>
        </p:nvGrpSpPr>
        <p:grpSpPr bwMode="auto">
          <a:xfrm>
            <a:off x="2120701" y="2604618"/>
            <a:ext cx="7498080" cy="1916430"/>
            <a:chOff x="0" y="0"/>
            <a:chExt cx="31000" cy="20212"/>
          </a:xfrm>
          <a:solidFill>
            <a:schemeClr val="bg1">
              <a:lumMod val="65000"/>
              <a:lumOff val="35000"/>
            </a:schemeClr>
          </a:solidFill>
        </p:grpSpPr>
        <p:sp>
          <p:nvSpPr>
            <p:cNvPr id="14" name="Graphic 51"/>
            <p:cNvSpPr>
              <a:spLocks/>
            </p:cNvSpPr>
            <p:nvPr/>
          </p:nvSpPr>
          <p:spPr bwMode="auto">
            <a:xfrm>
              <a:off x="0" y="0"/>
              <a:ext cx="31000" cy="20212"/>
            </a:xfrm>
            <a:custGeom>
              <a:avLst/>
              <a:gdLst>
                <a:gd name="T0" fmla="*/ 4572 w 3100070"/>
                <a:gd name="T1" fmla="*/ 2016252 h 2021205"/>
                <a:gd name="T2" fmla="*/ 0 w 3100070"/>
                <a:gd name="T3" fmla="*/ 2016252 h 2021205"/>
                <a:gd name="T4" fmla="*/ 0 w 3100070"/>
                <a:gd name="T5" fmla="*/ 2020824 h 2021205"/>
                <a:gd name="T6" fmla="*/ 4572 w 3100070"/>
                <a:gd name="T7" fmla="*/ 2020824 h 2021205"/>
                <a:gd name="T8" fmla="*/ 4572 w 3100070"/>
                <a:gd name="T9" fmla="*/ 2016252 h 2021205"/>
                <a:gd name="T10" fmla="*/ 4572 w 3100070"/>
                <a:gd name="T11" fmla="*/ 6096 h 2021205"/>
                <a:gd name="T12" fmla="*/ 0 w 3100070"/>
                <a:gd name="T13" fmla="*/ 6096 h 2021205"/>
                <a:gd name="T14" fmla="*/ 0 w 3100070"/>
                <a:gd name="T15" fmla="*/ 2014728 h 2021205"/>
                <a:gd name="T16" fmla="*/ 4572 w 3100070"/>
                <a:gd name="T17" fmla="*/ 2014728 h 2021205"/>
                <a:gd name="T18" fmla="*/ 4572 w 3100070"/>
                <a:gd name="T19" fmla="*/ 6096 h 2021205"/>
                <a:gd name="T20" fmla="*/ 4572 w 3100070"/>
                <a:gd name="T21" fmla="*/ 0 h 2021205"/>
                <a:gd name="T22" fmla="*/ 0 w 3100070"/>
                <a:gd name="T23" fmla="*/ 0 h 2021205"/>
                <a:gd name="T24" fmla="*/ 0 w 3100070"/>
                <a:gd name="T25" fmla="*/ 4572 h 2021205"/>
                <a:gd name="T26" fmla="*/ 4572 w 3100070"/>
                <a:gd name="T27" fmla="*/ 4572 h 2021205"/>
                <a:gd name="T28" fmla="*/ 4572 w 3100070"/>
                <a:gd name="T29" fmla="*/ 0 h 2021205"/>
                <a:gd name="T30" fmla="*/ 3093720 w 3100070"/>
                <a:gd name="T31" fmla="*/ 2016252 h 2021205"/>
                <a:gd name="T32" fmla="*/ 6096 w 3100070"/>
                <a:gd name="T33" fmla="*/ 2016252 h 2021205"/>
                <a:gd name="T34" fmla="*/ 6096 w 3100070"/>
                <a:gd name="T35" fmla="*/ 2020824 h 2021205"/>
                <a:gd name="T36" fmla="*/ 3093720 w 3100070"/>
                <a:gd name="T37" fmla="*/ 2020824 h 2021205"/>
                <a:gd name="T38" fmla="*/ 3093720 w 3100070"/>
                <a:gd name="T39" fmla="*/ 2016252 h 2021205"/>
                <a:gd name="T40" fmla="*/ 3093720 w 3100070"/>
                <a:gd name="T41" fmla="*/ 0 h 2021205"/>
                <a:gd name="T42" fmla="*/ 6096 w 3100070"/>
                <a:gd name="T43" fmla="*/ 0 h 2021205"/>
                <a:gd name="T44" fmla="*/ 6096 w 3100070"/>
                <a:gd name="T45" fmla="*/ 4572 h 2021205"/>
                <a:gd name="T46" fmla="*/ 3093720 w 3100070"/>
                <a:gd name="T47" fmla="*/ 4572 h 2021205"/>
                <a:gd name="T48" fmla="*/ 3093720 w 3100070"/>
                <a:gd name="T49" fmla="*/ 0 h 2021205"/>
                <a:gd name="T50" fmla="*/ 3099816 w 3100070"/>
                <a:gd name="T51" fmla="*/ 2016252 h 2021205"/>
                <a:gd name="T52" fmla="*/ 3095244 w 3100070"/>
                <a:gd name="T53" fmla="*/ 2016252 h 2021205"/>
                <a:gd name="T54" fmla="*/ 3095244 w 3100070"/>
                <a:gd name="T55" fmla="*/ 2020824 h 2021205"/>
                <a:gd name="T56" fmla="*/ 3099816 w 3100070"/>
                <a:gd name="T57" fmla="*/ 2020824 h 2021205"/>
                <a:gd name="T58" fmla="*/ 3099816 w 3100070"/>
                <a:gd name="T59" fmla="*/ 2016252 h 2021205"/>
                <a:gd name="T60" fmla="*/ 3099816 w 3100070"/>
                <a:gd name="T61" fmla="*/ 6096 h 2021205"/>
                <a:gd name="T62" fmla="*/ 3095244 w 3100070"/>
                <a:gd name="T63" fmla="*/ 6096 h 2021205"/>
                <a:gd name="T64" fmla="*/ 3095244 w 3100070"/>
                <a:gd name="T65" fmla="*/ 2014728 h 2021205"/>
                <a:gd name="T66" fmla="*/ 3099816 w 3100070"/>
                <a:gd name="T67" fmla="*/ 2014728 h 2021205"/>
                <a:gd name="T68" fmla="*/ 3099816 w 3100070"/>
                <a:gd name="T69" fmla="*/ 6096 h 2021205"/>
                <a:gd name="T70" fmla="*/ 3099816 w 3100070"/>
                <a:gd name="T71" fmla="*/ 0 h 2021205"/>
                <a:gd name="T72" fmla="*/ 3095244 w 3100070"/>
                <a:gd name="T73" fmla="*/ 0 h 2021205"/>
                <a:gd name="T74" fmla="*/ 3095244 w 3100070"/>
                <a:gd name="T75" fmla="*/ 4572 h 2021205"/>
                <a:gd name="T76" fmla="*/ 3099816 w 3100070"/>
                <a:gd name="T77" fmla="*/ 4572 h 2021205"/>
                <a:gd name="T78" fmla="*/ 3099816 w 3100070"/>
                <a:gd name="T79" fmla="*/ 0 h 2021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100070" h="2021205">
                  <a:moveTo>
                    <a:pt x="4572" y="2016252"/>
                  </a:moveTo>
                  <a:lnTo>
                    <a:pt x="0" y="2016252"/>
                  </a:lnTo>
                  <a:lnTo>
                    <a:pt x="0" y="2020824"/>
                  </a:lnTo>
                  <a:lnTo>
                    <a:pt x="4572" y="2020824"/>
                  </a:lnTo>
                  <a:lnTo>
                    <a:pt x="4572" y="2016252"/>
                  </a:lnTo>
                  <a:close/>
                </a:path>
                <a:path w="3100070" h="2021205">
                  <a:moveTo>
                    <a:pt x="4572" y="6096"/>
                  </a:moveTo>
                  <a:lnTo>
                    <a:pt x="0" y="6096"/>
                  </a:lnTo>
                  <a:lnTo>
                    <a:pt x="0" y="2014728"/>
                  </a:lnTo>
                  <a:lnTo>
                    <a:pt x="4572" y="2014728"/>
                  </a:lnTo>
                  <a:lnTo>
                    <a:pt x="4572" y="6096"/>
                  </a:lnTo>
                  <a:close/>
                </a:path>
                <a:path w="3100070" h="2021205">
                  <a:moveTo>
                    <a:pt x="4572" y="0"/>
                  </a:moveTo>
                  <a:lnTo>
                    <a:pt x="0" y="0"/>
                  </a:lnTo>
                  <a:lnTo>
                    <a:pt x="0" y="4572"/>
                  </a:lnTo>
                  <a:lnTo>
                    <a:pt x="4572" y="4572"/>
                  </a:lnTo>
                  <a:lnTo>
                    <a:pt x="4572" y="0"/>
                  </a:lnTo>
                  <a:close/>
                </a:path>
                <a:path w="3100070" h="2021205">
                  <a:moveTo>
                    <a:pt x="3093720" y="2016252"/>
                  </a:moveTo>
                  <a:lnTo>
                    <a:pt x="6096" y="2016252"/>
                  </a:lnTo>
                  <a:lnTo>
                    <a:pt x="6096" y="2020824"/>
                  </a:lnTo>
                  <a:lnTo>
                    <a:pt x="3093720" y="2020824"/>
                  </a:lnTo>
                  <a:lnTo>
                    <a:pt x="3093720" y="2016252"/>
                  </a:lnTo>
                  <a:close/>
                </a:path>
                <a:path w="3100070" h="2021205">
                  <a:moveTo>
                    <a:pt x="3093720" y="0"/>
                  </a:moveTo>
                  <a:lnTo>
                    <a:pt x="6096" y="0"/>
                  </a:lnTo>
                  <a:lnTo>
                    <a:pt x="6096" y="4572"/>
                  </a:lnTo>
                  <a:lnTo>
                    <a:pt x="3093720" y="4572"/>
                  </a:lnTo>
                  <a:lnTo>
                    <a:pt x="3093720" y="0"/>
                  </a:lnTo>
                  <a:close/>
                </a:path>
                <a:path w="3100070" h="2021205">
                  <a:moveTo>
                    <a:pt x="3099816" y="2016252"/>
                  </a:moveTo>
                  <a:lnTo>
                    <a:pt x="3095244" y="2016252"/>
                  </a:lnTo>
                  <a:lnTo>
                    <a:pt x="3095244" y="2020824"/>
                  </a:lnTo>
                  <a:lnTo>
                    <a:pt x="3099816" y="2020824"/>
                  </a:lnTo>
                  <a:lnTo>
                    <a:pt x="3099816" y="2016252"/>
                  </a:lnTo>
                  <a:close/>
                </a:path>
                <a:path w="3100070" h="2021205">
                  <a:moveTo>
                    <a:pt x="3099816" y="6096"/>
                  </a:moveTo>
                  <a:lnTo>
                    <a:pt x="3095244" y="6096"/>
                  </a:lnTo>
                  <a:lnTo>
                    <a:pt x="3095244" y="2014728"/>
                  </a:lnTo>
                  <a:lnTo>
                    <a:pt x="3099816" y="2014728"/>
                  </a:lnTo>
                  <a:lnTo>
                    <a:pt x="3099816" y="6096"/>
                  </a:lnTo>
                  <a:close/>
                </a:path>
                <a:path w="3100070" h="2021205">
                  <a:moveTo>
                    <a:pt x="3099816" y="0"/>
                  </a:moveTo>
                  <a:lnTo>
                    <a:pt x="3095244" y="0"/>
                  </a:lnTo>
                  <a:lnTo>
                    <a:pt x="3095244" y="4572"/>
                  </a:lnTo>
                  <a:lnTo>
                    <a:pt x="3099816" y="4572"/>
                  </a:lnTo>
                  <a:lnTo>
                    <a:pt x="3099816" y="0"/>
                  </a:lnTo>
                  <a:close/>
                </a:path>
              </a:pathLst>
            </a:custGeom>
            <a:ln/>
          </p:spPr>
          <p:style>
            <a:lnRef idx="3">
              <a:schemeClr val="lt1"/>
            </a:lnRef>
            <a:fillRef idx="1">
              <a:schemeClr val="accent2"/>
            </a:fillRef>
            <a:effectRef idx="1">
              <a:schemeClr val="accent2"/>
            </a:effectRef>
            <a:fontRef idx="minor">
              <a:schemeClr val="lt1"/>
            </a:fontRef>
          </p:style>
          <p:txBody>
            <a:bodyPr rot="0" vert="horz" wrap="square" lIns="91440" tIns="45720" rIns="91440" bIns="45720" anchor="t" anchorCtr="0" upright="1">
              <a:noAutofit/>
            </a:bodyPr>
            <a:lstStyle/>
            <a:p>
              <a:endParaRPr lang="en-IN"/>
            </a:p>
          </p:txBody>
        </p:sp>
        <p:pic>
          <p:nvPicPr>
            <p:cNvPr id="15" name="Image 5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7" y="76"/>
              <a:ext cx="26853" cy="18090"/>
            </a:xfrm>
            <a:prstGeom prst="rect">
              <a:avLst/>
            </a:prstGeom>
            <a:ln/>
          </p:spPr>
          <p:style>
            <a:lnRef idx="3">
              <a:schemeClr val="lt1"/>
            </a:lnRef>
            <a:fillRef idx="1">
              <a:schemeClr val="accent2"/>
            </a:fillRef>
            <a:effectRef idx="1">
              <a:schemeClr val="accent2"/>
            </a:effectRef>
            <a:fontRef idx="minor">
              <a:schemeClr val="lt1"/>
            </a:fontRef>
          </p:style>
        </p:pic>
      </p:grpSp>
      <p:sp>
        <p:nvSpPr>
          <p:cNvPr id="16" name="TextBox 15"/>
          <p:cNvSpPr txBox="1"/>
          <p:nvPr/>
        </p:nvSpPr>
        <p:spPr>
          <a:xfrm>
            <a:off x="1386224" y="4919008"/>
            <a:ext cx="8232557" cy="1938992"/>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Molecular Formula: C</a:t>
            </a:r>
            <a:r>
              <a:rPr lang="en-US" sz="2400" baseline="-25000" dirty="0">
                <a:latin typeface="Times New Roman" panose="02020603050405020304" pitchFamily="18" charset="0"/>
                <a:cs typeface="Times New Roman" panose="02020603050405020304" pitchFamily="18" charset="0"/>
              </a:rPr>
              <a:t>18</a:t>
            </a:r>
            <a:r>
              <a:rPr lang="en-US" sz="2400" dirty="0">
                <a:latin typeface="Times New Roman" panose="02020603050405020304" pitchFamily="18" charset="0"/>
                <a:cs typeface="Times New Roman" panose="02020603050405020304" pitchFamily="18" charset="0"/>
              </a:rPr>
              <a:t>H</a:t>
            </a:r>
            <a:r>
              <a:rPr lang="en-US" sz="2400" baseline="-25000" dirty="0">
                <a:latin typeface="Times New Roman" panose="02020603050405020304" pitchFamily="18" charset="0"/>
                <a:cs typeface="Times New Roman" panose="02020603050405020304" pitchFamily="18" charset="0"/>
              </a:rPr>
              <a:t>22</a:t>
            </a:r>
            <a:r>
              <a:rPr lang="en-US" sz="2400" dirty="0">
                <a:latin typeface="Times New Roman" panose="02020603050405020304" pitchFamily="18" charset="0"/>
                <a:cs typeface="Times New Roman" panose="02020603050405020304" pitchFamily="18" charset="0"/>
              </a:rPr>
              <a:t>N</a:t>
            </a:r>
            <a:r>
              <a:rPr lang="en-US" sz="2400" baseline="-25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O</a:t>
            </a:r>
            <a:r>
              <a:rPr lang="en-US" sz="2400" baseline="-25000" dirty="0">
                <a:latin typeface="Times New Roman" panose="02020603050405020304" pitchFamily="18" charset="0"/>
                <a:cs typeface="Times New Roman" panose="02020603050405020304" pitchFamily="18" charset="0"/>
              </a:rPr>
              <a:t>2</a:t>
            </a: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Molecular Wt.: 298.4 g/</a:t>
            </a:r>
            <a:r>
              <a:rPr lang="en-US" sz="2400" dirty="0" err="1">
                <a:latin typeface="Times New Roman" panose="02020603050405020304" pitchFamily="18" charset="0"/>
                <a:cs typeface="Times New Roman" panose="02020603050405020304" pitchFamily="18" charset="0"/>
              </a:rPr>
              <a:t>mol</a:t>
            </a: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Category: Beta-3 adrenergic receptor</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 To treat Overactive bladder (OAB)</a:t>
            </a:r>
          </a:p>
          <a:p>
            <a:pPr marL="342900" indent="-34290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p:txBody>
      </p:sp>
      <p:sp>
        <p:nvSpPr>
          <p:cNvPr id="17" name="TextBox 16"/>
          <p:cNvSpPr txBox="1"/>
          <p:nvPr/>
        </p:nvSpPr>
        <p:spPr>
          <a:xfrm>
            <a:off x="3594836" y="4412516"/>
            <a:ext cx="4336702" cy="461665"/>
          </a:xfrm>
          <a:prstGeom prst="rect">
            <a:avLst/>
          </a:prstGeom>
          <a:noFill/>
        </p:spPr>
        <p:txBody>
          <a:bodyPr wrap="square" rtlCol="0">
            <a:spAutoFit/>
          </a:bodyPr>
          <a:lstStyle/>
          <a:p>
            <a:pPr algn="ctr"/>
            <a:r>
              <a:rPr lang="en-US" sz="2400" b="1" u="sng" dirty="0">
                <a:solidFill>
                  <a:schemeClr val="tx2">
                    <a:lumMod val="50000"/>
                  </a:schemeClr>
                </a:solidFill>
                <a:latin typeface="Times New Roman" panose="02020603050405020304" pitchFamily="18" charset="0"/>
                <a:cs typeface="Times New Roman" panose="02020603050405020304" pitchFamily="18" charset="0"/>
              </a:rPr>
              <a:t>Structure of mirabegron</a:t>
            </a:r>
            <a:endParaRPr lang="en-IN" sz="2400" b="1" u="sng" dirty="0">
              <a:solidFill>
                <a:schemeClr val="tx2">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7365879"/>
      </p:ext>
    </p:extLst>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767840" y="166910"/>
            <a:ext cx="8911687" cy="590736"/>
          </a:xfrm>
        </p:spPr>
        <p:txBody>
          <a:bodyPr>
            <a:normAutofit/>
          </a:bodyPr>
          <a:lstStyle/>
          <a:p>
            <a:pPr algn="ctr"/>
            <a:r>
              <a:rPr lang="en-US" sz="2800" b="1" dirty="0">
                <a:latin typeface="Times New Roman" panose="02020603050405020304" pitchFamily="18" charset="0"/>
                <a:cs typeface="Times New Roman" panose="02020603050405020304" pitchFamily="18" charset="0"/>
              </a:rPr>
              <a:t>EXPERIMENTAL WORK</a:t>
            </a:r>
            <a:endParaRPr lang="en-IN" sz="2800" b="1" dirty="0">
              <a:latin typeface="Times New Roman" panose="02020603050405020304" pitchFamily="18" charset="0"/>
              <a:cs typeface="Times New Roman" panose="02020603050405020304" pitchFamily="18" charset="0"/>
            </a:endParaRPr>
          </a:p>
        </p:txBody>
      </p:sp>
      <p:sp>
        <p:nvSpPr>
          <p:cNvPr id="6" name="TextBox 5"/>
          <p:cNvSpPr txBox="1"/>
          <p:nvPr/>
        </p:nvSpPr>
        <p:spPr>
          <a:xfrm>
            <a:off x="1429637" y="757646"/>
            <a:ext cx="10424160" cy="1477328"/>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HPLC was selected as analytical technique for estimation of Mirabegron.</a:t>
            </a:r>
          </a:p>
          <a:p>
            <a:r>
              <a:rPr lang="en-US" sz="2400" dirty="0">
                <a:latin typeface="Times New Roman" panose="02020603050405020304" pitchFamily="18" charset="0"/>
                <a:cs typeface="Times New Roman" panose="02020603050405020304" pitchFamily="18" charset="0"/>
              </a:rPr>
              <a:t>Trail and error method was used for the selection of chromatographic conditions.</a:t>
            </a:r>
          </a:p>
          <a:p>
            <a:endParaRPr lang="en-US" sz="2400" dirty="0">
              <a:latin typeface="Times New Roman" panose="02020603050405020304" pitchFamily="18" charset="0"/>
              <a:cs typeface="Times New Roman" panose="02020603050405020304" pitchFamily="18" charset="0"/>
            </a:endParaRPr>
          </a:p>
          <a:p>
            <a:r>
              <a:rPr lang="en-US" dirty="0"/>
              <a:t> </a:t>
            </a:r>
            <a:endParaRPr lang="en-IN" dirty="0"/>
          </a:p>
        </p:txBody>
      </p:sp>
      <p:graphicFrame>
        <p:nvGraphicFramePr>
          <p:cNvPr id="9" name="Table 8"/>
          <p:cNvGraphicFramePr>
            <a:graphicFrameLocks noGrp="1"/>
          </p:cNvGraphicFramePr>
          <p:nvPr>
            <p:extLst>
              <p:ext uri="{D42A27DB-BD31-4B8C-83A1-F6EECF244321}">
                <p14:modId xmlns:p14="http://schemas.microsoft.com/office/powerpoint/2010/main" val="1980742981"/>
              </p:ext>
            </p:extLst>
          </p:nvPr>
        </p:nvGraphicFramePr>
        <p:xfrm>
          <a:off x="1767840" y="1674328"/>
          <a:ext cx="9024763" cy="5059680"/>
        </p:xfrm>
        <a:graphic>
          <a:graphicData uri="http://schemas.openxmlformats.org/drawingml/2006/table">
            <a:tbl>
              <a:tblPr firstRow="1" bandRow="1">
                <a:tableStyleId>{21E4AEA4-8DFA-4A89-87EB-49C32662AFE0}</a:tableStyleId>
              </a:tblPr>
              <a:tblGrid>
                <a:gridCol w="1297310">
                  <a:extLst>
                    <a:ext uri="{9D8B030D-6E8A-4147-A177-3AD203B41FA5}">
                      <a16:colId xmlns:a16="http://schemas.microsoft.com/office/drawing/2014/main" val="2326683866"/>
                    </a:ext>
                  </a:extLst>
                </a:gridCol>
                <a:gridCol w="3480981">
                  <a:extLst>
                    <a:ext uri="{9D8B030D-6E8A-4147-A177-3AD203B41FA5}">
                      <a16:colId xmlns:a16="http://schemas.microsoft.com/office/drawing/2014/main" val="463203568"/>
                    </a:ext>
                  </a:extLst>
                </a:gridCol>
                <a:gridCol w="4246472">
                  <a:extLst>
                    <a:ext uri="{9D8B030D-6E8A-4147-A177-3AD203B41FA5}">
                      <a16:colId xmlns:a16="http://schemas.microsoft.com/office/drawing/2014/main" val="2576927013"/>
                    </a:ext>
                  </a:extLst>
                </a:gridCol>
              </a:tblGrid>
              <a:tr h="370840">
                <a:tc>
                  <a:txBody>
                    <a:bodyPr/>
                    <a:lstStyle/>
                    <a:p>
                      <a:r>
                        <a:rPr lang="en-US" sz="2000" dirty="0">
                          <a:latin typeface="Times New Roman" panose="02020603050405020304" pitchFamily="18" charset="0"/>
                          <a:cs typeface="Times New Roman" panose="02020603050405020304" pitchFamily="18" charset="0"/>
                        </a:rPr>
                        <a:t>Sr</a:t>
                      </a:r>
                      <a:r>
                        <a:rPr lang="en-US" sz="2000" baseline="0" dirty="0">
                          <a:latin typeface="Times New Roman" panose="02020603050405020304" pitchFamily="18" charset="0"/>
                          <a:cs typeface="Times New Roman" panose="02020603050405020304" pitchFamily="18" charset="0"/>
                        </a:rPr>
                        <a:t> no.</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Parameters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Description</a:t>
                      </a:r>
                    </a:p>
                  </a:txBody>
                  <a:tcPr/>
                </a:tc>
                <a:extLst>
                  <a:ext uri="{0D108BD9-81ED-4DB2-BD59-A6C34878D82A}">
                    <a16:rowId xmlns:a16="http://schemas.microsoft.com/office/drawing/2014/main" val="3851298199"/>
                  </a:ext>
                </a:extLst>
              </a:tr>
              <a:tr h="370840">
                <a:tc>
                  <a:txBody>
                    <a:bodyPr/>
                    <a:lstStyle/>
                    <a:p>
                      <a:r>
                        <a:rPr lang="en-US" sz="2000" dirty="0">
                          <a:latin typeface="Times New Roman" panose="02020603050405020304" pitchFamily="18" charset="0"/>
                          <a:cs typeface="Times New Roman" panose="02020603050405020304" pitchFamily="18" charset="0"/>
                        </a:rPr>
                        <a:t>1.</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HPLC</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Agilent</a:t>
                      </a:r>
                      <a:r>
                        <a:rPr lang="en-US" sz="2000" baseline="0" dirty="0">
                          <a:latin typeface="Times New Roman" panose="02020603050405020304" pitchFamily="18" charset="0"/>
                          <a:cs typeface="Times New Roman" panose="02020603050405020304" pitchFamily="18" charset="0"/>
                        </a:rPr>
                        <a:t> Tech. Gradient System With Auto injector, UV Detector</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77709920"/>
                  </a:ext>
                </a:extLst>
              </a:tr>
              <a:tr h="370840">
                <a:tc>
                  <a:txBody>
                    <a:bodyPr/>
                    <a:lstStyle/>
                    <a:p>
                      <a:r>
                        <a:rPr lang="en-US" sz="2000" dirty="0">
                          <a:latin typeface="Times New Roman" panose="02020603050405020304" pitchFamily="18" charset="0"/>
                          <a:cs typeface="Times New Roman" panose="02020603050405020304" pitchFamily="18" charset="0"/>
                        </a:rPr>
                        <a:t>2.</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Software</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err="1">
                          <a:latin typeface="Times New Roman" panose="02020603050405020304" pitchFamily="18" charset="0"/>
                          <a:cs typeface="Times New Roman" panose="02020603050405020304" pitchFamily="18" charset="0"/>
                        </a:rPr>
                        <a:t>Chemstation</a:t>
                      </a:r>
                      <a:r>
                        <a:rPr lang="en-US" sz="2000" dirty="0">
                          <a:latin typeface="Times New Roman" panose="02020603050405020304" pitchFamily="18" charset="0"/>
                          <a:cs typeface="Times New Roman" panose="02020603050405020304" pitchFamily="18" charset="0"/>
                        </a:rPr>
                        <a:t> 10.1</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35185522"/>
                  </a:ext>
                </a:extLst>
              </a:tr>
              <a:tr h="370840">
                <a:tc>
                  <a:txBody>
                    <a:bodyPr/>
                    <a:lstStyle/>
                    <a:p>
                      <a:r>
                        <a:rPr lang="en-US" sz="2000" dirty="0">
                          <a:latin typeface="Times New Roman" panose="02020603050405020304" pitchFamily="18" charset="0"/>
                          <a:cs typeface="Times New Roman" panose="02020603050405020304" pitchFamily="18" charset="0"/>
                        </a:rPr>
                        <a:t>3.</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Column</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(Agilent) C18 column (4.6</a:t>
                      </a:r>
                      <a:r>
                        <a:rPr lang="en-US" sz="2000" baseline="0" dirty="0">
                          <a:latin typeface="Times New Roman" panose="02020603050405020304" pitchFamily="18" charset="0"/>
                          <a:cs typeface="Times New Roman" panose="02020603050405020304" pitchFamily="18" charset="0"/>
                        </a:rPr>
                        <a:t> x 150mm</a:t>
                      </a:r>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23471847"/>
                  </a:ext>
                </a:extLst>
              </a:tr>
              <a:tr h="370840">
                <a:tc>
                  <a:txBody>
                    <a:bodyPr/>
                    <a:lstStyle/>
                    <a:p>
                      <a:r>
                        <a:rPr lang="en-US" sz="2000" dirty="0">
                          <a:latin typeface="Times New Roman" panose="02020603050405020304" pitchFamily="18" charset="0"/>
                          <a:cs typeface="Times New Roman" panose="02020603050405020304" pitchFamily="18" charset="0"/>
                        </a:rPr>
                        <a:t>4.</a:t>
                      </a:r>
                    </a:p>
                  </a:txBody>
                  <a:tcPr/>
                </a:tc>
                <a:tc>
                  <a:txBody>
                    <a:bodyPr/>
                    <a:lstStyle/>
                    <a:p>
                      <a:r>
                        <a:rPr lang="en-US" sz="2000" dirty="0">
                          <a:latin typeface="Times New Roman" panose="02020603050405020304" pitchFamily="18" charset="0"/>
                          <a:cs typeface="Times New Roman" panose="02020603050405020304" pitchFamily="18" charset="0"/>
                        </a:rPr>
                        <a:t>Particle size</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5µm</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63028589"/>
                  </a:ext>
                </a:extLst>
              </a:tr>
              <a:tr h="370840">
                <a:tc>
                  <a:txBody>
                    <a:bodyPr/>
                    <a:lstStyle/>
                    <a:p>
                      <a:r>
                        <a:rPr lang="en-US" sz="2000" dirty="0">
                          <a:latin typeface="Times New Roman" panose="02020603050405020304" pitchFamily="18" charset="0"/>
                          <a:cs typeface="Times New Roman" panose="02020603050405020304" pitchFamily="18" charset="0"/>
                        </a:rPr>
                        <a:t>5.</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Stationary</a:t>
                      </a:r>
                      <a:r>
                        <a:rPr lang="en-US" sz="2000" baseline="0" dirty="0">
                          <a:latin typeface="Times New Roman" panose="02020603050405020304" pitchFamily="18" charset="0"/>
                          <a:cs typeface="Times New Roman" panose="02020603050405020304" pitchFamily="18" charset="0"/>
                        </a:rPr>
                        <a:t> phase</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C-18 (Agilent)</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51218787"/>
                  </a:ext>
                </a:extLst>
              </a:tr>
              <a:tr h="370840">
                <a:tc>
                  <a:txBody>
                    <a:bodyPr/>
                    <a:lstStyle/>
                    <a:p>
                      <a:r>
                        <a:rPr lang="en-US" sz="2000" dirty="0">
                          <a:latin typeface="Times New Roman" panose="02020603050405020304" pitchFamily="18" charset="0"/>
                          <a:cs typeface="Times New Roman" panose="02020603050405020304" pitchFamily="18" charset="0"/>
                        </a:rPr>
                        <a:t>6.</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Mobile phase</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Methanol:0.1%</a:t>
                      </a:r>
                      <a:r>
                        <a:rPr lang="en-US" sz="2000" baseline="0" dirty="0">
                          <a:latin typeface="Times New Roman" panose="02020603050405020304" pitchFamily="18" charset="0"/>
                          <a:cs typeface="Times New Roman" panose="02020603050405020304" pitchFamily="18" charset="0"/>
                        </a:rPr>
                        <a:t> OPA </a:t>
                      </a:r>
                      <a:r>
                        <a:rPr lang="en-IN" sz="2000" baseline="0" dirty="0">
                          <a:latin typeface="Times New Roman" panose="02020603050405020304" pitchFamily="18" charset="0"/>
                          <a:cs typeface="Times New Roman" panose="02020603050405020304" pitchFamily="18" charset="0"/>
                        </a:rPr>
                        <a:t>(55:45)</a:t>
                      </a:r>
                      <a:endParaRPr lang="en-US" sz="2000" baseline="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34608830"/>
                  </a:ext>
                </a:extLst>
              </a:tr>
              <a:tr h="370840">
                <a:tc>
                  <a:txBody>
                    <a:bodyPr/>
                    <a:lstStyle/>
                    <a:p>
                      <a:r>
                        <a:rPr lang="en-US" sz="2000" dirty="0">
                          <a:latin typeface="Times New Roman" panose="02020603050405020304" pitchFamily="18" charset="0"/>
                          <a:cs typeface="Times New Roman" panose="02020603050405020304" pitchFamily="18" charset="0"/>
                        </a:rPr>
                        <a:t>7.</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Detection</a:t>
                      </a:r>
                      <a:r>
                        <a:rPr lang="en-US" sz="2000" baseline="0" dirty="0">
                          <a:latin typeface="Times New Roman" panose="02020603050405020304" pitchFamily="18" charset="0"/>
                          <a:cs typeface="Times New Roman" panose="02020603050405020304" pitchFamily="18" charset="0"/>
                        </a:rPr>
                        <a:t> wavelength</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254nm</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8481376"/>
                  </a:ext>
                </a:extLst>
              </a:tr>
              <a:tr h="370840">
                <a:tc>
                  <a:txBody>
                    <a:bodyPr/>
                    <a:lstStyle/>
                    <a:p>
                      <a:r>
                        <a:rPr lang="en-US" sz="2000" dirty="0">
                          <a:latin typeface="Times New Roman" panose="02020603050405020304" pitchFamily="18" charset="0"/>
                          <a:cs typeface="Times New Roman" panose="02020603050405020304" pitchFamily="18" charset="0"/>
                        </a:rPr>
                        <a:t>8.</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Flow rate</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0.7 ml/min</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42803656"/>
                  </a:ext>
                </a:extLst>
              </a:tr>
              <a:tr h="370840">
                <a:tc>
                  <a:txBody>
                    <a:bodyPr/>
                    <a:lstStyle/>
                    <a:p>
                      <a:r>
                        <a:rPr lang="en-US" sz="2000" dirty="0">
                          <a:latin typeface="Times New Roman" panose="02020603050405020304" pitchFamily="18" charset="0"/>
                          <a:cs typeface="Times New Roman" panose="02020603050405020304" pitchFamily="18" charset="0"/>
                        </a:rPr>
                        <a:t>9.</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Temperature</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Ambient</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02055678"/>
                  </a:ext>
                </a:extLst>
              </a:tr>
              <a:tr h="370840">
                <a:tc>
                  <a:txBody>
                    <a:bodyPr/>
                    <a:lstStyle/>
                    <a:p>
                      <a:r>
                        <a:rPr lang="en-US" sz="2000" dirty="0">
                          <a:latin typeface="Times New Roman" panose="02020603050405020304" pitchFamily="18" charset="0"/>
                          <a:cs typeface="Times New Roman" panose="02020603050405020304" pitchFamily="18" charset="0"/>
                        </a:rPr>
                        <a:t>10.</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Sample</a:t>
                      </a:r>
                      <a:r>
                        <a:rPr lang="en-US" sz="2000" baseline="0" dirty="0">
                          <a:latin typeface="Times New Roman" panose="02020603050405020304" pitchFamily="18" charset="0"/>
                          <a:cs typeface="Times New Roman" panose="02020603050405020304" pitchFamily="18" charset="0"/>
                        </a:rPr>
                        <a:t> size</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20µl</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01545545"/>
                  </a:ext>
                </a:extLst>
              </a:tr>
              <a:tr h="370840">
                <a:tc>
                  <a:txBody>
                    <a:bodyPr/>
                    <a:lstStyle/>
                    <a:p>
                      <a:r>
                        <a:rPr lang="en-US" sz="2000" dirty="0">
                          <a:latin typeface="Times New Roman" panose="02020603050405020304" pitchFamily="18" charset="0"/>
                          <a:cs typeface="Times New Roman" panose="02020603050405020304" pitchFamily="18" charset="0"/>
                        </a:rPr>
                        <a:t>11.</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err="1">
                          <a:latin typeface="Times New Roman" panose="02020603050405020304" pitchFamily="18" charset="0"/>
                          <a:cs typeface="Times New Roman" panose="02020603050405020304" pitchFamily="18" charset="0"/>
                        </a:rPr>
                        <a:t>Ph</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3</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27019473"/>
                  </a:ext>
                </a:extLst>
              </a:tr>
            </a:tbl>
          </a:graphicData>
        </a:graphic>
      </p:graphicFrame>
    </p:spTree>
    <p:extLst>
      <p:ext uri="{BB962C8B-B14F-4D97-AF65-F5344CB8AC3E}">
        <p14:creationId xmlns:p14="http://schemas.microsoft.com/office/powerpoint/2010/main" val="4282217601"/>
      </p:ext>
    </p:extLst>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4107397578"/>
              </p:ext>
            </p:extLst>
          </p:nvPr>
        </p:nvGraphicFramePr>
        <p:xfrm>
          <a:off x="2045063" y="732729"/>
          <a:ext cx="8127999" cy="1188720"/>
        </p:xfrm>
        <a:graphic>
          <a:graphicData uri="http://schemas.openxmlformats.org/drawingml/2006/table">
            <a:tbl>
              <a:tblPr firstRow="1" bandRow="1">
                <a:tableStyleId>{21E4AEA4-8DFA-4A89-87EB-49C32662AFE0}</a:tableStyleId>
              </a:tblPr>
              <a:tblGrid>
                <a:gridCol w="1586411">
                  <a:extLst>
                    <a:ext uri="{9D8B030D-6E8A-4147-A177-3AD203B41FA5}">
                      <a16:colId xmlns:a16="http://schemas.microsoft.com/office/drawing/2014/main" val="2126609927"/>
                    </a:ext>
                  </a:extLst>
                </a:gridCol>
                <a:gridCol w="3618412">
                  <a:extLst>
                    <a:ext uri="{9D8B030D-6E8A-4147-A177-3AD203B41FA5}">
                      <a16:colId xmlns:a16="http://schemas.microsoft.com/office/drawing/2014/main" val="4206765523"/>
                    </a:ext>
                  </a:extLst>
                </a:gridCol>
                <a:gridCol w="2923176">
                  <a:extLst>
                    <a:ext uri="{9D8B030D-6E8A-4147-A177-3AD203B41FA5}">
                      <a16:colId xmlns:a16="http://schemas.microsoft.com/office/drawing/2014/main" val="838155383"/>
                    </a:ext>
                  </a:extLst>
                </a:gridCol>
              </a:tblGrid>
              <a:tr h="370840">
                <a:tc>
                  <a:txBody>
                    <a:bodyPr/>
                    <a:lstStyle/>
                    <a:p>
                      <a:r>
                        <a:rPr lang="en-US" sz="2000" dirty="0">
                          <a:latin typeface="Times New Roman" panose="02020603050405020304" pitchFamily="18" charset="0"/>
                          <a:cs typeface="Times New Roman" panose="02020603050405020304" pitchFamily="18" charset="0"/>
                        </a:rPr>
                        <a:t>Sr</a:t>
                      </a:r>
                      <a:r>
                        <a:rPr lang="en-US" sz="2000" baseline="0" dirty="0">
                          <a:latin typeface="Times New Roman" panose="02020603050405020304" pitchFamily="18" charset="0"/>
                          <a:cs typeface="Times New Roman" panose="02020603050405020304" pitchFamily="18" charset="0"/>
                        </a:rPr>
                        <a:t> no.</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Parameters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Description</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81090122"/>
                  </a:ext>
                </a:extLst>
              </a:tr>
              <a:tr h="370840">
                <a:tc>
                  <a:txBody>
                    <a:bodyPr/>
                    <a:lstStyle/>
                    <a:p>
                      <a:r>
                        <a:rPr lang="en-US" sz="2000" dirty="0">
                          <a:latin typeface="Times New Roman" panose="02020603050405020304" pitchFamily="18" charset="0"/>
                          <a:cs typeface="Times New Roman" panose="02020603050405020304" pitchFamily="18" charset="0"/>
                        </a:rPr>
                        <a:t>12.</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Run time</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15 min</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77078941"/>
                  </a:ext>
                </a:extLst>
              </a:tr>
              <a:tr h="370840">
                <a:tc>
                  <a:txBody>
                    <a:bodyPr/>
                    <a:lstStyle/>
                    <a:p>
                      <a:r>
                        <a:rPr lang="en-US" sz="2000" dirty="0">
                          <a:latin typeface="Times New Roman" panose="02020603050405020304" pitchFamily="18" charset="0"/>
                          <a:cs typeface="Times New Roman" panose="02020603050405020304" pitchFamily="18" charset="0"/>
                        </a:rPr>
                        <a:t>13.</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Filter paper</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0.45µ</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64101733"/>
                  </a:ext>
                </a:extLst>
              </a:tr>
            </a:tbl>
          </a:graphicData>
        </a:graphic>
      </p:graphicFrame>
      <p:sp>
        <p:nvSpPr>
          <p:cNvPr id="5" name="TextBox 4"/>
          <p:cNvSpPr txBox="1"/>
          <p:nvPr/>
        </p:nvSpPr>
        <p:spPr>
          <a:xfrm>
            <a:off x="1381621" y="2233749"/>
            <a:ext cx="10045337" cy="6370975"/>
          </a:xfrm>
          <a:prstGeom prst="rect">
            <a:avLst/>
          </a:prstGeom>
          <a:noFill/>
        </p:spPr>
        <p:txBody>
          <a:bodyPr wrap="square" rtlCol="0">
            <a:spAutoFit/>
          </a:bodyPr>
          <a:lstStyle/>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UV-VIS Spectrophotometer:</a:t>
            </a:r>
          </a:p>
          <a:p>
            <a:pPr lvl="1"/>
            <a:r>
              <a:rPr lang="en-US" sz="2400" dirty="0">
                <a:latin typeface="Times New Roman" panose="02020603050405020304" pitchFamily="18" charset="0"/>
                <a:cs typeface="Times New Roman" panose="02020603050405020304" pitchFamily="18" charset="0"/>
              </a:rPr>
              <a:t>UV-VIS Spectrophotometer was selected for estimation. </a:t>
            </a:r>
          </a:p>
          <a:p>
            <a:pPr lvl="1"/>
            <a:r>
              <a:rPr lang="en-US" sz="2400" dirty="0">
                <a:latin typeface="Times New Roman" panose="02020603050405020304" pitchFamily="18" charset="0"/>
                <a:cs typeface="Times New Roman" panose="02020603050405020304" pitchFamily="18" charset="0"/>
              </a:rPr>
              <a:t>UV Visible absorbance range of 200-400nm.</a:t>
            </a:r>
          </a:p>
          <a:p>
            <a:pPr lvl="1"/>
            <a:r>
              <a:rPr lang="en-US" sz="2400" dirty="0">
                <a:latin typeface="Times New Roman" panose="02020603050405020304" pitchFamily="18" charset="0"/>
                <a:cs typeface="Times New Roman" panose="02020603050405020304" pitchFamily="18" charset="0"/>
              </a:rPr>
              <a:t>The instrument needs about 1 minute for initialization.</a:t>
            </a:r>
          </a:p>
          <a:p>
            <a:pPr lvl="1"/>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Light Source used:</a:t>
            </a:r>
          </a:p>
          <a:p>
            <a:pPr lvl="1"/>
            <a:r>
              <a:rPr lang="en-US" sz="2400" dirty="0">
                <a:latin typeface="Times New Roman" panose="02020603050405020304" pitchFamily="18" charset="0"/>
                <a:cs typeface="Times New Roman" panose="02020603050405020304" pitchFamily="18" charset="0"/>
              </a:rPr>
              <a:t> Deuterium lamp</a:t>
            </a:r>
          </a:p>
          <a:p>
            <a:pPr lvl="1"/>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Cuvette used:</a:t>
            </a:r>
          </a:p>
          <a:p>
            <a:r>
              <a:rPr lang="en-US" sz="2400" dirty="0">
                <a:latin typeface="Times New Roman" panose="02020603050405020304" pitchFamily="18" charset="0"/>
                <a:cs typeface="Times New Roman" panose="02020603050405020304" pitchFamily="18" charset="0"/>
              </a:rPr>
              <a:t>     Quartz cuvette</a:t>
            </a:r>
          </a:p>
          <a:p>
            <a:pPr lvl="1"/>
            <a:endParaRPr lang="en-US" sz="2400"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lvl="1"/>
            <a:endParaRPr lang="en-US" sz="2400" dirty="0">
              <a:latin typeface="Times New Roman" panose="02020603050405020304" pitchFamily="18" charset="0"/>
              <a:cs typeface="Times New Roman" panose="02020603050405020304" pitchFamily="18" charset="0"/>
            </a:endParaRPr>
          </a:p>
          <a:p>
            <a:pPr lvl="1"/>
            <a:endParaRPr lang="en-US" sz="2400" dirty="0">
              <a:latin typeface="Times New Roman" panose="02020603050405020304" pitchFamily="18" charset="0"/>
              <a:cs typeface="Times New Roman" panose="02020603050405020304" pitchFamily="18" charset="0"/>
            </a:endParaRPr>
          </a:p>
          <a:p>
            <a:pPr lvl="1"/>
            <a:endParaRPr lang="en-US" sz="2400" dirty="0">
              <a:latin typeface="Times New Roman" panose="02020603050405020304" pitchFamily="18" charset="0"/>
              <a:cs typeface="Times New Roman" panose="02020603050405020304" pitchFamily="18" charset="0"/>
            </a:endParaRPr>
          </a:p>
          <a:p>
            <a:pPr lvl="1"/>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3279664"/>
      </p:ext>
    </p:extLst>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70377" y="489409"/>
            <a:ext cx="9953897" cy="5539978"/>
          </a:xfrm>
          <a:prstGeom prst="rect">
            <a:avLst/>
          </a:prstGeom>
          <a:noFill/>
        </p:spPr>
        <p:txBody>
          <a:bodyPr wrap="square" rtlCol="0">
            <a:spAutoFit/>
          </a:bodyPr>
          <a:lstStyle/>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Preparation of Stock Standard Solution:</a:t>
            </a:r>
          </a:p>
          <a:p>
            <a:endParaRPr lang="en-US" sz="2400" dirty="0">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Standard Solution Stock I : (Mirabegron)</a:t>
            </a:r>
          </a:p>
          <a:p>
            <a:pPr lvl="0"/>
            <a:endParaRPr lang="en-IN" dirty="0"/>
          </a:p>
          <a:p>
            <a:r>
              <a:rPr lang="en-US" sz="2400" dirty="0">
                <a:latin typeface="Times New Roman" panose="02020603050405020304" pitchFamily="18" charset="0"/>
                <a:cs typeface="Times New Roman" panose="02020603050405020304" pitchFamily="18" charset="0"/>
              </a:rPr>
              <a:t>Accurately weigh and transfer 5 mg Mirabegron working standard into 10 ml volumetric flask as about diluents Methanol completely and make volume up to the mark with the same solvent to get 500 µg/ml standard (stock solution) and 15 min sonicate to dissolve it and the resulting stock solution 0.1ml was transferred to 10 ml volumetric flask and the volume was made up to the mark with mobile phase Methanol: (0.1%OPA)Water, prepared in (5.5 ml MEOH: 4.5 ml (0.1%OPA)Water v/v)solvent . </a:t>
            </a:r>
          </a:p>
          <a:p>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Validation method:</a:t>
            </a:r>
          </a:p>
          <a:p>
            <a:r>
              <a:rPr lang="en-US" sz="2400" dirty="0">
                <a:latin typeface="Times New Roman" panose="02020603050405020304" pitchFamily="18" charset="0"/>
                <a:cs typeface="Times New Roman" panose="02020603050405020304" pitchFamily="18" charset="0"/>
              </a:rPr>
              <a:t> ICH Guidelines were used for the method validation guidelines Q2 (R1)</a:t>
            </a:r>
            <a:r>
              <a:rPr lang="en-IN" sz="2400"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5960718"/>
      </p:ext>
    </p:extLst>
  </p:cSld>
  <p:clrMapOvr>
    <a:masterClrMapping/>
  </p:clrMapOvr>
  <p:transition>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540007" y="111532"/>
            <a:ext cx="8911687" cy="525421"/>
          </a:xfrm>
        </p:spPr>
        <p:txBody>
          <a:bodyPr>
            <a:normAutofit/>
          </a:bodyPr>
          <a:lstStyle/>
          <a:p>
            <a:pPr algn="ctr"/>
            <a:r>
              <a:rPr lang="en-US" sz="2800" b="1" dirty="0">
                <a:latin typeface="Times New Roman" panose="02020603050405020304" pitchFamily="18" charset="0"/>
                <a:cs typeface="Times New Roman" panose="02020603050405020304" pitchFamily="18" charset="0"/>
              </a:rPr>
              <a:t>RESULT AND DISCUSSION</a:t>
            </a:r>
            <a:endParaRPr lang="en-IN" sz="2800" b="1" dirty="0">
              <a:latin typeface="Times New Roman" panose="02020603050405020304" pitchFamily="18" charset="0"/>
              <a:cs typeface="Times New Roman" panose="02020603050405020304" pitchFamily="18" charset="0"/>
            </a:endParaRPr>
          </a:p>
        </p:txBody>
      </p:sp>
      <p:sp>
        <p:nvSpPr>
          <p:cNvPr id="8" name="Content Placeholder 7"/>
          <p:cNvSpPr>
            <a:spLocks noGrp="1"/>
          </p:cNvSpPr>
          <p:nvPr>
            <p:ph idx="1"/>
          </p:nvPr>
        </p:nvSpPr>
        <p:spPr>
          <a:xfrm>
            <a:off x="1540007" y="488515"/>
            <a:ext cx="9445319" cy="4935255"/>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Preliminary studies on Mirabegron were done.</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Melting point</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Appearance</a:t>
            </a:r>
          </a:p>
          <a:p>
            <a:pPr>
              <a:buFont typeface="Arial" panose="020B0604020202020204" pitchFamily="34" charset="0"/>
              <a:buChar char="•"/>
            </a:pPr>
            <a:r>
              <a:rPr lang="en-US" sz="2400" dirty="0" err="1">
                <a:latin typeface="Times New Roman" panose="02020603050405020304" pitchFamily="18" charset="0"/>
                <a:cs typeface="Times New Roman" panose="02020603050405020304" pitchFamily="18" charset="0"/>
              </a:rPr>
              <a:t>Solubilty</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Studies on the chromatographic behavior of </a:t>
            </a:r>
            <a:r>
              <a:rPr lang="en-US" sz="2400" dirty="0" err="1">
                <a:latin typeface="Times New Roman" panose="02020603050405020304" pitchFamily="18" charset="0"/>
                <a:cs typeface="Times New Roman" panose="02020603050405020304" pitchFamily="18" charset="0"/>
              </a:rPr>
              <a:t>Mirabegron</a:t>
            </a:r>
            <a:r>
              <a:rPr lang="en-US" sz="2400" dirty="0"/>
              <a:t>:</a:t>
            </a:r>
          </a:p>
          <a:p>
            <a:pPr marL="0" indent="0">
              <a:buNone/>
            </a:pPr>
            <a:r>
              <a:rPr lang="en-US" sz="2400" dirty="0">
                <a:latin typeface="Times New Roman" panose="02020603050405020304" pitchFamily="18" charset="0"/>
                <a:cs typeface="Times New Roman" panose="02020603050405020304" pitchFamily="18" charset="0"/>
              </a:rPr>
              <a:t>     After the selection of suitable mobile phase, it was then optimized for its reproducibility, sensitivity &amp; accuracy.</a:t>
            </a:r>
          </a:p>
          <a:p>
            <a:pPr marL="0" indent="0">
              <a:buNone/>
            </a:pPr>
            <a:endParaRPr lang="en-US" sz="2400" dirty="0">
              <a:latin typeface="Times New Roman" panose="02020603050405020304" pitchFamily="18" charset="0"/>
              <a:cs typeface="Times New Roman" panose="02020603050405020304" pitchFamily="18" charset="0"/>
            </a:endParaRPr>
          </a:p>
        </p:txBody>
      </p:sp>
      <p:sp>
        <p:nvSpPr>
          <p:cNvPr id="11" name="TextBox 10"/>
          <p:cNvSpPr txBox="1"/>
          <p:nvPr/>
        </p:nvSpPr>
        <p:spPr>
          <a:xfrm>
            <a:off x="3788724" y="3585712"/>
            <a:ext cx="4915535" cy="461665"/>
          </a:xfrm>
          <a:prstGeom prst="rect">
            <a:avLst/>
          </a:prstGeom>
          <a:noFill/>
        </p:spPr>
        <p:txBody>
          <a:bodyPr wrap="square" rtlCol="0">
            <a:spAutoFit/>
          </a:bodyPr>
          <a:lstStyle/>
          <a:p>
            <a:r>
              <a:rPr lang="en-US" sz="2400" b="1" u="sng" dirty="0">
                <a:latin typeface="Times New Roman" panose="02020603050405020304" pitchFamily="18" charset="0"/>
                <a:cs typeface="Times New Roman" panose="02020603050405020304" pitchFamily="18" charset="0"/>
              </a:rPr>
              <a:t>Wavelength curve of mirabegron</a:t>
            </a:r>
            <a:endParaRPr lang="en-IN" sz="2400" b="1" u="sng" dirty="0">
              <a:latin typeface="Times New Roman" panose="02020603050405020304" pitchFamily="18" charset="0"/>
              <a:cs typeface="Times New Roman" panose="02020603050405020304" pitchFamily="18" charset="0"/>
            </a:endParaRPr>
          </a:p>
        </p:txBody>
      </p:sp>
      <p:pic>
        <p:nvPicPr>
          <p:cNvPr id="12" name="Picture 11" descr="Image"/>
          <p:cNvPicPr/>
          <p:nvPr/>
        </p:nvPicPr>
        <p:blipFill>
          <a:blip r:embed="rId2"/>
          <a:stretch>
            <a:fillRect/>
          </a:stretch>
        </p:blipFill>
        <p:spPr>
          <a:xfrm>
            <a:off x="3023823" y="4047377"/>
            <a:ext cx="5944054" cy="277304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555867626"/>
      </p:ext>
    </p:extLst>
  </p:cSld>
  <p:clrMapOvr>
    <a:masterClrMapping/>
  </p:clrMapOvr>
  <p:transition>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Image"/>
          <p:cNvPicPr/>
          <p:nvPr/>
        </p:nvPicPr>
        <p:blipFill>
          <a:blip r:embed="rId2"/>
          <a:stretch>
            <a:fillRect/>
          </a:stretch>
        </p:blipFill>
        <p:spPr>
          <a:xfrm>
            <a:off x="1491071" y="326571"/>
            <a:ext cx="5287010" cy="277304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TextBox 5"/>
          <p:cNvSpPr txBox="1"/>
          <p:nvPr/>
        </p:nvSpPr>
        <p:spPr>
          <a:xfrm>
            <a:off x="1611722" y="3099035"/>
            <a:ext cx="5029200" cy="830997"/>
          </a:xfrm>
          <a:prstGeom prst="rect">
            <a:avLst/>
          </a:prstGeom>
          <a:noFill/>
        </p:spPr>
        <p:txBody>
          <a:bodyPr wrap="square" rtlCol="0">
            <a:spAutoFit/>
          </a:bodyPr>
          <a:lstStyle/>
          <a:p>
            <a:pPr algn="ctr"/>
            <a:r>
              <a:rPr lang="en-US" sz="2400" b="1" u="sng" dirty="0">
                <a:latin typeface="Times New Roman" panose="02020603050405020304" pitchFamily="18" charset="0"/>
                <a:cs typeface="Times New Roman" panose="02020603050405020304" pitchFamily="18" charset="0"/>
              </a:rPr>
              <a:t>Chromatography curve of Final trail</a:t>
            </a:r>
          </a:p>
          <a:p>
            <a:pPr algn="ctr"/>
            <a:endParaRPr lang="en-IN" sz="2400" b="1" u="sng" dirty="0">
              <a:latin typeface="Times New Roman" panose="02020603050405020304" pitchFamily="18" charset="0"/>
              <a:cs typeface="Times New Roman" panose="02020603050405020304" pitchFamily="18" charset="0"/>
            </a:endParaRPr>
          </a:p>
        </p:txBody>
      </p:sp>
      <p:graphicFrame>
        <p:nvGraphicFramePr>
          <p:cNvPr id="8" name="Table 7"/>
          <p:cNvGraphicFramePr>
            <a:graphicFrameLocks noGrp="1"/>
          </p:cNvGraphicFramePr>
          <p:nvPr>
            <p:extLst>
              <p:ext uri="{D42A27DB-BD31-4B8C-83A1-F6EECF244321}">
                <p14:modId xmlns:p14="http://schemas.microsoft.com/office/powerpoint/2010/main" val="1778185719"/>
              </p:ext>
            </p:extLst>
          </p:nvPr>
        </p:nvGraphicFramePr>
        <p:xfrm>
          <a:off x="6926893" y="981573"/>
          <a:ext cx="5173249" cy="914400"/>
        </p:xfrm>
        <a:graphic>
          <a:graphicData uri="http://schemas.openxmlformats.org/drawingml/2006/table">
            <a:tbl>
              <a:tblPr firstRow="1" bandRow="1">
                <a:tableStyleId>{21E4AEA4-8DFA-4A89-87EB-49C32662AFE0}</a:tableStyleId>
              </a:tblPr>
              <a:tblGrid>
                <a:gridCol w="950010">
                  <a:extLst>
                    <a:ext uri="{9D8B030D-6E8A-4147-A177-3AD203B41FA5}">
                      <a16:colId xmlns:a16="http://schemas.microsoft.com/office/drawing/2014/main" val="3390545640"/>
                    </a:ext>
                  </a:extLst>
                </a:gridCol>
                <a:gridCol w="953588">
                  <a:extLst>
                    <a:ext uri="{9D8B030D-6E8A-4147-A177-3AD203B41FA5}">
                      <a16:colId xmlns:a16="http://schemas.microsoft.com/office/drawing/2014/main" val="3253268860"/>
                    </a:ext>
                  </a:extLst>
                </a:gridCol>
                <a:gridCol w="901338">
                  <a:extLst>
                    <a:ext uri="{9D8B030D-6E8A-4147-A177-3AD203B41FA5}">
                      <a16:colId xmlns:a16="http://schemas.microsoft.com/office/drawing/2014/main" val="2404837043"/>
                    </a:ext>
                  </a:extLst>
                </a:gridCol>
                <a:gridCol w="731520">
                  <a:extLst>
                    <a:ext uri="{9D8B030D-6E8A-4147-A177-3AD203B41FA5}">
                      <a16:colId xmlns:a16="http://schemas.microsoft.com/office/drawing/2014/main" val="1717653071"/>
                    </a:ext>
                  </a:extLst>
                </a:gridCol>
                <a:gridCol w="1636793">
                  <a:extLst>
                    <a:ext uri="{9D8B030D-6E8A-4147-A177-3AD203B41FA5}">
                      <a16:colId xmlns:a16="http://schemas.microsoft.com/office/drawing/2014/main" val="2350858147"/>
                    </a:ext>
                  </a:extLst>
                </a:gridCol>
              </a:tblGrid>
              <a:tr h="332256">
                <a:tc>
                  <a:txBody>
                    <a:bodyPr/>
                    <a:lstStyle/>
                    <a:p>
                      <a:r>
                        <a:rPr lang="en-US" sz="2400" dirty="0">
                          <a:latin typeface="Times New Roman" panose="02020603050405020304" pitchFamily="18" charset="0"/>
                          <a:cs typeface="Times New Roman" panose="02020603050405020304" pitchFamily="18" charset="0"/>
                        </a:rPr>
                        <a:t>RT</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Area</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TP</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TF</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Resolution</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29589214"/>
                  </a:ext>
                </a:extLst>
              </a:tr>
              <a:tr h="332256">
                <a:tc>
                  <a:txBody>
                    <a:bodyPr/>
                    <a:lstStyle/>
                    <a:p>
                      <a:r>
                        <a:rPr lang="en-US" sz="2400" dirty="0">
                          <a:latin typeface="Times New Roman" panose="02020603050405020304" pitchFamily="18" charset="0"/>
                          <a:cs typeface="Times New Roman" panose="02020603050405020304" pitchFamily="18" charset="0"/>
                        </a:rPr>
                        <a:t>4.469</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368.5</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7846</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0.62</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48198343"/>
                  </a:ext>
                </a:extLst>
              </a:tr>
            </a:tbl>
          </a:graphicData>
        </a:graphic>
      </p:graphicFrame>
      <p:sp>
        <p:nvSpPr>
          <p:cNvPr id="9" name="TextBox 8"/>
          <p:cNvSpPr txBox="1"/>
          <p:nvPr/>
        </p:nvSpPr>
        <p:spPr>
          <a:xfrm>
            <a:off x="1386254" y="3876787"/>
            <a:ext cx="10288540" cy="2308324"/>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Analytical of Method Validation:</a:t>
            </a:r>
          </a:p>
          <a:p>
            <a:pPr marL="457200" indent="-457200">
              <a:buAutoNum type="arabicPeriod"/>
            </a:pPr>
            <a:r>
              <a:rPr lang="en-US" sz="2400" b="1" dirty="0">
                <a:latin typeface="Times New Roman" panose="02020603050405020304" pitchFamily="18" charset="0"/>
                <a:cs typeface="Times New Roman" panose="02020603050405020304" pitchFamily="18" charset="0"/>
              </a:rPr>
              <a:t>Linearity:</a:t>
            </a:r>
          </a:p>
          <a:p>
            <a:pPr lvl="1"/>
            <a:r>
              <a:rPr lang="en-US" sz="2400" dirty="0">
                <a:latin typeface="Times New Roman" panose="02020603050405020304" pitchFamily="18" charset="0"/>
                <a:cs typeface="Times New Roman" panose="02020603050405020304" pitchFamily="18" charset="0"/>
              </a:rPr>
              <a:t>From Mirabegron standard stock solution different working standard solution (5-25 </a:t>
            </a:r>
            <a:r>
              <a:rPr lang="en-US" sz="2400" dirty="0" err="1">
                <a:latin typeface="Times New Roman" panose="02020603050405020304" pitchFamily="18" charset="0"/>
                <a:cs typeface="Times New Roman" panose="02020603050405020304" pitchFamily="18" charset="0"/>
              </a:rPr>
              <a:t>μg</a:t>
            </a:r>
            <a:r>
              <a:rPr lang="en-US" sz="2400" dirty="0">
                <a:latin typeface="Times New Roman" panose="02020603050405020304" pitchFamily="18" charset="0"/>
                <a:cs typeface="Times New Roman" panose="02020603050405020304" pitchFamily="18" charset="0"/>
              </a:rPr>
              <a:t>/ml) were prepared in mobile phase 20 </a:t>
            </a:r>
            <a:r>
              <a:rPr lang="en-US" sz="2400" dirty="0" err="1">
                <a:latin typeface="Times New Roman" panose="02020603050405020304" pitchFamily="18" charset="0"/>
                <a:cs typeface="Times New Roman" panose="02020603050405020304" pitchFamily="18" charset="0"/>
              </a:rPr>
              <a:t>μl</a:t>
            </a:r>
            <a:r>
              <a:rPr lang="en-US" sz="2400" dirty="0">
                <a:latin typeface="Times New Roman" panose="02020603050405020304" pitchFamily="18" charset="0"/>
                <a:cs typeface="Times New Roman" panose="02020603050405020304" pitchFamily="18" charset="0"/>
              </a:rPr>
              <a:t> of sample solution was injected into the chromatographic system using mixed volume loop injector. Chromatograms were recorded.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4291670"/>
      </p:ext>
    </p:extLst>
  </p:cSld>
  <p:clrMapOvr>
    <a:masterClrMapping/>
  </p:clrMapOvr>
  <p:transition>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70156" y="2693126"/>
            <a:ext cx="5969726" cy="400110"/>
          </a:xfrm>
          <a:prstGeom prst="rect">
            <a:avLst/>
          </a:prstGeom>
          <a:noFill/>
        </p:spPr>
        <p:txBody>
          <a:bodyPr wrap="square" rtlCol="0">
            <a:spAutoFit/>
          </a:bodyPr>
          <a:lstStyle/>
          <a:p>
            <a:pPr lvl="1"/>
            <a:r>
              <a:rPr lang="en-US" sz="2000" b="1" u="sng" dirty="0">
                <a:latin typeface="Times New Roman" panose="02020603050405020304" pitchFamily="18" charset="0"/>
                <a:cs typeface="Times New Roman" panose="02020603050405020304" pitchFamily="18" charset="0"/>
              </a:rPr>
              <a:t>Result of linearity of chromatography</a:t>
            </a:r>
            <a:endParaRPr lang="en-IN" sz="2000" b="1" u="sng" dirty="0">
              <a:latin typeface="Times New Roman" panose="02020603050405020304" pitchFamily="18" charset="0"/>
              <a:cs typeface="Times New Roman" panose="02020603050405020304" pitchFamily="18" charset="0"/>
            </a:endParaRPr>
          </a:p>
        </p:txBody>
      </p:sp>
      <p:pic>
        <p:nvPicPr>
          <p:cNvPr id="6" name="Image 124"/>
          <p:cNvPicPr/>
          <p:nvPr/>
        </p:nvPicPr>
        <p:blipFill>
          <a:blip r:embed="rId2" cstate="print">
            <a:extLst>
              <a:ext uri="{28A0092B-C50C-407E-A947-70E740481C1C}">
                <a14:useLocalDpi xmlns:a14="http://schemas.microsoft.com/office/drawing/2010/main" val="0"/>
              </a:ext>
            </a:extLst>
          </a:blip>
          <a:stretch>
            <a:fillRect/>
          </a:stretch>
        </p:blipFill>
        <p:spPr>
          <a:xfrm>
            <a:off x="6493445" y="168366"/>
            <a:ext cx="5558509" cy="306977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TextBox 6"/>
          <p:cNvSpPr txBox="1"/>
          <p:nvPr/>
        </p:nvSpPr>
        <p:spPr>
          <a:xfrm>
            <a:off x="7339882" y="3263190"/>
            <a:ext cx="4024804" cy="369332"/>
          </a:xfrm>
          <a:prstGeom prst="rect">
            <a:avLst/>
          </a:prstGeom>
          <a:noFill/>
        </p:spPr>
        <p:txBody>
          <a:bodyPr wrap="square" rtlCol="0">
            <a:spAutoFit/>
          </a:bodyPr>
          <a:lstStyle/>
          <a:p>
            <a:pPr algn="ctr"/>
            <a:r>
              <a:rPr lang="en-US" b="1" u="sng" dirty="0">
                <a:latin typeface="Times New Roman" panose="02020603050405020304" pitchFamily="18" charset="0"/>
                <a:cs typeface="Times New Roman" panose="02020603050405020304" pitchFamily="18" charset="0"/>
              </a:rPr>
              <a:t>Overlay of linearity(5-25mcg)</a:t>
            </a:r>
            <a:endParaRPr lang="en-IN" b="1" u="sng" dirty="0">
              <a:latin typeface="Times New Roman" panose="02020603050405020304" pitchFamily="18" charset="0"/>
              <a:cs typeface="Times New Roman" panose="02020603050405020304" pitchFamily="18" charset="0"/>
            </a:endParaRPr>
          </a:p>
        </p:txBody>
      </p:sp>
      <p:graphicFrame>
        <p:nvGraphicFramePr>
          <p:cNvPr id="9" name="Table 8"/>
          <p:cNvGraphicFramePr>
            <a:graphicFrameLocks noGrp="1"/>
          </p:cNvGraphicFramePr>
          <p:nvPr>
            <p:extLst>
              <p:ext uri="{D42A27DB-BD31-4B8C-83A1-F6EECF244321}">
                <p14:modId xmlns:p14="http://schemas.microsoft.com/office/powerpoint/2010/main" val="906129192"/>
              </p:ext>
            </p:extLst>
          </p:nvPr>
        </p:nvGraphicFramePr>
        <p:xfrm>
          <a:off x="1841863" y="169818"/>
          <a:ext cx="4349930" cy="2621279"/>
        </p:xfrm>
        <a:graphic>
          <a:graphicData uri="http://schemas.openxmlformats.org/drawingml/2006/table">
            <a:tbl>
              <a:tblPr firstRow="1" bandRow="1">
                <a:tableStyleId>{21E4AEA4-8DFA-4A89-87EB-49C32662AFE0}</a:tableStyleId>
              </a:tblPr>
              <a:tblGrid>
                <a:gridCol w="1275452">
                  <a:extLst>
                    <a:ext uri="{9D8B030D-6E8A-4147-A177-3AD203B41FA5}">
                      <a16:colId xmlns:a16="http://schemas.microsoft.com/office/drawing/2014/main" val="4111690348"/>
                    </a:ext>
                  </a:extLst>
                </a:gridCol>
                <a:gridCol w="1546495">
                  <a:extLst>
                    <a:ext uri="{9D8B030D-6E8A-4147-A177-3AD203B41FA5}">
                      <a16:colId xmlns:a16="http://schemas.microsoft.com/office/drawing/2014/main" val="3866290675"/>
                    </a:ext>
                  </a:extLst>
                </a:gridCol>
                <a:gridCol w="1527983">
                  <a:extLst>
                    <a:ext uri="{9D8B030D-6E8A-4147-A177-3AD203B41FA5}">
                      <a16:colId xmlns:a16="http://schemas.microsoft.com/office/drawing/2014/main" val="2570002834"/>
                    </a:ext>
                  </a:extLst>
                </a:gridCol>
              </a:tblGrid>
              <a:tr h="640079">
                <a:tc>
                  <a:txBody>
                    <a:bodyPr/>
                    <a:lstStyle/>
                    <a:p>
                      <a:r>
                        <a:rPr lang="en-US" sz="2000" dirty="0">
                          <a:latin typeface="Times New Roman" panose="02020603050405020304" pitchFamily="18" charset="0"/>
                          <a:cs typeface="Times New Roman" panose="02020603050405020304" pitchFamily="18" charset="0"/>
                        </a:rPr>
                        <a:t>Sr</a:t>
                      </a:r>
                      <a:r>
                        <a:rPr lang="en-US" sz="2000" baseline="0" dirty="0">
                          <a:latin typeface="Times New Roman" panose="02020603050405020304" pitchFamily="18" charset="0"/>
                          <a:cs typeface="Times New Roman" panose="02020603050405020304" pitchFamily="18" charset="0"/>
                        </a:rPr>
                        <a:t> no.</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err="1">
                          <a:latin typeface="Times New Roman" panose="02020603050405020304" pitchFamily="18" charset="0"/>
                          <a:cs typeface="Times New Roman" panose="02020603050405020304" pitchFamily="18" charset="0"/>
                        </a:rPr>
                        <a:t>Conc</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Area MBG</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69989002"/>
                  </a:ext>
                </a:extLst>
              </a:tr>
              <a:tr h="393987">
                <a:tc>
                  <a:txBody>
                    <a:bodyPr/>
                    <a:lstStyle/>
                    <a:p>
                      <a:r>
                        <a:rPr lang="en-US" sz="2000" dirty="0">
                          <a:latin typeface="Times New Roman" panose="02020603050405020304" pitchFamily="18" charset="0"/>
                          <a:cs typeface="Times New Roman" panose="02020603050405020304" pitchFamily="18" charset="0"/>
                        </a:rPr>
                        <a:t>1.</a:t>
                      </a:r>
                    </a:p>
                  </a:txBody>
                  <a:tcPr/>
                </a:tc>
                <a:tc>
                  <a:txBody>
                    <a:bodyPr/>
                    <a:lstStyle/>
                    <a:p>
                      <a:r>
                        <a:rPr lang="en-US" sz="2000" dirty="0">
                          <a:latin typeface="Times New Roman" panose="02020603050405020304" pitchFamily="18" charset="0"/>
                          <a:cs typeface="Times New Roman" panose="02020603050405020304" pitchFamily="18" charset="0"/>
                        </a:rPr>
                        <a:t>5</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368.09</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18516040"/>
                  </a:ext>
                </a:extLst>
              </a:tr>
              <a:tr h="393987">
                <a:tc>
                  <a:txBody>
                    <a:bodyPr/>
                    <a:lstStyle/>
                    <a:p>
                      <a:r>
                        <a:rPr lang="en-US" sz="2000" dirty="0">
                          <a:latin typeface="Times New Roman" panose="02020603050405020304" pitchFamily="18" charset="0"/>
                          <a:cs typeface="Times New Roman" panose="02020603050405020304" pitchFamily="18" charset="0"/>
                        </a:rPr>
                        <a:t>2.</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10</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597.48</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41983536"/>
                  </a:ext>
                </a:extLst>
              </a:tr>
              <a:tr h="393987">
                <a:tc>
                  <a:txBody>
                    <a:bodyPr/>
                    <a:lstStyle/>
                    <a:p>
                      <a:r>
                        <a:rPr lang="en-US" sz="2000" dirty="0">
                          <a:latin typeface="Times New Roman" panose="02020603050405020304" pitchFamily="18" charset="0"/>
                          <a:cs typeface="Times New Roman" panose="02020603050405020304" pitchFamily="18" charset="0"/>
                        </a:rPr>
                        <a:t>3.</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15</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789.30</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01876091"/>
                  </a:ext>
                </a:extLst>
              </a:tr>
              <a:tr h="393987">
                <a:tc>
                  <a:txBody>
                    <a:bodyPr/>
                    <a:lstStyle/>
                    <a:p>
                      <a:r>
                        <a:rPr lang="en-US" sz="2000" dirty="0">
                          <a:latin typeface="Times New Roman" panose="02020603050405020304" pitchFamily="18" charset="0"/>
                          <a:cs typeface="Times New Roman" panose="02020603050405020304" pitchFamily="18" charset="0"/>
                        </a:rPr>
                        <a:t>4.</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20</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1028.49</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22088424"/>
                  </a:ext>
                </a:extLst>
              </a:tr>
              <a:tr h="393987">
                <a:tc>
                  <a:txBody>
                    <a:bodyPr/>
                    <a:lstStyle/>
                    <a:p>
                      <a:r>
                        <a:rPr lang="en-US" sz="2000" dirty="0">
                          <a:latin typeface="Times New Roman" panose="02020603050405020304" pitchFamily="18" charset="0"/>
                          <a:cs typeface="Times New Roman" panose="02020603050405020304" pitchFamily="18" charset="0"/>
                        </a:rPr>
                        <a:t>5.</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25</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1268.83</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94677772"/>
                  </a:ext>
                </a:extLst>
              </a:tr>
            </a:tbl>
          </a:graphicData>
        </a:graphic>
      </p:graphicFrame>
      <p:grpSp>
        <p:nvGrpSpPr>
          <p:cNvPr id="11" name="Group 10"/>
          <p:cNvGrpSpPr>
            <a:grpSpLocks/>
          </p:cNvGrpSpPr>
          <p:nvPr/>
        </p:nvGrpSpPr>
        <p:grpSpPr bwMode="auto">
          <a:xfrm>
            <a:off x="1456871" y="3504088"/>
            <a:ext cx="4734922" cy="2829802"/>
            <a:chOff x="0" y="0"/>
            <a:chExt cx="45847" cy="27571"/>
          </a:xfrm>
        </p:grpSpPr>
        <p:sp>
          <p:nvSpPr>
            <p:cNvPr id="12" name="Graphic 126"/>
            <p:cNvSpPr>
              <a:spLocks/>
            </p:cNvSpPr>
            <p:nvPr/>
          </p:nvSpPr>
          <p:spPr bwMode="auto">
            <a:xfrm>
              <a:off x="9509" y="5730"/>
              <a:ext cx="21704" cy="14573"/>
            </a:xfrm>
            <a:custGeom>
              <a:avLst/>
              <a:gdLst>
                <a:gd name="T0" fmla="*/ 0 w 2170430"/>
                <a:gd name="T1" fmla="*/ 1456944 h 1457325"/>
                <a:gd name="T2" fmla="*/ 2170176 w 2170430"/>
                <a:gd name="T3" fmla="*/ 1403604 h 1457325"/>
                <a:gd name="T4" fmla="*/ 2170176 w 2170430"/>
                <a:gd name="T5" fmla="*/ 1412748 h 1457325"/>
                <a:gd name="T6" fmla="*/ 0 w 2170430"/>
                <a:gd name="T7" fmla="*/ 1359408 h 1457325"/>
                <a:gd name="T8" fmla="*/ 2170176 w 2170430"/>
                <a:gd name="T9" fmla="*/ 1359408 h 1457325"/>
                <a:gd name="T10" fmla="*/ 0 w 2170430"/>
                <a:gd name="T11" fmla="*/ 1325880 h 1457325"/>
                <a:gd name="T12" fmla="*/ 2170176 w 2170430"/>
                <a:gd name="T13" fmla="*/ 1228344 h 1457325"/>
                <a:gd name="T14" fmla="*/ 2170176 w 2170430"/>
                <a:gd name="T15" fmla="*/ 1237488 h 1457325"/>
                <a:gd name="T16" fmla="*/ 0 w 2170430"/>
                <a:gd name="T17" fmla="*/ 1184148 h 1457325"/>
                <a:gd name="T18" fmla="*/ 2170176 w 2170430"/>
                <a:gd name="T19" fmla="*/ 1184148 h 1457325"/>
                <a:gd name="T20" fmla="*/ 0 w 2170430"/>
                <a:gd name="T21" fmla="*/ 1149096 h 1457325"/>
                <a:gd name="T22" fmla="*/ 2170176 w 2170430"/>
                <a:gd name="T23" fmla="*/ 1097280 h 1457325"/>
                <a:gd name="T24" fmla="*/ 2170176 w 2170430"/>
                <a:gd name="T25" fmla="*/ 1106424 h 1457325"/>
                <a:gd name="T26" fmla="*/ 0 w 2170430"/>
                <a:gd name="T27" fmla="*/ 1008888 h 1457325"/>
                <a:gd name="T28" fmla="*/ 2170176 w 2170430"/>
                <a:gd name="T29" fmla="*/ 1008888 h 1457325"/>
                <a:gd name="T30" fmla="*/ 0 w 2170430"/>
                <a:gd name="T31" fmla="*/ 973836 h 1457325"/>
                <a:gd name="T32" fmla="*/ 2170176 w 2170430"/>
                <a:gd name="T33" fmla="*/ 922020 h 1457325"/>
                <a:gd name="T34" fmla="*/ 2170176 w 2170430"/>
                <a:gd name="T35" fmla="*/ 931164 h 1457325"/>
                <a:gd name="T36" fmla="*/ 0 w 2170430"/>
                <a:gd name="T37" fmla="*/ 877824 h 1457325"/>
                <a:gd name="T38" fmla="*/ 2170176 w 2170430"/>
                <a:gd name="T39" fmla="*/ 877824 h 1457325"/>
                <a:gd name="T40" fmla="*/ 0 w 2170430"/>
                <a:gd name="T41" fmla="*/ 798576 h 1457325"/>
                <a:gd name="T42" fmla="*/ 2170176 w 2170430"/>
                <a:gd name="T43" fmla="*/ 745236 h 1457325"/>
                <a:gd name="T44" fmla="*/ 2170176 w 2170430"/>
                <a:gd name="T45" fmla="*/ 754380 h 1457325"/>
                <a:gd name="T46" fmla="*/ 0 w 2170430"/>
                <a:gd name="T47" fmla="*/ 702564 h 1457325"/>
                <a:gd name="T48" fmla="*/ 2170176 w 2170430"/>
                <a:gd name="T49" fmla="*/ 702564 h 1457325"/>
                <a:gd name="T50" fmla="*/ 0 w 2170430"/>
                <a:gd name="T51" fmla="*/ 667512 h 1457325"/>
                <a:gd name="T52" fmla="*/ 2170176 w 2170430"/>
                <a:gd name="T53" fmla="*/ 569976 h 1457325"/>
                <a:gd name="T54" fmla="*/ 2170176 w 2170430"/>
                <a:gd name="T55" fmla="*/ 579120 h 1457325"/>
                <a:gd name="T56" fmla="*/ 0 w 2170430"/>
                <a:gd name="T57" fmla="*/ 525780 h 1457325"/>
                <a:gd name="T58" fmla="*/ 2170176 w 2170430"/>
                <a:gd name="T59" fmla="*/ 525780 h 1457325"/>
                <a:gd name="T60" fmla="*/ 0 w 2170430"/>
                <a:gd name="T61" fmla="*/ 492252 h 1457325"/>
                <a:gd name="T62" fmla="*/ 2170176 w 2170430"/>
                <a:gd name="T63" fmla="*/ 438912 h 1457325"/>
                <a:gd name="T64" fmla="*/ 2170176 w 2170430"/>
                <a:gd name="T65" fmla="*/ 448056 h 1457325"/>
                <a:gd name="T66" fmla="*/ 0 w 2170430"/>
                <a:gd name="T67" fmla="*/ 350520 h 1457325"/>
                <a:gd name="T68" fmla="*/ 2170176 w 2170430"/>
                <a:gd name="T69" fmla="*/ 350520 h 1457325"/>
                <a:gd name="T70" fmla="*/ 0 w 2170430"/>
                <a:gd name="T71" fmla="*/ 316992 h 1457325"/>
                <a:gd name="T72" fmla="*/ 2170176 w 2170430"/>
                <a:gd name="T73" fmla="*/ 263652 h 1457325"/>
                <a:gd name="T74" fmla="*/ 2170176 w 2170430"/>
                <a:gd name="T75" fmla="*/ 272796 h 1457325"/>
                <a:gd name="T76" fmla="*/ 0 w 2170430"/>
                <a:gd name="T77" fmla="*/ 219456 h 1457325"/>
                <a:gd name="T78" fmla="*/ 2170176 w 2170430"/>
                <a:gd name="T79" fmla="*/ 219456 h 1457325"/>
                <a:gd name="T80" fmla="*/ 0 w 2170430"/>
                <a:gd name="T81" fmla="*/ 140208 h 1457325"/>
                <a:gd name="T82" fmla="*/ 2170176 w 2170430"/>
                <a:gd name="T83" fmla="*/ 88392 h 1457325"/>
                <a:gd name="T84" fmla="*/ 2170176 w 2170430"/>
                <a:gd name="T85" fmla="*/ 97536 h 1457325"/>
                <a:gd name="T86" fmla="*/ 0 w 2170430"/>
                <a:gd name="T87" fmla="*/ 44196 h 1457325"/>
                <a:gd name="T88" fmla="*/ 2170176 w 2170430"/>
                <a:gd name="T89" fmla="*/ 44196 h 1457325"/>
                <a:gd name="T90" fmla="*/ 0 w 2170430"/>
                <a:gd name="T91" fmla="*/ 9144 h 1457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170430" h="1457325">
                  <a:moveTo>
                    <a:pt x="2170176" y="1447800"/>
                  </a:moveTo>
                  <a:lnTo>
                    <a:pt x="0" y="1447800"/>
                  </a:lnTo>
                  <a:lnTo>
                    <a:pt x="0" y="1456944"/>
                  </a:lnTo>
                  <a:lnTo>
                    <a:pt x="2170176" y="1456944"/>
                  </a:lnTo>
                  <a:lnTo>
                    <a:pt x="2170176" y="1447800"/>
                  </a:lnTo>
                  <a:close/>
                </a:path>
                <a:path w="2170430" h="1457325">
                  <a:moveTo>
                    <a:pt x="2170176" y="1403604"/>
                  </a:moveTo>
                  <a:lnTo>
                    <a:pt x="0" y="1403604"/>
                  </a:lnTo>
                  <a:lnTo>
                    <a:pt x="0" y="1412748"/>
                  </a:lnTo>
                  <a:lnTo>
                    <a:pt x="2170176" y="1412748"/>
                  </a:lnTo>
                  <a:lnTo>
                    <a:pt x="2170176" y="1403604"/>
                  </a:lnTo>
                  <a:close/>
                </a:path>
                <a:path w="2170430" h="1457325">
                  <a:moveTo>
                    <a:pt x="2170176" y="1359408"/>
                  </a:moveTo>
                  <a:lnTo>
                    <a:pt x="0" y="1359408"/>
                  </a:lnTo>
                  <a:lnTo>
                    <a:pt x="0" y="1368552"/>
                  </a:lnTo>
                  <a:lnTo>
                    <a:pt x="2170176" y="1368552"/>
                  </a:lnTo>
                  <a:lnTo>
                    <a:pt x="2170176" y="1359408"/>
                  </a:lnTo>
                  <a:close/>
                </a:path>
                <a:path w="2170430" h="1457325">
                  <a:moveTo>
                    <a:pt x="2170176" y="1316736"/>
                  </a:moveTo>
                  <a:lnTo>
                    <a:pt x="0" y="1316736"/>
                  </a:lnTo>
                  <a:lnTo>
                    <a:pt x="0" y="1325880"/>
                  </a:lnTo>
                  <a:lnTo>
                    <a:pt x="2170176" y="1325880"/>
                  </a:lnTo>
                  <a:lnTo>
                    <a:pt x="2170176" y="1316736"/>
                  </a:lnTo>
                  <a:close/>
                </a:path>
                <a:path w="2170430" h="1457325">
                  <a:moveTo>
                    <a:pt x="2170176" y="1228344"/>
                  </a:moveTo>
                  <a:lnTo>
                    <a:pt x="0" y="1228344"/>
                  </a:lnTo>
                  <a:lnTo>
                    <a:pt x="0" y="1237488"/>
                  </a:lnTo>
                  <a:lnTo>
                    <a:pt x="2170176" y="1237488"/>
                  </a:lnTo>
                  <a:lnTo>
                    <a:pt x="2170176" y="1228344"/>
                  </a:lnTo>
                  <a:close/>
                </a:path>
                <a:path w="2170430" h="1457325">
                  <a:moveTo>
                    <a:pt x="2170176" y="1184148"/>
                  </a:moveTo>
                  <a:lnTo>
                    <a:pt x="0" y="1184148"/>
                  </a:lnTo>
                  <a:lnTo>
                    <a:pt x="0" y="1193292"/>
                  </a:lnTo>
                  <a:lnTo>
                    <a:pt x="2170176" y="1193292"/>
                  </a:lnTo>
                  <a:lnTo>
                    <a:pt x="2170176" y="1184148"/>
                  </a:lnTo>
                  <a:close/>
                </a:path>
                <a:path w="2170430" h="1457325">
                  <a:moveTo>
                    <a:pt x="2170176" y="1139952"/>
                  </a:moveTo>
                  <a:lnTo>
                    <a:pt x="0" y="1139952"/>
                  </a:lnTo>
                  <a:lnTo>
                    <a:pt x="0" y="1149096"/>
                  </a:lnTo>
                  <a:lnTo>
                    <a:pt x="2170176" y="1149096"/>
                  </a:lnTo>
                  <a:lnTo>
                    <a:pt x="2170176" y="1139952"/>
                  </a:lnTo>
                  <a:close/>
                </a:path>
                <a:path w="2170430" h="1457325">
                  <a:moveTo>
                    <a:pt x="2170176" y="1097280"/>
                  </a:moveTo>
                  <a:lnTo>
                    <a:pt x="0" y="1097280"/>
                  </a:lnTo>
                  <a:lnTo>
                    <a:pt x="0" y="1106424"/>
                  </a:lnTo>
                  <a:lnTo>
                    <a:pt x="2170176" y="1106424"/>
                  </a:lnTo>
                  <a:lnTo>
                    <a:pt x="2170176" y="1097280"/>
                  </a:lnTo>
                  <a:close/>
                </a:path>
                <a:path w="2170430" h="1457325">
                  <a:moveTo>
                    <a:pt x="2170176" y="1008888"/>
                  </a:moveTo>
                  <a:lnTo>
                    <a:pt x="0" y="1008888"/>
                  </a:lnTo>
                  <a:lnTo>
                    <a:pt x="0" y="1018032"/>
                  </a:lnTo>
                  <a:lnTo>
                    <a:pt x="2170176" y="1018032"/>
                  </a:lnTo>
                  <a:lnTo>
                    <a:pt x="2170176" y="1008888"/>
                  </a:lnTo>
                  <a:close/>
                </a:path>
                <a:path w="2170430" h="1457325">
                  <a:moveTo>
                    <a:pt x="2170176" y="964692"/>
                  </a:moveTo>
                  <a:lnTo>
                    <a:pt x="0" y="964692"/>
                  </a:lnTo>
                  <a:lnTo>
                    <a:pt x="0" y="973836"/>
                  </a:lnTo>
                  <a:lnTo>
                    <a:pt x="2170176" y="973836"/>
                  </a:lnTo>
                  <a:lnTo>
                    <a:pt x="2170176" y="964692"/>
                  </a:lnTo>
                  <a:close/>
                </a:path>
                <a:path w="2170430" h="1457325">
                  <a:moveTo>
                    <a:pt x="2170176" y="922020"/>
                  </a:moveTo>
                  <a:lnTo>
                    <a:pt x="0" y="922020"/>
                  </a:lnTo>
                  <a:lnTo>
                    <a:pt x="0" y="931164"/>
                  </a:lnTo>
                  <a:lnTo>
                    <a:pt x="2170176" y="931164"/>
                  </a:lnTo>
                  <a:lnTo>
                    <a:pt x="2170176" y="922020"/>
                  </a:lnTo>
                  <a:close/>
                </a:path>
                <a:path w="2170430" h="1457325">
                  <a:moveTo>
                    <a:pt x="2170176" y="877824"/>
                  </a:moveTo>
                  <a:lnTo>
                    <a:pt x="0" y="877824"/>
                  </a:lnTo>
                  <a:lnTo>
                    <a:pt x="0" y="886968"/>
                  </a:lnTo>
                  <a:lnTo>
                    <a:pt x="2170176" y="886968"/>
                  </a:lnTo>
                  <a:lnTo>
                    <a:pt x="2170176" y="877824"/>
                  </a:lnTo>
                  <a:close/>
                </a:path>
                <a:path w="2170430" h="1457325">
                  <a:moveTo>
                    <a:pt x="2170176" y="789432"/>
                  </a:moveTo>
                  <a:lnTo>
                    <a:pt x="0" y="789432"/>
                  </a:lnTo>
                  <a:lnTo>
                    <a:pt x="0" y="798576"/>
                  </a:lnTo>
                  <a:lnTo>
                    <a:pt x="2170176" y="798576"/>
                  </a:lnTo>
                  <a:lnTo>
                    <a:pt x="2170176" y="789432"/>
                  </a:lnTo>
                  <a:close/>
                </a:path>
                <a:path w="2170430" h="1457325">
                  <a:moveTo>
                    <a:pt x="2170176" y="745236"/>
                  </a:moveTo>
                  <a:lnTo>
                    <a:pt x="0" y="745236"/>
                  </a:lnTo>
                  <a:lnTo>
                    <a:pt x="0" y="754380"/>
                  </a:lnTo>
                  <a:lnTo>
                    <a:pt x="2170176" y="754380"/>
                  </a:lnTo>
                  <a:lnTo>
                    <a:pt x="2170176" y="745236"/>
                  </a:lnTo>
                  <a:close/>
                </a:path>
                <a:path w="2170430" h="1457325">
                  <a:moveTo>
                    <a:pt x="2170176" y="702564"/>
                  </a:moveTo>
                  <a:lnTo>
                    <a:pt x="0" y="702564"/>
                  </a:lnTo>
                  <a:lnTo>
                    <a:pt x="0" y="711708"/>
                  </a:lnTo>
                  <a:lnTo>
                    <a:pt x="2170176" y="711708"/>
                  </a:lnTo>
                  <a:lnTo>
                    <a:pt x="2170176" y="702564"/>
                  </a:lnTo>
                  <a:close/>
                </a:path>
                <a:path w="2170430" h="1457325">
                  <a:moveTo>
                    <a:pt x="2170176" y="658368"/>
                  </a:moveTo>
                  <a:lnTo>
                    <a:pt x="0" y="658368"/>
                  </a:lnTo>
                  <a:lnTo>
                    <a:pt x="0" y="667512"/>
                  </a:lnTo>
                  <a:lnTo>
                    <a:pt x="2170176" y="667512"/>
                  </a:lnTo>
                  <a:lnTo>
                    <a:pt x="2170176" y="658368"/>
                  </a:lnTo>
                  <a:close/>
                </a:path>
                <a:path w="2170430" h="1457325">
                  <a:moveTo>
                    <a:pt x="2170176" y="569976"/>
                  </a:moveTo>
                  <a:lnTo>
                    <a:pt x="0" y="569976"/>
                  </a:lnTo>
                  <a:lnTo>
                    <a:pt x="0" y="579120"/>
                  </a:lnTo>
                  <a:lnTo>
                    <a:pt x="2170176" y="579120"/>
                  </a:lnTo>
                  <a:lnTo>
                    <a:pt x="2170176" y="569976"/>
                  </a:lnTo>
                  <a:close/>
                </a:path>
                <a:path w="2170430" h="1457325">
                  <a:moveTo>
                    <a:pt x="2170176" y="525780"/>
                  </a:moveTo>
                  <a:lnTo>
                    <a:pt x="0" y="525780"/>
                  </a:lnTo>
                  <a:lnTo>
                    <a:pt x="0" y="534924"/>
                  </a:lnTo>
                  <a:lnTo>
                    <a:pt x="2170176" y="534924"/>
                  </a:lnTo>
                  <a:lnTo>
                    <a:pt x="2170176" y="525780"/>
                  </a:lnTo>
                  <a:close/>
                </a:path>
                <a:path w="2170430" h="1457325">
                  <a:moveTo>
                    <a:pt x="2170176" y="483108"/>
                  </a:moveTo>
                  <a:lnTo>
                    <a:pt x="0" y="483108"/>
                  </a:lnTo>
                  <a:lnTo>
                    <a:pt x="0" y="492252"/>
                  </a:lnTo>
                  <a:lnTo>
                    <a:pt x="2170176" y="492252"/>
                  </a:lnTo>
                  <a:lnTo>
                    <a:pt x="2170176" y="483108"/>
                  </a:lnTo>
                  <a:close/>
                </a:path>
                <a:path w="2170430" h="1457325">
                  <a:moveTo>
                    <a:pt x="2170176" y="438912"/>
                  </a:moveTo>
                  <a:lnTo>
                    <a:pt x="0" y="438912"/>
                  </a:lnTo>
                  <a:lnTo>
                    <a:pt x="0" y="448056"/>
                  </a:lnTo>
                  <a:lnTo>
                    <a:pt x="2170176" y="448056"/>
                  </a:lnTo>
                  <a:lnTo>
                    <a:pt x="2170176" y="438912"/>
                  </a:lnTo>
                  <a:close/>
                </a:path>
                <a:path w="2170430" h="1457325">
                  <a:moveTo>
                    <a:pt x="2170176" y="350520"/>
                  </a:moveTo>
                  <a:lnTo>
                    <a:pt x="0" y="350520"/>
                  </a:lnTo>
                  <a:lnTo>
                    <a:pt x="0" y="359664"/>
                  </a:lnTo>
                  <a:lnTo>
                    <a:pt x="2170176" y="359664"/>
                  </a:lnTo>
                  <a:lnTo>
                    <a:pt x="2170176" y="350520"/>
                  </a:lnTo>
                  <a:close/>
                </a:path>
                <a:path w="2170430" h="1457325">
                  <a:moveTo>
                    <a:pt x="2170176" y="307848"/>
                  </a:moveTo>
                  <a:lnTo>
                    <a:pt x="0" y="307848"/>
                  </a:lnTo>
                  <a:lnTo>
                    <a:pt x="0" y="316992"/>
                  </a:lnTo>
                  <a:lnTo>
                    <a:pt x="2170176" y="316992"/>
                  </a:lnTo>
                  <a:lnTo>
                    <a:pt x="2170176" y="307848"/>
                  </a:lnTo>
                  <a:close/>
                </a:path>
                <a:path w="2170430" h="1457325">
                  <a:moveTo>
                    <a:pt x="2170176" y="263652"/>
                  </a:moveTo>
                  <a:lnTo>
                    <a:pt x="0" y="263652"/>
                  </a:lnTo>
                  <a:lnTo>
                    <a:pt x="0" y="272796"/>
                  </a:lnTo>
                  <a:lnTo>
                    <a:pt x="2170176" y="272796"/>
                  </a:lnTo>
                  <a:lnTo>
                    <a:pt x="2170176" y="263652"/>
                  </a:lnTo>
                  <a:close/>
                </a:path>
                <a:path w="2170430" h="1457325">
                  <a:moveTo>
                    <a:pt x="2170176" y="219456"/>
                  </a:moveTo>
                  <a:lnTo>
                    <a:pt x="0" y="219456"/>
                  </a:lnTo>
                  <a:lnTo>
                    <a:pt x="0" y="228600"/>
                  </a:lnTo>
                  <a:lnTo>
                    <a:pt x="2170176" y="228600"/>
                  </a:lnTo>
                  <a:lnTo>
                    <a:pt x="2170176" y="219456"/>
                  </a:lnTo>
                  <a:close/>
                </a:path>
                <a:path w="2170430" h="1457325">
                  <a:moveTo>
                    <a:pt x="2170176" y="131064"/>
                  </a:moveTo>
                  <a:lnTo>
                    <a:pt x="0" y="131064"/>
                  </a:lnTo>
                  <a:lnTo>
                    <a:pt x="0" y="140208"/>
                  </a:lnTo>
                  <a:lnTo>
                    <a:pt x="2170176" y="140208"/>
                  </a:lnTo>
                  <a:lnTo>
                    <a:pt x="2170176" y="131064"/>
                  </a:lnTo>
                  <a:close/>
                </a:path>
                <a:path w="2170430" h="1457325">
                  <a:moveTo>
                    <a:pt x="2170176" y="88392"/>
                  </a:moveTo>
                  <a:lnTo>
                    <a:pt x="0" y="88392"/>
                  </a:lnTo>
                  <a:lnTo>
                    <a:pt x="0" y="97536"/>
                  </a:lnTo>
                  <a:lnTo>
                    <a:pt x="2170176" y="97536"/>
                  </a:lnTo>
                  <a:lnTo>
                    <a:pt x="2170176" y="88392"/>
                  </a:lnTo>
                  <a:close/>
                </a:path>
                <a:path w="2170430" h="1457325">
                  <a:moveTo>
                    <a:pt x="2170176" y="44196"/>
                  </a:moveTo>
                  <a:lnTo>
                    <a:pt x="0" y="44196"/>
                  </a:lnTo>
                  <a:lnTo>
                    <a:pt x="0" y="53340"/>
                  </a:lnTo>
                  <a:lnTo>
                    <a:pt x="2170176" y="53340"/>
                  </a:lnTo>
                  <a:lnTo>
                    <a:pt x="2170176" y="44196"/>
                  </a:lnTo>
                  <a:close/>
                </a:path>
                <a:path w="2170430" h="1457325">
                  <a:moveTo>
                    <a:pt x="2170176" y="0"/>
                  </a:moveTo>
                  <a:lnTo>
                    <a:pt x="0" y="0"/>
                  </a:lnTo>
                  <a:lnTo>
                    <a:pt x="0" y="9144"/>
                  </a:lnTo>
                  <a:lnTo>
                    <a:pt x="2170176" y="9144"/>
                  </a:lnTo>
                  <a:lnTo>
                    <a:pt x="2170176" y="0"/>
                  </a:lnTo>
                  <a:close/>
                </a:path>
              </a:pathLst>
            </a:custGeom>
            <a:solidFill>
              <a:srgbClr val="B6B6B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sp>
          <p:nvSpPr>
            <p:cNvPr id="13" name="Graphic 127"/>
            <p:cNvSpPr>
              <a:spLocks/>
            </p:cNvSpPr>
            <p:nvPr/>
          </p:nvSpPr>
          <p:spPr bwMode="auto">
            <a:xfrm>
              <a:off x="9113" y="5303"/>
              <a:ext cx="22149" cy="15792"/>
            </a:xfrm>
            <a:custGeom>
              <a:avLst/>
              <a:gdLst>
                <a:gd name="T0" fmla="*/ 2209800 w 2214880"/>
                <a:gd name="T1" fmla="*/ 1539240 h 1579245"/>
                <a:gd name="T2" fmla="*/ 44196 w 2214880"/>
                <a:gd name="T3" fmla="*/ 1534668 h 1579245"/>
                <a:gd name="T4" fmla="*/ 2209800 w 2214880"/>
                <a:gd name="T5" fmla="*/ 1324356 h 1579245"/>
                <a:gd name="T6" fmla="*/ 44196 w 2214880"/>
                <a:gd name="T7" fmla="*/ 1315212 h 1579245"/>
                <a:gd name="T8" fmla="*/ 2209800 w 2214880"/>
                <a:gd name="T9" fmla="*/ 1104900 h 1579245"/>
                <a:gd name="T10" fmla="*/ 44196 w 2214880"/>
                <a:gd name="T11" fmla="*/ 1095756 h 1579245"/>
                <a:gd name="T12" fmla="*/ 2209800 w 2214880"/>
                <a:gd name="T13" fmla="*/ 885444 h 1579245"/>
                <a:gd name="T14" fmla="*/ 44196 w 2214880"/>
                <a:gd name="T15" fmla="*/ 876300 h 1579245"/>
                <a:gd name="T16" fmla="*/ 2209800 w 2214880"/>
                <a:gd name="T17" fmla="*/ 667512 h 1579245"/>
                <a:gd name="T18" fmla="*/ 44196 w 2214880"/>
                <a:gd name="T19" fmla="*/ 658368 h 1579245"/>
                <a:gd name="T20" fmla="*/ 2209800 w 2214880"/>
                <a:gd name="T21" fmla="*/ 448056 h 1579245"/>
                <a:gd name="T22" fmla="*/ 44196 w 2214880"/>
                <a:gd name="T23" fmla="*/ 438912 h 1579245"/>
                <a:gd name="T24" fmla="*/ 2209800 w 2214880"/>
                <a:gd name="T25" fmla="*/ 228600 h 1579245"/>
                <a:gd name="T26" fmla="*/ 44196 w 2214880"/>
                <a:gd name="T27" fmla="*/ 219456 h 1579245"/>
                <a:gd name="T28" fmla="*/ 2209800 w 2214880"/>
                <a:gd name="T29" fmla="*/ 9144 h 1579245"/>
                <a:gd name="T30" fmla="*/ 39624 w 2214880"/>
                <a:gd name="T31" fmla="*/ 0 h 1579245"/>
                <a:gd name="T32" fmla="*/ 0 w 2214880"/>
                <a:gd name="T33" fmla="*/ 9144 h 1579245"/>
                <a:gd name="T34" fmla="*/ 35052 w 2214880"/>
                <a:gd name="T35" fmla="*/ 219456 h 1579245"/>
                <a:gd name="T36" fmla="*/ 0 w 2214880"/>
                <a:gd name="T37" fmla="*/ 228600 h 1579245"/>
                <a:gd name="T38" fmla="*/ 35052 w 2214880"/>
                <a:gd name="T39" fmla="*/ 438912 h 1579245"/>
                <a:gd name="T40" fmla="*/ 0 w 2214880"/>
                <a:gd name="T41" fmla="*/ 448056 h 1579245"/>
                <a:gd name="T42" fmla="*/ 35052 w 2214880"/>
                <a:gd name="T43" fmla="*/ 658368 h 1579245"/>
                <a:gd name="T44" fmla="*/ 0 w 2214880"/>
                <a:gd name="T45" fmla="*/ 667512 h 1579245"/>
                <a:gd name="T46" fmla="*/ 35052 w 2214880"/>
                <a:gd name="T47" fmla="*/ 876300 h 1579245"/>
                <a:gd name="T48" fmla="*/ 0 w 2214880"/>
                <a:gd name="T49" fmla="*/ 885444 h 1579245"/>
                <a:gd name="T50" fmla="*/ 35052 w 2214880"/>
                <a:gd name="T51" fmla="*/ 1095756 h 1579245"/>
                <a:gd name="T52" fmla="*/ 0 w 2214880"/>
                <a:gd name="T53" fmla="*/ 1104900 h 1579245"/>
                <a:gd name="T54" fmla="*/ 35052 w 2214880"/>
                <a:gd name="T55" fmla="*/ 1315212 h 1579245"/>
                <a:gd name="T56" fmla="*/ 0 w 2214880"/>
                <a:gd name="T57" fmla="*/ 1324356 h 1579245"/>
                <a:gd name="T58" fmla="*/ 35052 w 2214880"/>
                <a:gd name="T59" fmla="*/ 1534668 h 1579245"/>
                <a:gd name="T60" fmla="*/ 0 w 2214880"/>
                <a:gd name="T61" fmla="*/ 1543812 h 1579245"/>
                <a:gd name="T62" fmla="*/ 35052 w 2214880"/>
                <a:gd name="T63" fmla="*/ 1578864 h 1579245"/>
                <a:gd name="T64" fmla="*/ 44196 w 2214880"/>
                <a:gd name="T65" fmla="*/ 1543812 h 1579245"/>
                <a:gd name="T66" fmla="*/ 758952 w 2214880"/>
                <a:gd name="T67" fmla="*/ 1578864 h 1579245"/>
                <a:gd name="T68" fmla="*/ 768096 w 2214880"/>
                <a:gd name="T69" fmla="*/ 1543812 h 1579245"/>
                <a:gd name="T70" fmla="*/ 1481328 w 2214880"/>
                <a:gd name="T71" fmla="*/ 1578864 h 1579245"/>
                <a:gd name="T72" fmla="*/ 1490472 w 2214880"/>
                <a:gd name="T73" fmla="*/ 1543812 h 1579245"/>
                <a:gd name="T74" fmla="*/ 2205228 w 2214880"/>
                <a:gd name="T75" fmla="*/ 1578864 h 1579245"/>
                <a:gd name="T76" fmla="*/ 2214372 w 2214880"/>
                <a:gd name="T77" fmla="*/ 1539240 h 1579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214880" h="1579245">
                  <a:moveTo>
                    <a:pt x="2214372" y="1539240"/>
                  </a:moveTo>
                  <a:lnTo>
                    <a:pt x="2209800" y="1539240"/>
                  </a:lnTo>
                  <a:lnTo>
                    <a:pt x="2209800" y="1534668"/>
                  </a:lnTo>
                  <a:lnTo>
                    <a:pt x="44196" y="1534668"/>
                  </a:lnTo>
                  <a:lnTo>
                    <a:pt x="44196" y="1324356"/>
                  </a:lnTo>
                  <a:lnTo>
                    <a:pt x="2209800" y="1324356"/>
                  </a:lnTo>
                  <a:lnTo>
                    <a:pt x="2209800" y="1315212"/>
                  </a:lnTo>
                  <a:lnTo>
                    <a:pt x="44196" y="1315212"/>
                  </a:lnTo>
                  <a:lnTo>
                    <a:pt x="44196" y="1104900"/>
                  </a:lnTo>
                  <a:lnTo>
                    <a:pt x="2209800" y="1104900"/>
                  </a:lnTo>
                  <a:lnTo>
                    <a:pt x="2209800" y="1095756"/>
                  </a:lnTo>
                  <a:lnTo>
                    <a:pt x="44196" y="1095756"/>
                  </a:lnTo>
                  <a:lnTo>
                    <a:pt x="44196" y="885444"/>
                  </a:lnTo>
                  <a:lnTo>
                    <a:pt x="2209800" y="885444"/>
                  </a:lnTo>
                  <a:lnTo>
                    <a:pt x="2209800" y="876300"/>
                  </a:lnTo>
                  <a:lnTo>
                    <a:pt x="44196" y="876300"/>
                  </a:lnTo>
                  <a:lnTo>
                    <a:pt x="44196" y="667512"/>
                  </a:lnTo>
                  <a:lnTo>
                    <a:pt x="2209800" y="667512"/>
                  </a:lnTo>
                  <a:lnTo>
                    <a:pt x="2209800" y="658368"/>
                  </a:lnTo>
                  <a:lnTo>
                    <a:pt x="44196" y="658368"/>
                  </a:lnTo>
                  <a:lnTo>
                    <a:pt x="44196" y="448056"/>
                  </a:lnTo>
                  <a:lnTo>
                    <a:pt x="2209800" y="448056"/>
                  </a:lnTo>
                  <a:lnTo>
                    <a:pt x="2209800" y="438912"/>
                  </a:lnTo>
                  <a:lnTo>
                    <a:pt x="44196" y="438912"/>
                  </a:lnTo>
                  <a:lnTo>
                    <a:pt x="44196" y="228600"/>
                  </a:lnTo>
                  <a:lnTo>
                    <a:pt x="2209800" y="228600"/>
                  </a:lnTo>
                  <a:lnTo>
                    <a:pt x="2209800" y="219456"/>
                  </a:lnTo>
                  <a:lnTo>
                    <a:pt x="44196" y="219456"/>
                  </a:lnTo>
                  <a:lnTo>
                    <a:pt x="44196" y="9144"/>
                  </a:lnTo>
                  <a:lnTo>
                    <a:pt x="2209800" y="9144"/>
                  </a:lnTo>
                  <a:lnTo>
                    <a:pt x="2209800" y="0"/>
                  </a:lnTo>
                  <a:lnTo>
                    <a:pt x="39624" y="0"/>
                  </a:lnTo>
                  <a:lnTo>
                    <a:pt x="0" y="0"/>
                  </a:lnTo>
                  <a:lnTo>
                    <a:pt x="0" y="9144"/>
                  </a:lnTo>
                  <a:lnTo>
                    <a:pt x="35052" y="9144"/>
                  </a:lnTo>
                  <a:lnTo>
                    <a:pt x="35052" y="219456"/>
                  </a:lnTo>
                  <a:lnTo>
                    <a:pt x="0" y="219456"/>
                  </a:lnTo>
                  <a:lnTo>
                    <a:pt x="0" y="228600"/>
                  </a:lnTo>
                  <a:lnTo>
                    <a:pt x="35052" y="228600"/>
                  </a:lnTo>
                  <a:lnTo>
                    <a:pt x="35052" y="438912"/>
                  </a:lnTo>
                  <a:lnTo>
                    <a:pt x="0" y="438912"/>
                  </a:lnTo>
                  <a:lnTo>
                    <a:pt x="0" y="448056"/>
                  </a:lnTo>
                  <a:lnTo>
                    <a:pt x="35052" y="448056"/>
                  </a:lnTo>
                  <a:lnTo>
                    <a:pt x="35052" y="658368"/>
                  </a:lnTo>
                  <a:lnTo>
                    <a:pt x="0" y="658368"/>
                  </a:lnTo>
                  <a:lnTo>
                    <a:pt x="0" y="667512"/>
                  </a:lnTo>
                  <a:lnTo>
                    <a:pt x="35052" y="667512"/>
                  </a:lnTo>
                  <a:lnTo>
                    <a:pt x="35052" y="876300"/>
                  </a:lnTo>
                  <a:lnTo>
                    <a:pt x="0" y="876300"/>
                  </a:lnTo>
                  <a:lnTo>
                    <a:pt x="0" y="885444"/>
                  </a:lnTo>
                  <a:lnTo>
                    <a:pt x="35052" y="885444"/>
                  </a:lnTo>
                  <a:lnTo>
                    <a:pt x="35052" y="1095756"/>
                  </a:lnTo>
                  <a:lnTo>
                    <a:pt x="0" y="1095756"/>
                  </a:lnTo>
                  <a:lnTo>
                    <a:pt x="0" y="1104900"/>
                  </a:lnTo>
                  <a:lnTo>
                    <a:pt x="35052" y="1104900"/>
                  </a:lnTo>
                  <a:lnTo>
                    <a:pt x="35052" y="1315212"/>
                  </a:lnTo>
                  <a:lnTo>
                    <a:pt x="0" y="1315212"/>
                  </a:lnTo>
                  <a:lnTo>
                    <a:pt x="0" y="1324356"/>
                  </a:lnTo>
                  <a:lnTo>
                    <a:pt x="35052" y="1324356"/>
                  </a:lnTo>
                  <a:lnTo>
                    <a:pt x="35052" y="1534668"/>
                  </a:lnTo>
                  <a:lnTo>
                    <a:pt x="0" y="1534668"/>
                  </a:lnTo>
                  <a:lnTo>
                    <a:pt x="0" y="1543812"/>
                  </a:lnTo>
                  <a:lnTo>
                    <a:pt x="35052" y="1543812"/>
                  </a:lnTo>
                  <a:lnTo>
                    <a:pt x="35052" y="1578864"/>
                  </a:lnTo>
                  <a:lnTo>
                    <a:pt x="44196" y="1578864"/>
                  </a:lnTo>
                  <a:lnTo>
                    <a:pt x="44196" y="1543812"/>
                  </a:lnTo>
                  <a:lnTo>
                    <a:pt x="758952" y="1543812"/>
                  </a:lnTo>
                  <a:lnTo>
                    <a:pt x="758952" y="1578864"/>
                  </a:lnTo>
                  <a:lnTo>
                    <a:pt x="768096" y="1578864"/>
                  </a:lnTo>
                  <a:lnTo>
                    <a:pt x="768096" y="1543812"/>
                  </a:lnTo>
                  <a:lnTo>
                    <a:pt x="1481328" y="1543812"/>
                  </a:lnTo>
                  <a:lnTo>
                    <a:pt x="1481328" y="1578864"/>
                  </a:lnTo>
                  <a:lnTo>
                    <a:pt x="1490472" y="1578864"/>
                  </a:lnTo>
                  <a:lnTo>
                    <a:pt x="1490472" y="1543812"/>
                  </a:lnTo>
                  <a:lnTo>
                    <a:pt x="2205228" y="1543812"/>
                  </a:lnTo>
                  <a:lnTo>
                    <a:pt x="2205228" y="1578864"/>
                  </a:lnTo>
                  <a:lnTo>
                    <a:pt x="2214372" y="1578864"/>
                  </a:lnTo>
                  <a:lnTo>
                    <a:pt x="2214372" y="1539240"/>
                  </a:lnTo>
                  <a:close/>
                </a:path>
              </a:pathLst>
            </a:custGeom>
            <a:solidFill>
              <a:srgbClr val="858585"/>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pic>
          <p:nvPicPr>
            <p:cNvPr id="14" name="Image 1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33" y="16169"/>
              <a:ext cx="976" cy="975"/>
            </a:xfrm>
            <a:prstGeom prst="rect">
              <a:avLst/>
            </a:prstGeom>
            <a:noFill/>
            <a:extLst>
              <a:ext uri="{909E8E84-426E-40DD-AFC4-6F175D3DCCD1}">
                <a14:hiddenFill xmlns:a14="http://schemas.microsoft.com/office/drawing/2010/main">
                  <a:solidFill>
                    <a:srgbClr val="FFFFFF"/>
                  </a:solidFill>
                </a14:hiddenFill>
              </a:ext>
            </a:extLst>
          </p:spPr>
        </p:pic>
        <p:pic>
          <p:nvPicPr>
            <p:cNvPr id="15" name="Image 1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245" y="13655"/>
              <a:ext cx="991" cy="975"/>
            </a:xfrm>
            <a:prstGeom prst="rect">
              <a:avLst/>
            </a:prstGeom>
            <a:noFill/>
            <a:extLst>
              <a:ext uri="{909E8E84-426E-40DD-AFC4-6F175D3DCCD1}">
                <a14:hiddenFill xmlns:a14="http://schemas.microsoft.com/office/drawing/2010/main">
                  <a:solidFill>
                    <a:srgbClr val="FFFFFF"/>
                  </a:solidFill>
                </a14:hiddenFill>
              </a:ext>
            </a:extLst>
          </p:spPr>
        </p:pic>
        <p:pic>
          <p:nvPicPr>
            <p:cNvPr id="16" name="Image 13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888" y="11460"/>
              <a:ext cx="945" cy="960"/>
            </a:xfrm>
            <a:prstGeom prst="rect">
              <a:avLst/>
            </a:prstGeom>
            <a:noFill/>
            <a:extLst>
              <a:ext uri="{909E8E84-426E-40DD-AFC4-6F175D3DCCD1}">
                <a14:hiddenFill xmlns:a14="http://schemas.microsoft.com/office/drawing/2010/main">
                  <a:solidFill>
                    <a:srgbClr val="FFFFFF"/>
                  </a:solidFill>
                </a14:hiddenFill>
              </a:ext>
            </a:extLst>
          </p:spPr>
        </p:pic>
        <p:pic>
          <p:nvPicPr>
            <p:cNvPr id="17" name="Image 13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484" y="8945"/>
              <a:ext cx="991" cy="960"/>
            </a:xfrm>
            <a:prstGeom prst="rect">
              <a:avLst/>
            </a:prstGeom>
            <a:noFill/>
            <a:extLst>
              <a:ext uri="{909E8E84-426E-40DD-AFC4-6F175D3DCCD1}">
                <a14:hiddenFill xmlns:a14="http://schemas.microsoft.com/office/drawing/2010/main">
                  <a:solidFill>
                    <a:srgbClr val="FFFFFF"/>
                  </a:solidFill>
                </a14:hiddenFill>
              </a:ext>
            </a:extLst>
          </p:spPr>
        </p:pic>
        <p:pic>
          <p:nvPicPr>
            <p:cNvPr id="18" name="Image 13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111" y="6294"/>
              <a:ext cx="976" cy="975"/>
            </a:xfrm>
            <a:prstGeom prst="rect">
              <a:avLst/>
            </a:prstGeom>
            <a:noFill/>
            <a:extLst>
              <a:ext uri="{909E8E84-426E-40DD-AFC4-6F175D3DCCD1}">
                <a14:hiddenFill xmlns:a14="http://schemas.microsoft.com/office/drawing/2010/main">
                  <a:solidFill>
                    <a:srgbClr val="FFFFFF"/>
                  </a:solidFill>
                </a14:hiddenFill>
              </a:ext>
            </a:extLst>
          </p:spPr>
        </p:pic>
        <p:sp>
          <p:nvSpPr>
            <p:cNvPr id="19" name="Graphic 133"/>
            <p:cNvSpPr>
              <a:spLocks/>
            </p:cNvSpPr>
            <p:nvPr/>
          </p:nvSpPr>
          <p:spPr bwMode="auto">
            <a:xfrm>
              <a:off x="13091" y="6842"/>
              <a:ext cx="14554" cy="9894"/>
            </a:xfrm>
            <a:custGeom>
              <a:avLst/>
              <a:gdLst>
                <a:gd name="T0" fmla="*/ 1452371 w 1455420"/>
                <a:gd name="T1" fmla="*/ 0 h 989330"/>
                <a:gd name="T2" fmla="*/ 1447799 w 1455420"/>
                <a:gd name="T3" fmla="*/ 1524 h 989330"/>
                <a:gd name="T4" fmla="*/ 1524 w 1455420"/>
                <a:gd name="T5" fmla="*/ 981455 h 989330"/>
                <a:gd name="T6" fmla="*/ 0 w 1455420"/>
                <a:gd name="T7" fmla="*/ 982979 h 989330"/>
                <a:gd name="T8" fmla="*/ 1524 w 1455420"/>
                <a:gd name="T9" fmla="*/ 987551 h 989330"/>
                <a:gd name="T10" fmla="*/ 3047 w 1455420"/>
                <a:gd name="T11" fmla="*/ 989075 h 989330"/>
                <a:gd name="T12" fmla="*/ 7619 w 1455420"/>
                <a:gd name="T13" fmla="*/ 987551 h 989330"/>
                <a:gd name="T14" fmla="*/ 1453895 w 1455420"/>
                <a:gd name="T15" fmla="*/ 7619 h 989330"/>
                <a:gd name="T16" fmla="*/ 1455419 w 1455420"/>
                <a:gd name="T17" fmla="*/ 6096 h 989330"/>
                <a:gd name="T18" fmla="*/ 1453895 w 1455420"/>
                <a:gd name="T19" fmla="*/ 1524 h 989330"/>
                <a:gd name="T20" fmla="*/ 1452371 w 1455420"/>
                <a:gd name="T21" fmla="*/ 0 h 989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55420" h="989330">
                  <a:moveTo>
                    <a:pt x="1452371" y="0"/>
                  </a:moveTo>
                  <a:lnTo>
                    <a:pt x="1447799" y="1524"/>
                  </a:lnTo>
                  <a:lnTo>
                    <a:pt x="1524" y="981455"/>
                  </a:lnTo>
                  <a:lnTo>
                    <a:pt x="0" y="982979"/>
                  </a:lnTo>
                  <a:lnTo>
                    <a:pt x="1524" y="987551"/>
                  </a:lnTo>
                  <a:lnTo>
                    <a:pt x="3047" y="989075"/>
                  </a:lnTo>
                  <a:lnTo>
                    <a:pt x="7619" y="987551"/>
                  </a:lnTo>
                  <a:lnTo>
                    <a:pt x="1453895" y="7619"/>
                  </a:lnTo>
                  <a:lnTo>
                    <a:pt x="1455419" y="6096"/>
                  </a:lnTo>
                  <a:lnTo>
                    <a:pt x="1453895" y="1524"/>
                  </a:lnTo>
                  <a:lnTo>
                    <a:pt x="145237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pic>
          <p:nvPicPr>
            <p:cNvPr id="20" name="Image 13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640" y="14142"/>
              <a:ext cx="853" cy="854"/>
            </a:xfrm>
            <a:prstGeom prst="rect">
              <a:avLst/>
            </a:prstGeom>
            <a:noFill/>
            <a:extLst>
              <a:ext uri="{909E8E84-426E-40DD-AFC4-6F175D3DCCD1}">
                <a14:hiddenFill xmlns:a14="http://schemas.microsoft.com/office/drawing/2010/main">
                  <a:solidFill>
                    <a:srgbClr val="FFFFFF"/>
                  </a:solidFill>
                </a14:hiddenFill>
              </a:ext>
            </a:extLst>
          </p:spPr>
        </p:pic>
        <p:sp>
          <p:nvSpPr>
            <p:cNvPr id="21" name="Graphic 135"/>
            <p:cNvSpPr>
              <a:spLocks/>
            </p:cNvSpPr>
            <p:nvPr/>
          </p:nvSpPr>
          <p:spPr bwMode="auto">
            <a:xfrm>
              <a:off x="33802" y="16824"/>
              <a:ext cx="2533" cy="96"/>
            </a:xfrm>
            <a:custGeom>
              <a:avLst/>
              <a:gdLst>
                <a:gd name="T0" fmla="*/ 248412 w 253365"/>
                <a:gd name="T1" fmla="*/ 0 h 9525"/>
                <a:gd name="T2" fmla="*/ 4572 w 253365"/>
                <a:gd name="T3" fmla="*/ 0 h 9525"/>
                <a:gd name="T4" fmla="*/ 1524 w 253365"/>
                <a:gd name="T5" fmla="*/ 1524 h 9525"/>
                <a:gd name="T6" fmla="*/ 0 w 253365"/>
                <a:gd name="T7" fmla="*/ 4572 h 9525"/>
                <a:gd name="T8" fmla="*/ 1524 w 253365"/>
                <a:gd name="T9" fmla="*/ 7620 h 9525"/>
                <a:gd name="T10" fmla="*/ 4572 w 253365"/>
                <a:gd name="T11" fmla="*/ 9144 h 9525"/>
                <a:gd name="T12" fmla="*/ 248412 w 253365"/>
                <a:gd name="T13" fmla="*/ 9144 h 9525"/>
                <a:gd name="T14" fmla="*/ 251460 w 253365"/>
                <a:gd name="T15" fmla="*/ 7620 h 9525"/>
                <a:gd name="T16" fmla="*/ 252984 w 253365"/>
                <a:gd name="T17" fmla="*/ 4572 h 9525"/>
                <a:gd name="T18" fmla="*/ 251460 w 253365"/>
                <a:gd name="T19" fmla="*/ 1524 h 9525"/>
                <a:gd name="T20" fmla="*/ 248412 w 253365"/>
                <a:gd name="T21" fmla="*/ 0 h 9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3365" h="9525">
                  <a:moveTo>
                    <a:pt x="248412" y="0"/>
                  </a:moveTo>
                  <a:lnTo>
                    <a:pt x="4572" y="0"/>
                  </a:lnTo>
                  <a:lnTo>
                    <a:pt x="1524" y="1524"/>
                  </a:lnTo>
                  <a:lnTo>
                    <a:pt x="0" y="4572"/>
                  </a:lnTo>
                  <a:lnTo>
                    <a:pt x="1524" y="7620"/>
                  </a:lnTo>
                  <a:lnTo>
                    <a:pt x="4572" y="9144"/>
                  </a:lnTo>
                  <a:lnTo>
                    <a:pt x="248412" y="9144"/>
                  </a:lnTo>
                  <a:lnTo>
                    <a:pt x="251460" y="7620"/>
                  </a:lnTo>
                  <a:lnTo>
                    <a:pt x="252984" y="4572"/>
                  </a:lnTo>
                  <a:lnTo>
                    <a:pt x="251460" y="1524"/>
                  </a:lnTo>
                  <a:lnTo>
                    <a:pt x="24841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sp>
          <p:nvSpPr>
            <p:cNvPr id="22" name="Graphic 136"/>
            <p:cNvSpPr>
              <a:spLocks/>
            </p:cNvSpPr>
            <p:nvPr/>
          </p:nvSpPr>
          <p:spPr bwMode="auto">
            <a:xfrm>
              <a:off x="0" y="0"/>
              <a:ext cx="45847" cy="27571"/>
            </a:xfrm>
            <a:custGeom>
              <a:avLst/>
              <a:gdLst>
                <a:gd name="T0" fmla="*/ 12192 w 4584700"/>
                <a:gd name="T1" fmla="*/ 0 h 2757170"/>
                <a:gd name="T2" fmla="*/ 0 w 4584700"/>
                <a:gd name="T3" fmla="*/ 0 h 2757170"/>
                <a:gd name="T4" fmla="*/ 0 w 4584700"/>
                <a:gd name="T5" fmla="*/ 2755391 h 2757170"/>
                <a:gd name="T6" fmla="*/ 3048 w 4584700"/>
                <a:gd name="T7" fmla="*/ 2756915 h 2757170"/>
                <a:gd name="T8" fmla="*/ 4581143 w 4584700"/>
                <a:gd name="T9" fmla="*/ 2756915 h 2757170"/>
                <a:gd name="T10" fmla="*/ 4584191 w 4584700"/>
                <a:gd name="T11" fmla="*/ 2755391 h 2757170"/>
                <a:gd name="T12" fmla="*/ 4584191 w 4584700"/>
                <a:gd name="T13" fmla="*/ 2750819 h 2757170"/>
                <a:gd name="T14" fmla="*/ 12192 w 4584700"/>
                <a:gd name="T15" fmla="*/ 2750819 h 2757170"/>
                <a:gd name="T16" fmla="*/ 6096 w 4584700"/>
                <a:gd name="T17" fmla="*/ 2744723 h 2757170"/>
                <a:gd name="T18" fmla="*/ 12192 w 4584700"/>
                <a:gd name="T19" fmla="*/ 2744723 h 2757170"/>
                <a:gd name="T20" fmla="*/ 12192 w 4584700"/>
                <a:gd name="T21" fmla="*/ 6096 h 2757170"/>
                <a:gd name="T22" fmla="*/ 6096 w 4584700"/>
                <a:gd name="T23" fmla="*/ 6096 h 2757170"/>
                <a:gd name="T24" fmla="*/ 12192 w 4584700"/>
                <a:gd name="T25" fmla="*/ 0 h 2757170"/>
                <a:gd name="T26" fmla="*/ 12192 w 4584700"/>
                <a:gd name="T27" fmla="*/ 2744723 h 2757170"/>
                <a:gd name="T28" fmla="*/ 6096 w 4584700"/>
                <a:gd name="T29" fmla="*/ 2744723 h 2757170"/>
                <a:gd name="T30" fmla="*/ 12192 w 4584700"/>
                <a:gd name="T31" fmla="*/ 2750819 h 2757170"/>
                <a:gd name="T32" fmla="*/ 12192 w 4584700"/>
                <a:gd name="T33" fmla="*/ 2744723 h 2757170"/>
                <a:gd name="T34" fmla="*/ 4571999 w 4584700"/>
                <a:gd name="T35" fmla="*/ 2744723 h 2757170"/>
                <a:gd name="T36" fmla="*/ 12192 w 4584700"/>
                <a:gd name="T37" fmla="*/ 2744723 h 2757170"/>
                <a:gd name="T38" fmla="*/ 12192 w 4584700"/>
                <a:gd name="T39" fmla="*/ 2750819 h 2757170"/>
                <a:gd name="T40" fmla="*/ 4571999 w 4584700"/>
                <a:gd name="T41" fmla="*/ 2750819 h 2757170"/>
                <a:gd name="T42" fmla="*/ 4571999 w 4584700"/>
                <a:gd name="T43" fmla="*/ 2744723 h 2757170"/>
                <a:gd name="T44" fmla="*/ 4571999 w 4584700"/>
                <a:gd name="T45" fmla="*/ 0 h 2757170"/>
                <a:gd name="T46" fmla="*/ 4571999 w 4584700"/>
                <a:gd name="T47" fmla="*/ 2750819 h 2757170"/>
                <a:gd name="T48" fmla="*/ 4578095 w 4584700"/>
                <a:gd name="T49" fmla="*/ 2744723 h 2757170"/>
                <a:gd name="T50" fmla="*/ 4584191 w 4584700"/>
                <a:gd name="T51" fmla="*/ 2744723 h 2757170"/>
                <a:gd name="T52" fmla="*/ 4584191 w 4584700"/>
                <a:gd name="T53" fmla="*/ 6096 h 2757170"/>
                <a:gd name="T54" fmla="*/ 4578095 w 4584700"/>
                <a:gd name="T55" fmla="*/ 6096 h 2757170"/>
                <a:gd name="T56" fmla="*/ 4571999 w 4584700"/>
                <a:gd name="T57" fmla="*/ 0 h 2757170"/>
                <a:gd name="T58" fmla="*/ 4584191 w 4584700"/>
                <a:gd name="T59" fmla="*/ 2744723 h 2757170"/>
                <a:gd name="T60" fmla="*/ 4578095 w 4584700"/>
                <a:gd name="T61" fmla="*/ 2744723 h 2757170"/>
                <a:gd name="T62" fmla="*/ 4571999 w 4584700"/>
                <a:gd name="T63" fmla="*/ 2750819 h 2757170"/>
                <a:gd name="T64" fmla="*/ 4584191 w 4584700"/>
                <a:gd name="T65" fmla="*/ 2750819 h 2757170"/>
                <a:gd name="T66" fmla="*/ 4584191 w 4584700"/>
                <a:gd name="T67" fmla="*/ 2744723 h 2757170"/>
                <a:gd name="T68" fmla="*/ 12192 w 4584700"/>
                <a:gd name="T69" fmla="*/ 0 h 2757170"/>
                <a:gd name="T70" fmla="*/ 6096 w 4584700"/>
                <a:gd name="T71" fmla="*/ 6096 h 2757170"/>
                <a:gd name="T72" fmla="*/ 12192 w 4584700"/>
                <a:gd name="T73" fmla="*/ 6096 h 2757170"/>
                <a:gd name="T74" fmla="*/ 12192 w 4584700"/>
                <a:gd name="T75" fmla="*/ 0 h 2757170"/>
                <a:gd name="T76" fmla="*/ 4571999 w 4584700"/>
                <a:gd name="T77" fmla="*/ 0 h 2757170"/>
                <a:gd name="T78" fmla="*/ 12192 w 4584700"/>
                <a:gd name="T79" fmla="*/ 0 h 2757170"/>
                <a:gd name="T80" fmla="*/ 12192 w 4584700"/>
                <a:gd name="T81" fmla="*/ 6096 h 2757170"/>
                <a:gd name="T82" fmla="*/ 4571999 w 4584700"/>
                <a:gd name="T83" fmla="*/ 6096 h 2757170"/>
                <a:gd name="T84" fmla="*/ 4571999 w 4584700"/>
                <a:gd name="T85" fmla="*/ 0 h 2757170"/>
                <a:gd name="T86" fmla="*/ 4584191 w 4584700"/>
                <a:gd name="T87" fmla="*/ 0 h 2757170"/>
                <a:gd name="T88" fmla="*/ 4571999 w 4584700"/>
                <a:gd name="T89" fmla="*/ 0 h 2757170"/>
                <a:gd name="T90" fmla="*/ 4578095 w 4584700"/>
                <a:gd name="T91" fmla="*/ 6096 h 2757170"/>
                <a:gd name="T92" fmla="*/ 4584191 w 4584700"/>
                <a:gd name="T93" fmla="*/ 6096 h 2757170"/>
                <a:gd name="T94" fmla="*/ 4584191 w 4584700"/>
                <a:gd name="T95" fmla="*/ 0 h 2757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584700" h="2757170">
                  <a:moveTo>
                    <a:pt x="12192" y="0"/>
                  </a:moveTo>
                  <a:lnTo>
                    <a:pt x="0" y="0"/>
                  </a:lnTo>
                  <a:lnTo>
                    <a:pt x="0" y="2755391"/>
                  </a:lnTo>
                  <a:lnTo>
                    <a:pt x="3048" y="2756915"/>
                  </a:lnTo>
                  <a:lnTo>
                    <a:pt x="4581143" y="2756915"/>
                  </a:lnTo>
                  <a:lnTo>
                    <a:pt x="4584191" y="2755391"/>
                  </a:lnTo>
                  <a:lnTo>
                    <a:pt x="4584191" y="2750819"/>
                  </a:lnTo>
                  <a:lnTo>
                    <a:pt x="12192" y="2750819"/>
                  </a:lnTo>
                  <a:lnTo>
                    <a:pt x="6096" y="2744723"/>
                  </a:lnTo>
                  <a:lnTo>
                    <a:pt x="12192" y="2744723"/>
                  </a:lnTo>
                  <a:lnTo>
                    <a:pt x="12192" y="6096"/>
                  </a:lnTo>
                  <a:lnTo>
                    <a:pt x="6096" y="6096"/>
                  </a:lnTo>
                  <a:lnTo>
                    <a:pt x="12192" y="0"/>
                  </a:lnTo>
                  <a:close/>
                </a:path>
                <a:path w="4584700" h="2757170">
                  <a:moveTo>
                    <a:pt x="12192" y="2744723"/>
                  </a:moveTo>
                  <a:lnTo>
                    <a:pt x="6096" y="2744723"/>
                  </a:lnTo>
                  <a:lnTo>
                    <a:pt x="12192" y="2750819"/>
                  </a:lnTo>
                  <a:lnTo>
                    <a:pt x="12192" y="2744723"/>
                  </a:lnTo>
                  <a:close/>
                </a:path>
                <a:path w="4584700" h="2757170">
                  <a:moveTo>
                    <a:pt x="4571999" y="2744723"/>
                  </a:moveTo>
                  <a:lnTo>
                    <a:pt x="12192" y="2744723"/>
                  </a:lnTo>
                  <a:lnTo>
                    <a:pt x="12192" y="2750819"/>
                  </a:lnTo>
                  <a:lnTo>
                    <a:pt x="4571999" y="2750819"/>
                  </a:lnTo>
                  <a:lnTo>
                    <a:pt x="4571999" y="2744723"/>
                  </a:lnTo>
                  <a:close/>
                </a:path>
                <a:path w="4584700" h="2757170">
                  <a:moveTo>
                    <a:pt x="4571999" y="0"/>
                  </a:moveTo>
                  <a:lnTo>
                    <a:pt x="4571999" y="2750819"/>
                  </a:lnTo>
                  <a:lnTo>
                    <a:pt x="4578095" y="2744723"/>
                  </a:lnTo>
                  <a:lnTo>
                    <a:pt x="4584191" y="2744723"/>
                  </a:lnTo>
                  <a:lnTo>
                    <a:pt x="4584191" y="6096"/>
                  </a:lnTo>
                  <a:lnTo>
                    <a:pt x="4578095" y="6096"/>
                  </a:lnTo>
                  <a:lnTo>
                    <a:pt x="4571999" y="0"/>
                  </a:lnTo>
                  <a:close/>
                </a:path>
                <a:path w="4584700" h="2757170">
                  <a:moveTo>
                    <a:pt x="4584191" y="2744723"/>
                  </a:moveTo>
                  <a:lnTo>
                    <a:pt x="4578095" y="2744723"/>
                  </a:lnTo>
                  <a:lnTo>
                    <a:pt x="4571999" y="2750819"/>
                  </a:lnTo>
                  <a:lnTo>
                    <a:pt x="4584191" y="2750819"/>
                  </a:lnTo>
                  <a:lnTo>
                    <a:pt x="4584191" y="2744723"/>
                  </a:lnTo>
                  <a:close/>
                </a:path>
                <a:path w="4584700" h="2757170">
                  <a:moveTo>
                    <a:pt x="12192" y="0"/>
                  </a:moveTo>
                  <a:lnTo>
                    <a:pt x="6096" y="6096"/>
                  </a:lnTo>
                  <a:lnTo>
                    <a:pt x="12192" y="6096"/>
                  </a:lnTo>
                  <a:lnTo>
                    <a:pt x="12192" y="0"/>
                  </a:lnTo>
                  <a:close/>
                </a:path>
                <a:path w="4584700" h="2757170">
                  <a:moveTo>
                    <a:pt x="4571999" y="0"/>
                  </a:moveTo>
                  <a:lnTo>
                    <a:pt x="12192" y="0"/>
                  </a:lnTo>
                  <a:lnTo>
                    <a:pt x="12192" y="6096"/>
                  </a:lnTo>
                  <a:lnTo>
                    <a:pt x="4571999" y="6096"/>
                  </a:lnTo>
                  <a:lnTo>
                    <a:pt x="4571999" y="0"/>
                  </a:lnTo>
                  <a:close/>
                </a:path>
                <a:path w="4584700" h="2757170">
                  <a:moveTo>
                    <a:pt x="4584191" y="0"/>
                  </a:moveTo>
                  <a:lnTo>
                    <a:pt x="4571999" y="0"/>
                  </a:lnTo>
                  <a:lnTo>
                    <a:pt x="4578095" y="6096"/>
                  </a:lnTo>
                  <a:lnTo>
                    <a:pt x="4584191" y="6096"/>
                  </a:lnTo>
                  <a:lnTo>
                    <a:pt x="4584191" y="0"/>
                  </a:lnTo>
                  <a:close/>
                </a:path>
              </a:pathLst>
            </a:custGeom>
            <a:solidFill>
              <a:srgbClr val="858585"/>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sp>
          <p:nvSpPr>
            <p:cNvPr id="23" name="Textbox 137"/>
            <p:cNvSpPr txBox="1">
              <a:spLocks noChangeArrowheads="1"/>
            </p:cNvSpPr>
            <p:nvPr/>
          </p:nvSpPr>
          <p:spPr bwMode="auto">
            <a:xfrm>
              <a:off x="14530" y="651"/>
              <a:ext cx="13532" cy="2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nSpc>
                  <a:spcPts val="1800"/>
                </a:lnSpc>
                <a:spcAft>
                  <a:spcPts val="0"/>
                </a:spcAft>
              </a:pPr>
              <a:r>
                <a:rPr lang="en-US" sz="1800" b="1" spc="-10" dirty="0">
                  <a:effectLst/>
                  <a:latin typeface="Calibri" panose="020F0502020204030204" pitchFamily="34" charset="0"/>
                  <a:ea typeface="DengXian"/>
                  <a:cs typeface="Mangal"/>
                </a:rPr>
                <a:t>MIRABEGRON</a:t>
              </a:r>
              <a:endParaRPr lang="en-IN" sz="1000" dirty="0">
                <a:effectLst/>
                <a:latin typeface="Calibri" panose="020F0502020204030204" pitchFamily="34" charset="0"/>
                <a:ea typeface="DengXian"/>
                <a:cs typeface="Mangal"/>
              </a:endParaRPr>
            </a:p>
          </p:txBody>
        </p:sp>
        <p:sp>
          <p:nvSpPr>
            <p:cNvPr id="24" name="Textbox 138"/>
            <p:cNvSpPr txBox="1">
              <a:spLocks noChangeArrowheads="1"/>
            </p:cNvSpPr>
            <p:nvPr/>
          </p:nvSpPr>
          <p:spPr bwMode="auto">
            <a:xfrm>
              <a:off x="32673" y="1700"/>
              <a:ext cx="9422" cy="6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R="11430" algn="ctr">
                <a:lnSpc>
                  <a:spcPts val="1015"/>
                </a:lnSpc>
                <a:spcAft>
                  <a:spcPts val="0"/>
                </a:spcAft>
              </a:pPr>
              <a:r>
                <a:rPr lang="en-US" sz="1000">
                  <a:effectLst/>
                  <a:latin typeface="Calibri" panose="020F0502020204030204" pitchFamily="34" charset="0"/>
                  <a:ea typeface="DengXian"/>
                  <a:cs typeface="Mangal"/>
                </a:rPr>
                <a:t>y=44.65x+</a:t>
              </a:r>
              <a:r>
                <a:rPr lang="en-US" sz="1000" spc="-10">
                  <a:effectLst/>
                  <a:latin typeface="Calibri" panose="020F0502020204030204" pitchFamily="34" charset="0"/>
                  <a:ea typeface="DengXian"/>
                  <a:cs typeface="Mangal"/>
                </a:rPr>
                <a:t>142.4</a:t>
              </a:r>
              <a:endParaRPr lang="en-IN" sz="1000">
                <a:effectLst/>
                <a:latin typeface="Calibri" panose="020F0502020204030204" pitchFamily="34" charset="0"/>
                <a:ea typeface="DengXian"/>
                <a:cs typeface="Mangal"/>
              </a:endParaRPr>
            </a:p>
            <a:p>
              <a:pPr marR="11430" algn="ctr">
                <a:lnSpc>
                  <a:spcPts val="1200"/>
                </a:lnSpc>
                <a:spcAft>
                  <a:spcPts val="0"/>
                </a:spcAft>
              </a:pPr>
              <a:r>
                <a:rPr lang="en-US" sz="1000">
                  <a:effectLst/>
                  <a:latin typeface="Calibri" panose="020F0502020204030204" pitchFamily="34" charset="0"/>
                  <a:ea typeface="DengXian"/>
                  <a:cs typeface="Mangal"/>
                </a:rPr>
                <a:t>R²=</a:t>
              </a:r>
              <a:r>
                <a:rPr lang="en-US" sz="1000" spc="-10">
                  <a:effectLst/>
                  <a:latin typeface="Calibri" panose="020F0502020204030204" pitchFamily="34" charset="0"/>
                  <a:ea typeface="DengXian"/>
                  <a:cs typeface="Mangal"/>
                </a:rPr>
                <a:t>0.999</a:t>
              </a:r>
              <a:endParaRPr lang="en-IN" sz="1000">
                <a:effectLst/>
                <a:latin typeface="Calibri" panose="020F0502020204030204" pitchFamily="34" charset="0"/>
                <a:ea typeface="DengXian"/>
                <a:cs typeface="Mangal"/>
              </a:endParaRPr>
            </a:p>
          </p:txBody>
        </p:sp>
        <p:sp>
          <p:nvSpPr>
            <p:cNvPr id="25" name="Textbox 139"/>
            <p:cNvSpPr txBox="1">
              <a:spLocks noChangeArrowheads="1"/>
            </p:cNvSpPr>
            <p:nvPr/>
          </p:nvSpPr>
          <p:spPr bwMode="auto">
            <a:xfrm>
              <a:off x="4149" y="4750"/>
              <a:ext cx="4293" cy="16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R="11430" algn="r">
                <a:lnSpc>
                  <a:spcPts val="1015"/>
                </a:lnSpc>
                <a:spcAft>
                  <a:spcPts val="0"/>
                </a:spcAft>
              </a:pPr>
              <a:r>
                <a:rPr lang="en-US" sz="1000" spc="-10">
                  <a:effectLst/>
                  <a:latin typeface="Calibri" panose="020F0502020204030204" pitchFamily="34" charset="0"/>
                  <a:ea typeface="DengXian"/>
                  <a:cs typeface="Mangal"/>
                </a:rPr>
                <a:t>1400.00</a:t>
              </a:r>
              <a:endParaRPr lang="en-IN" sz="1000">
                <a:effectLst/>
                <a:latin typeface="Calibri" panose="020F0502020204030204" pitchFamily="34" charset="0"/>
                <a:ea typeface="DengXian"/>
                <a:cs typeface="Mangal"/>
              </a:endParaRPr>
            </a:p>
            <a:p>
              <a:pPr marR="11430" algn="r">
                <a:spcBef>
                  <a:spcPts val="505"/>
                </a:spcBef>
                <a:spcAft>
                  <a:spcPts val="0"/>
                </a:spcAft>
              </a:pPr>
              <a:r>
                <a:rPr lang="en-US" sz="1000" spc="-10">
                  <a:effectLst/>
                  <a:latin typeface="Calibri" panose="020F0502020204030204" pitchFamily="34" charset="0"/>
                  <a:ea typeface="DengXian"/>
                  <a:cs typeface="Mangal"/>
                </a:rPr>
                <a:t>1200.00</a:t>
              </a:r>
              <a:endParaRPr lang="en-IN" sz="1000">
                <a:effectLst/>
                <a:latin typeface="Calibri" panose="020F0502020204030204" pitchFamily="34" charset="0"/>
                <a:ea typeface="DengXian"/>
                <a:cs typeface="Mangal"/>
              </a:endParaRPr>
            </a:p>
            <a:p>
              <a:pPr marR="11430" algn="r">
                <a:spcBef>
                  <a:spcPts val="505"/>
                </a:spcBef>
                <a:spcAft>
                  <a:spcPts val="0"/>
                </a:spcAft>
              </a:pPr>
              <a:r>
                <a:rPr lang="en-US" sz="1000" spc="-10">
                  <a:effectLst/>
                  <a:latin typeface="Calibri" panose="020F0502020204030204" pitchFamily="34" charset="0"/>
                  <a:ea typeface="DengXian"/>
                  <a:cs typeface="Mangal"/>
                </a:rPr>
                <a:t>1000.00</a:t>
              </a:r>
              <a:endParaRPr lang="en-IN" sz="1000">
                <a:effectLst/>
                <a:latin typeface="Calibri" panose="020F0502020204030204" pitchFamily="34" charset="0"/>
                <a:ea typeface="DengXian"/>
                <a:cs typeface="Mangal"/>
              </a:endParaRPr>
            </a:p>
            <a:p>
              <a:pPr marR="11430" algn="r">
                <a:spcBef>
                  <a:spcPts val="505"/>
                </a:spcBef>
                <a:spcAft>
                  <a:spcPts val="0"/>
                </a:spcAft>
              </a:pPr>
              <a:r>
                <a:rPr lang="en-US" sz="1000" spc="-10">
                  <a:effectLst/>
                  <a:latin typeface="Calibri" panose="020F0502020204030204" pitchFamily="34" charset="0"/>
                  <a:ea typeface="DengXian"/>
                  <a:cs typeface="Mangal"/>
                </a:rPr>
                <a:t>800.00</a:t>
              </a:r>
              <a:endParaRPr lang="en-IN" sz="1000">
                <a:effectLst/>
                <a:latin typeface="Calibri" panose="020F0502020204030204" pitchFamily="34" charset="0"/>
                <a:ea typeface="DengXian"/>
                <a:cs typeface="Mangal"/>
              </a:endParaRPr>
            </a:p>
            <a:p>
              <a:pPr marR="11430" algn="r">
                <a:spcBef>
                  <a:spcPts val="505"/>
                </a:spcBef>
                <a:spcAft>
                  <a:spcPts val="0"/>
                </a:spcAft>
              </a:pPr>
              <a:r>
                <a:rPr lang="en-US" sz="1000" spc="-10">
                  <a:effectLst/>
                  <a:latin typeface="Calibri" panose="020F0502020204030204" pitchFamily="34" charset="0"/>
                  <a:ea typeface="DengXian"/>
                  <a:cs typeface="Mangal"/>
                </a:rPr>
                <a:t>600.00</a:t>
              </a:r>
              <a:endParaRPr lang="en-IN" sz="1000">
                <a:effectLst/>
                <a:latin typeface="Calibri" panose="020F0502020204030204" pitchFamily="34" charset="0"/>
                <a:ea typeface="DengXian"/>
                <a:cs typeface="Mangal"/>
              </a:endParaRPr>
            </a:p>
            <a:p>
              <a:pPr marR="11430" algn="r">
                <a:spcBef>
                  <a:spcPts val="505"/>
                </a:spcBef>
                <a:spcAft>
                  <a:spcPts val="0"/>
                </a:spcAft>
              </a:pPr>
              <a:r>
                <a:rPr lang="en-US" sz="1000" spc="-10">
                  <a:effectLst/>
                  <a:latin typeface="Calibri" panose="020F0502020204030204" pitchFamily="34" charset="0"/>
                  <a:ea typeface="DengXian"/>
                  <a:cs typeface="Mangal"/>
                </a:rPr>
                <a:t>400.00</a:t>
              </a:r>
              <a:endParaRPr lang="en-IN" sz="1000">
                <a:effectLst/>
                <a:latin typeface="Calibri" panose="020F0502020204030204" pitchFamily="34" charset="0"/>
                <a:ea typeface="DengXian"/>
                <a:cs typeface="Mangal"/>
              </a:endParaRPr>
            </a:p>
            <a:p>
              <a:pPr marR="11430" algn="r">
                <a:spcBef>
                  <a:spcPts val="505"/>
                </a:spcBef>
                <a:spcAft>
                  <a:spcPts val="0"/>
                </a:spcAft>
              </a:pPr>
              <a:r>
                <a:rPr lang="en-US" sz="1000" spc="-10">
                  <a:effectLst/>
                  <a:latin typeface="Calibri" panose="020F0502020204030204" pitchFamily="34" charset="0"/>
                  <a:ea typeface="DengXian"/>
                  <a:cs typeface="Mangal"/>
                </a:rPr>
                <a:t>200.00</a:t>
              </a:r>
              <a:endParaRPr lang="en-IN" sz="1000">
                <a:effectLst/>
                <a:latin typeface="Calibri" panose="020F0502020204030204" pitchFamily="34" charset="0"/>
                <a:ea typeface="DengXian"/>
                <a:cs typeface="Mangal"/>
              </a:endParaRPr>
            </a:p>
            <a:p>
              <a:pPr marR="11430" algn="r">
                <a:lnSpc>
                  <a:spcPts val="1200"/>
                </a:lnSpc>
                <a:spcBef>
                  <a:spcPts val="505"/>
                </a:spcBef>
                <a:spcAft>
                  <a:spcPts val="0"/>
                </a:spcAft>
              </a:pPr>
              <a:r>
                <a:rPr lang="en-US" sz="1000" spc="-20">
                  <a:effectLst/>
                  <a:latin typeface="Calibri" panose="020F0502020204030204" pitchFamily="34" charset="0"/>
                  <a:ea typeface="DengXian"/>
                  <a:cs typeface="Mangal"/>
                </a:rPr>
                <a:t>0.00</a:t>
              </a:r>
              <a:endParaRPr lang="en-IN" sz="1000">
                <a:effectLst/>
                <a:latin typeface="Calibri" panose="020F0502020204030204" pitchFamily="34" charset="0"/>
                <a:ea typeface="DengXian"/>
                <a:cs typeface="Mangal"/>
              </a:endParaRPr>
            </a:p>
          </p:txBody>
        </p:sp>
        <p:sp>
          <p:nvSpPr>
            <p:cNvPr id="26" name="Textbox 140"/>
            <p:cNvSpPr txBox="1">
              <a:spLocks noChangeArrowheads="1"/>
            </p:cNvSpPr>
            <p:nvPr/>
          </p:nvSpPr>
          <p:spPr bwMode="auto">
            <a:xfrm>
              <a:off x="32606" y="12257"/>
              <a:ext cx="11212" cy="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nSpc>
                  <a:spcPts val="1015"/>
                </a:lnSpc>
                <a:spcAft>
                  <a:spcPts val="0"/>
                </a:spcAft>
              </a:pPr>
              <a:r>
                <a:rPr lang="en-US" sz="1000" spc="-10" dirty="0">
                  <a:effectLst/>
                  <a:latin typeface="Calibri" panose="020F0502020204030204" pitchFamily="34" charset="0"/>
                  <a:ea typeface="DengXian"/>
                  <a:cs typeface="Mangal"/>
                </a:rPr>
                <a:t>Series1</a:t>
              </a:r>
              <a:endParaRPr lang="en-IN" sz="1000" dirty="0">
                <a:effectLst/>
                <a:latin typeface="Calibri" panose="020F0502020204030204" pitchFamily="34" charset="0"/>
                <a:ea typeface="DengXian"/>
                <a:cs typeface="Mangal"/>
              </a:endParaRPr>
            </a:p>
            <a:p>
              <a:pPr>
                <a:lnSpc>
                  <a:spcPts val="1200"/>
                </a:lnSpc>
                <a:spcBef>
                  <a:spcPts val="585"/>
                </a:spcBef>
                <a:spcAft>
                  <a:spcPts val="0"/>
                </a:spcAft>
              </a:pPr>
              <a:r>
                <a:rPr lang="en-US" sz="1000" dirty="0">
                  <a:effectLst/>
                  <a:latin typeface="Calibri" panose="020F0502020204030204" pitchFamily="34" charset="0"/>
                  <a:ea typeface="DengXian"/>
                  <a:cs typeface="Mangal"/>
                </a:rPr>
                <a:t>Linear</a:t>
              </a:r>
              <a:r>
                <a:rPr lang="en-US" sz="1000" spc="-10" dirty="0">
                  <a:effectLst/>
                  <a:latin typeface="Calibri" panose="020F0502020204030204" pitchFamily="34" charset="0"/>
                  <a:ea typeface="DengXian"/>
                  <a:cs typeface="Mangal"/>
                </a:rPr>
                <a:t>(Series1)</a:t>
              </a:r>
              <a:endParaRPr lang="en-IN" sz="1000" dirty="0">
                <a:effectLst/>
                <a:latin typeface="Calibri" panose="020F0502020204030204" pitchFamily="34" charset="0"/>
                <a:ea typeface="DengXian"/>
                <a:cs typeface="Mangal"/>
              </a:endParaRPr>
            </a:p>
          </p:txBody>
        </p:sp>
        <p:sp>
          <p:nvSpPr>
            <p:cNvPr id="27" name="Textbox 141"/>
            <p:cNvSpPr txBox="1">
              <a:spLocks noChangeArrowheads="1"/>
            </p:cNvSpPr>
            <p:nvPr/>
          </p:nvSpPr>
          <p:spPr bwMode="auto">
            <a:xfrm>
              <a:off x="9187" y="22119"/>
              <a:ext cx="22790" cy="3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nSpc>
                  <a:spcPts val="1015"/>
                </a:lnSpc>
                <a:spcAft>
                  <a:spcPts val="0"/>
                </a:spcAft>
                <a:tabLst>
                  <a:tab pos="690880" algn="l"/>
                  <a:tab pos="1414145" algn="l"/>
                  <a:tab pos="2138045" algn="l"/>
                </a:tabLst>
              </a:pPr>
              <a:r>
                <a:rPr lang="en-US" sz="1000" spc="-50">
                  <a:effectLst/>
                  <a:latin typeface="Calibri" panose="020F0502020204030204" pitchFamily="34" charset="0"/>
                  <a:ea typeface="DengXian"/>
                  <a:cs typeface="Mangal"/>
                </a:rPr>
                <a:t>0</a:t>
              </a:r>
              <a:r>
                <a:rPr lang="en-US" sz="1000">
                  <a:effectLst/>
                  <a:latin typeface="Calibri" panose="020F0502020204030204" pitchFamily="34" charset="0"/>
                  <a:ea typeface="DengXian"/>
                  <a:cs typeface="Mangal"/>
                </a:rPr>
                <a:t>	</a:t>
              </a:r>
              <a:r>
                <a:rPr lang="en-US" sz="1000" spc="-25">
                  <a:effectLst/>
                  <a:latin typeface="Calibri" panose="020F0502020204030204" pitchFamily="34" charset="0"/>
                  <a:ea typeface="DengXian"/>
                  <a:cs typeface="Mangal"/>
                </a:rPr>
                <a:t>10</a:t>
              </a:r>
              <a:r>
                <a:rPr lang="en-US" sz="1000">
                  <a:effectLst/>
                  <a:latin typeface="Calibri" panose="020F0502020204030204" pitchFamily="34" charset="0"/>
                  <a:ea typeface="DengXian"/>
                  <a:cs typeface="Mangal"/>
                </a:rPr>
                <a:t>	</a:t>
              </a:r>
              <a:r>
                <a:rPr lang="en-US" sz="1000" spc="-25">
                  <a:effectLst/>
                  <a:latin typeface="Calibri" panose="020F0502020204030204" pitchFamily="34" charset="0"/>
                  <a:ea typeface="DengXian"/>
                  <a:cs typeface="Mangal"/>
                </a:rPr>
                <a:t>20</a:t>
              </a:r>
              <a:r>
                <a:rPr lang="en-US" sz="1000">
                  <a:effectLst/>
                  <a:latin typeface="Calibri" panose="020F0502020204030204" pitchFamily="34" charset="0"/>
                  <a:ea typeface="DengXian"/>
                  <a:cs typeface="Mangal"/>
                </a:rPr>
                <a:t>	</a:t>
              </a:r>
              <a:r>
                <a:rPr lang="en-US" sz="1000" spc="-25">
                  <a:effectLst/>
                  <a:latin typeface="Calibri" panose="020F0502020204030204" pitchFamily="34" charset="0"/>
                  <a:ea typeface="DengXian"/>
                  <a:cs typeface="Mangal"/>
                </a:rPr>
                <a:t>30</a:t>
              </a:r>
              <a:endParaRPr lang="en-IN" sz="1000">
                <a:effectLst/>
                <a:latin typeface="Calibri" panose="020F0502020204030204" pitchFamily="34" charset="0"/>
                <a:ea typeface="DengXian"/>
                <a:cs typeface="Mangal"/>
              </a:endParaRPr>
            </a:p>
            <a:p>
              <a:pPr marR="43815" algn="ctr">
                <a:lnSpc>
                  <a:spcPts val="1200"/>
                </a:lnSpc>
                <a:spcBef>
                  <a:spcPts val="750"/>
                </a:spcBef>
                <a:spcAft>
                  <a:spcPts val="0"/>
                </a:spcAft>
              </a:pPr>
              <a:r>
                <a:rPr lang="en-US" sz="1000" b="1" spc="-20">
                  <a:effectLst/>
                  <a:latin typeface="Calibri" panose="020F0502020204030204" pitchFamily="34" charset="0"/>
                  <a:ea typeface="DengXian"/>
                  <a:cs typeface="Mangal"/>
                </a:rPr>
                <a:t>conc</a:t>
              </a:r>
              <a:endParaRPr lang="en-IN" sz="1000">
                <a:effectLst/>
                <a:latin typeface="Calibri" panose="020F0502020204030204" pitchFamily="34" charset="0"/>
                <a:ea typeface="DengXian"/>
                <a:cs typeface="Mangal"/>
              </a:endParaRPr>
            </a:p>
          </p:txBody>
        </p:sp>
      </p:grpSp>
      <p:sp>
        <p:nvSpPr>
          <p:cNvPr id="28" name="TextBox 27"/>
          <p:cNvSpPr txBox="1"/>
          <p:nvPr/>
        </p:nvSpPr>
        <p:spPr>
          <a:xfrm>
            <a:off x="1768847" y="6251196"/>
            <a:ext cx="4734922" cy="400110"/>
          </a:xfrm>
          <a:prstGeom prst="rect">
            <a:avLst/>
          </a:prstGeom>
          <a:noFill/>
        </p:spPr>
        <p:txBody>
          <a:bodyPr wrap="square" rtlCol="0">
            <a:spAutoFit/>
          </a:bodyPr>
          <a:lstStyle/>
          <a:p>
            <a:pPr lvl="1"/>
            <a:r>
              <a:rPr lang="en-US" sz="2000" b="1" u="sng" dirty="0">
                <a:latin typeface="Times New Roman" panose="02020603050405020304" pitchFamily="18" charset="0"/>
                <a:cs typeface="Times New Roman" panose="02020603050405020304" pitchFamily="18" charset="0"/>
              </a:rPr>
              <a:t>Calibration curve of MBG</a:t>
            </a:r>
            <a:endParaRPr lang="en-IN" sz="2000" b="1" u="sng" dirty="0">
              <a:latin typeface="Times New Roman" panose="02020603050405020304" pitchFamily="18" charset="0"/>
              <a:cs typeface="Times New Roman" panose="02020603050405020304" pitchFamily="18" charset="0"/>
            </a:endParaRPr>
          </a:p>
        </p:txBody>
      </p:sp>
      <p:graphicFrame>
        <p:nvGraphicFramePr>
          <p:cNvPr id="29" name="Table 28"/>
          <p:cNvGraphicFramePr>
            <a:graphicFrameLocks noGrp="1"/>
          </p:cNvGraphicFramePr>
          <p:nvPr>
            <p:extLst>
              <p:ext uri="{D42A27DB-BD31-4B8C-83A1-F6EECF244321}">
                <p14:modId xmlns:p14="http://schemas.microsoft.com/office/powerpoint/2010/main" val="3034403476"/>
              </p:ext>
            </p:extLst>
          </p:nvPr>
        </p:nvGraphicFramePr>
        <p:xfrm>
          <a:off x="6800993" y="4349358"/>
          <a:ext cx="5311675" cy="1917900"/>
        </p:xfrm>
        <a:graphic>
          <a:graphicData uri="http://schemas.openxmlformats.org/drawingml/2006/table">
            <a:tbl>
              <a:tblPr firstRow="1" bandRow="1">
                <a:tableStyleId>{21E4AEA4-8DFA-4A89-87EB-49C32662AFE0}</a:tableStyleId>
              </a:tblPr>
              <a:tblGrid>
                <a:gridCol w="1968968">
                  <a:extLst>
                    <a:ext uri="{9D8B030D-6E8A-4147-A177-3AD203B41FA5}">
                      <a16:colId xmlns:a16="http://schemas.microsoft.com/office/drawing/2014/main" val="2718555486"/>
                    </a:ext>
                  </a:extLst>
                </a:gridCol>
                <a:gridCol w="3342707">
                  <a:extLst>
                    <a:ext uri="{9D8B030D-6E8A-4147-A177-3AD203B41FA5}">
                      <a16:colId xmlns:a16="http://schemas.microsoft.com/office/drawing/2014/main" val="1117391988"/>
                    </a:ext>
                  </a:extLst>
                </a:gridCol>
              </a:tblGrid>
              <a:tr h="405620">
                <a:tc gridSpan="2">
                  <a:txBody>
                    <a:bodyPr/>
                    <a:lstStyle/>
                    <a:p>
                      <a:pPr algn="ctr"/>
                      <a:r>
                        <a:rPr lang="en-US" sz="2000" dirty="0">
                          <a:latin typeface="Times New Roman" panose="02020603050405020304" pitchFamily="18" charset="0"/>
                          <a:cs typeface="Times New Roman" panose="02020603050405020304" pitchFamily="18" charset="0"/>
                        </a:rPr>
                        <a:t> Regression</a:t>
                      </a:r>
                      <a:r>
                        <a:rPr lang="en-US" sz="2000" baseline="0" dirty="0">
                          <a:latin typeface="Times New Roman" panose="02020603050405020304" pitchFamily="18" charset="0"/>
                          <a:cs typeface="Times New Roman" panose="02020603050405020304" pitchFamily="18" charset="0"/>
                        </a:rPr>
                        <a:t> equation data Y=</a:t>
                      </a:r>
                      <a:r>
                        <a:rPr lang="en-US" sz="2000" baseline="0" dirty="0" err="1">
                          <a:latin typeface="Times New Roman" panose="02020603050405020304" pitchFamily="18" charset="0"/>
                          <a:cs typeface="Times New Roman" panose="02020603050405020304" pitchFamily="18" charset="0"/>
                        </a:rPr>
                        <a:t>mx+c</a:t>
                      </a:r>
                      <a:endParaRPr lang="en-IN" sz="2000" dirty="0">
                        <a:latin typeface="Times New Roman" panose="02020603050405020304" pitchFamily="18" charset="0"/>
                        <a:cs typeface="Times New Roman" panose="02020603050405020304" pitchFamily="18" charset="0"/>
                      </a:endParaRPr>
                    </a:p>
                  </a:txBody>
                  <a:tcPr/>
                </a:tc>
                <a:tc hMerge="1">
                  <a:txBody>
                    <a:bodyPr/>
                    <a:lstStyle/>
                    <a:p>
                      <a:endParaRPr lang="en-IN" dirty="0"/>
                    </a:p>
                  </a:txBody>
                  <a:tcPr/>
                </a:tc>
                <a:extLst>
                  <a:ext uri="{0D108BD9-81ED-4DB2-BD59-A6C34878D82A}">
                    <a16:rowId xmlns:a16="http://schemas.microsoft.com/office/drawing/2014/main" val="2150118944"/>
                  </a:ext>
                </a:extLst>
              </a:tr>
              <a:tr h="405620">
                <a:tc>
                  <a:txBody>
                    <a:bodyPr/>
                    <a:lstStyle/>
                    <a:p>
                      <a:r>
                        <a:rPr lang="en-US" sz="2000" dirty="0">
                          <a:latin typeface="Times New Roman" panose="02020603050405020304" pitchFamily="18" charset="0"/>
                          <a:cs typeface="Times New Roman" panose="02020603050405020304" pitchFamily="18" charset="0"/>
                        </a:rPr>
                        <a:t>Slope(m)</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44.65</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05470515"/>
                  </a:ext>
                </a:extLst>
              </a:tr>
              <a:tr h="405620">
                <a:tc>
                  <a:txBody>
                    <a:bodyPr/>
                    <a:lstStyle/>
                    <a:p>
                      <a:r>
                        <a:rPr lang="en-US" sz="2000" dirty="0">
                          <a:latin typeface="Times New Roman" panose="02020603050405020304" pitchFamily="18" charset="0"/>
                          <a:cs typeface="Times New Roman" panose="02020603050405020304" pitchFamily="18" charset="0"/>
                        </a:rPr>
                        <a:t>Intercept(c)</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142.4</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02338553"/>
                  </a:ext>
                </a:extLst>
              </a:tr>
              <a:tr h="700112">
                <a:tc>
                  <a:txBody>
                    <a:bodyPr/>
                    <a:lstStyle/>
                    <a:p>
                      <a:r>
                        <a:rPr lang="en-US" sz="2000" dirty="0">
                          <a:latin typeface="Times New Roman" panose="02020603050405020304" pitchFamily="18" charset="0"/>
                          <a:cs typeface="Times New Roman" panose="02020603050405020304" pitchFamily="18" charset="0"/>
                        </a:rPr>
                        <a:t>Correlation</a:t>
                      </a:r>
                      <a:r>
                        <a:rPr lang="en-US" sz="2000" baseline="0" dirty="0">
                          <a:latin typeface="Times New Roman" panose="02020603050405020304" pitchFamily="18" charset="0"/>
                          <a:cs typeface="Times New Roman" panose="02020603050405020304" pitchFamily="18" charset="0"/>
                        </a:rPr>
                        <a:t> Coefficient</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0.999</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33492473"/>
                  </a:ext>
                </a:extLst>
              </a:tr>
            </a:tbl>
          </a:graphicData>
        </a:graphic>
      </p:graphicFrame>
      <p:sp>
        <p:nvSpPr>
          <p:cNvPr id="31" name="TextBox 30"/>
          <p:cNvSpPr txBox="1"/>
          <p:nvPr/>
        </p:nvSpPr>
        <p:spPr>
          <a:xfrm>
            <a:off x="6622869" y="6051141"/>
            <a:ext cx="5074194" cy="400110"/>
          </a:xfrm>
          <a:prstGeom prst="rect">
            <a:avLst/>
          </a:prstGeom>
          <a:noFill/>
        </p:spPr>
        <p:txBody>
          <a:bodyPr wrap="square" rtlCol="0">
            <a:spAutoFit/>
          </a:bodyPr>
          <a:lstStyle/>
          <a:p>
            <a:pPr lvl="2"/>
            <a:r>
              <a:rPr lang="en-US" sz="2000" u="sng" dirty="0">
                <a:latin typeface="Times New Roman" panose="02020603050405020304" pitchFamily="18" charset="0"/>
                <a:cs typeface="Times New Roman" panose="02020603050405020304" pitchFamily="18" charset="0"/>
              </a:rPr>
              <a:t> </a:t>
            </a:r>
            <a:endParaRPr lang="en-IN" sz="2000"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3580058"/>
      </p:ext>
    </p:extLst>
  </p:cSld>
  <p:clrMapOvr>
    <a:masterClrMapping/>
  </p:clrMapOvr>
  <p:transition>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97727" y="90949"/>
            <a:ext cx="10794274" cy="830997"/>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2. Accuracy:</a:t>
            </a:r>
          </a:p>
          <a:p>
            <a:endParaRPr lang="en-IN" sz="2400" dirty="0">
              <a:latin typeface="Times New Roman" panose="02020603050405020304" pitchFamily="18" charset="0"/>
              <a:cs typeface="Times New Roman" panose="02020603050405020304" pitchFamily="18" charset="0"/>
            </a:endParaRPr>
          </a:p>
        </p:txBody>
      </p:sp>
      <p:sp>
        <p:nvSpPr>
          <p:cNvPr id="3" name="Rectangle 2"/>
          <p:cNvSpPr/>
          <p:nvPr/>
        </p:nvSpPr>
        <p:spPr>
          <a:xfrm>
            <a:off x="946790" y="434275"/>
            <a:ext cx="10659290" cy="830997"/>
          </a:xfrm>
          <a:prstGeom prst="rect">
            <a:avLst/>
          </a:prstGeom>
        </p:spPr>
        <p:txBody>
          <a:bodyPr wrap="square">
            <a:spAutoFit/>
          </a:bodyPr>
          <a:lstStyle/>
          <a:p>
            <a:pPr lvl="1" algn="just"/>
            <a:r>
              <a:rPr lang="en-US" sz="2400" dirty="0">
                <a:latin typeface="Times New Roman" panose="02020603050405020304" pitchFamily="18" charset="0"/>
                <a:ea typeface="DengXian"/>
              </a:rPr>
              <a:t>To pre-analyzed Tablet solution, a definite concentration of standard drug (80%, 100%, and 120%) was added and then its recovery was analyzed </a:t>
            </a:r>
            <a:endParaRPr lang="en-IN" sz="2400" dirty="0"/>
          </a:p>
        </p:txBody>
      </p:sp>
      <p:graphicFrame>
        <p:nvGraphicFramePr>
          <p:cNvPr id="6" name="Table 5"/>
          <p:cNvGraphicFramePr>
            <a:graphicFrameLocks noGrp="1"/>
          </p:cNvGraphicFramePr>
          <p:nvPr>
            <p:extLst>
              <p:ext uri="{D42A27DB-BD31-4B8C-83A1-F6EECF244321}">
                <p14:modId xmlns:p14="http://schemas.microsoft.com/office/powerpoint/2010/main" val="2962026689"/>
              </p:ext>
            </p:extLst>
          </p:nvPr>
        </p:nvGraphicFramePr>
        <p:xfrm>
          <a:off x="914400" y="1416313"/>
          <a:ext cx="11051178" cy="1889760"/>
        </p:xfrm>
        <a:graphic>
          <a:graphicData uri="http://schemas.openxmlformats.org/drawingml/2006/table">
            <a:tbl>
              <a:tblPr firstRow="1" bandRow="1">
                <a:tableStyleId>{5C22544A-7EE6-4342-B048-85BDC9FD1C3A}</a:tableStyleId>
              </a:tblPr>
              <a:tblGrid>
                <a:gridCol w="849086">
                  <a:extLst>
                    <a:ext uri="{9D8B030D-6E8A-4147-A177-3AD203B41FA5}">
                      <a16:colId xmlns:a16="http://schemas.microsoft.com/office/drawing/2014/main" val="130501079"/>
                    </a:ext>
                  </a:extLst>
                </a:gridCol>
                <a:gridCol w="953588">
                  <a:extLst>
                    <a:ext uri="{9D8B030D-6E8A-4147-A177-3AD203B41FA5}">
                      <a16:colId xmlns:a16="http://schemas.microsoft.com/office/drawing/2014/main" val="651472246"/>
                    </a:ext>
                  </a:extLst>
                </a:gridCol>
                <a:gridCol w="1580606">
                  <a:extLst>
                    <a:ext uri="{9D8B030D-6E8A-4147-A177-3AD203B41FA5}">
                      <a16:colId xmlns:a16="http://schemas.microsoft.com/office/drawing/2014/main" val="29680637"/>
                    </a:ext>
                  </a:extLst>
                </a:gridCol>
                <a:gridCol w="1645920">
                  <a:extLst>
                    <a:ext uri="{9D8B030D-6E8A-4147-A177-3AD203B41FA5}">
                      <a16:colId xmlns:a16="http://schemas.microsoft.com/office/drawing/2014/main" val="3289958366"/>
                    </a:ext>
                  </a:extLst>
                </a:gridCol>
                <a:gridCol w="2129246">
                  <a:extLst>
                    <a:ext uri="{9D8B030D-6E8A-4147-A177-3AD203B41FA5}">
                      <a16:colId xmlns:a16="http://schemas.microsoft.com/office/drawing/2014/main" val="2767994723"/>
                    </a:ext>
                  </a:extLst>
                </a:gridCol>
                <a:gridCol w="2129245">
                  <a:extLst>
                    <a:ext uri="{9D8B030D-6E8A-4147-A177-3AD203B41FA5}">
                      <a16:colId xmlns:a16="http://schemas.microsoft.com/office/drawing/2014/main" val="57611070"/>
                    </a:ext>
                  </a:extLst>
                </a:gridCol>
                <a:gridCol w="1763487">
                  <a:extLst>
                    <a:ext uri="{9D8B030D-6E8A-4147-A177-3AD203B41FA5}">
                      <a16:colId xmlns:a16="http://schemas.microsoft.com/office/drawing/2014/main" val="892018975"/>
                    </a:ext>
                  </a:extLst>
                </a:gridCol>
              </a:tblGrid>
              <a:tr h="370840">
                <a:tc>
                  <a:txBody>
                    <a:bodyPr/>
                    <a:lstStyle/>
                    <a:p>
                      <a:r>
                        <a:rPr lang="en-US" sz="2000" dirty="0">
                          <a:latin typeface="Times New Roman" panose="02020603050405020304" pitchFamily="18" charset="0"/>
                          <a:cs typeface="Times New Roman" panose="02020603050405020304" pitchFamily="18" charset="0"/>
                        </a:rPr>
                        <a:t>Sr no.</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Level</a:t>
                      </a:r>
                    </a:p>
                    <a:p>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Amt.</a:t>
                      </a:r>
                      <a:r>
                        <a:rPr lang="en-US" sz="2000" baseline="0" dirty="0">
                          <a:latin typeface="Times New Roman" panose="02020603050405020304" pitchFamily="18" charset="0"/>
                          <a:cs typeface="Times New Roman" panose="02020603050405020304" pitchFamily="18" charset="0"/>
                        </a:rPr>
                        <a:t> taken</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Amt. added</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Area mean *±S.D</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err="1">
                          <a:latin typeface="Times New Roman" panose="02020603050405020304" pitchFamily="18" charset="0"/>
                          <a:cs typeface="Times New Roman" panose="02020603050405020304" pitchFamily="18" charset="0"/>
                        </a:rPr>
                        <a:t>Amt</a:t>
                      </a:r>
                      <a:r>
                        <a:rPr lang="en-US" sz="2000" baseline="0" dirty="0">
                          <a:latin typeface="Times New Roman" panose="02020603050405020304" pitchFamily="18" charset="0"/>
                          <a:cs typeface="Times New Roman" panose="02020603050405020304" pitchFamily="18" charset="0"/>
                        </a:rPr>
                        <a:t> recovered mean*</a:t>
                      </a:r>
                      <a:r>
                        <a:rPr lang="en-US" sz="2000" dirty="0">
                          <a:latin typeface="Times New Roman" panose="02020603050405020304" pitchFamily="18" charset="0"/>
                          <a:cs typeface="Times New Roman" panose="02020603050405020304" pitchFamily="18" charset="0"/>
                        </a:rPr>
                        <a:t>±S.D</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 Recovery</a:t>
                      </a:r>
                      <a:r>
                        <a:rPr lang="en-US" sz="2000" baseline="0" dirty="0">
                          <a:latin typeface="Times New Roman" panose="02020603050405020304" pitchFamily="18" charset="0"/>
                          <a:cs typeface="Times New Roman" panose="02020603050405020304" pitchFamily="18" charset="0"/>
                        </a:rPr>
                        <a:t> mean* </a:t>
                      </a:r>
                      <a:r>
                        <a:rPr lang="en-US" sz="2000" dirty="0">
                          <a:latin typeface="Times New Roman" panose="02020603050405020304" pitchFamily="18" charset="0"/>
                          <a:cs typeface="Times New Roman" panose="02020603050405020304" pitchFamily="18" charset="0"/>
                        </a:rPr>
                        <a:t>± </a:t>
                      </a:r>
                      <a:r>
                        <a:rPr lang="en-US" sz="2000" baseline="0" dirty="0">
                          <a:latin typeface="Times New Roman" panose="02020603050405020304" pitchFamily="18" charset="0"/>
                          <a:cs typeface="Times New Roman" panose="02020603050405020304" pitchFamily="18" charset="0"/>
                        </a:rPr>
                        <a:t>S.D</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81068855"/>
                  </a:ext>
                </a:extLst>
              </a:tr>
              <a:tr h="370840">
                <a:tc>
                  <a:txBody>
                    <a:bodyPr/>
                    <a:lstStyle/>
                    <a:p>
                      <a:r>
                        <a:rPr lang="en-US" sz="2000" dirty="0">
                          <a:latin typeface="Times New Roman" panose="02020603050405020304" pitchFamily="18" charset="0"/>
                          <a:cs typeface="Times New Roman" panose="02020603050405020304" pitchFamily="18" charset="0"/>
                        </a:rPr>
                        <a:t>1.</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80%</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5</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4</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kern="1200" dirty="0">
                          <a:solidFill>
                            <a:schemeClr val="dk1"/>
                          </a:solidFill>
                          <a:effectLst/>
                          <a:latin typeface="Times New Roman" panose="02020603050405020304" pitchFamily="18" charset="0"/>
                          <a:ea typeface="+mn-ea"/>
                          <a:cs typeface="Times New Roman" panose="02020603050405020304" pitchFamily="18" charset="0"/>
                        </a:rPr>
                        <a:t>8.98</a:t>
                      </a:r>
                      <a:r>
                        <a:rPr lang="en-US" sz="2000" b="1" kern="1200" dirty="0">
                          <a:solidFill>
                            <a:schemeClr val="dk1"/>
                          </a:solidFill>
                          <a:effectLst/>
                          <a:latin typeface="Times New Roman" panose="02020603050405020304" pitchFamily="18" charset="0"/>
                          <a:ea typeface="+mn-ea"/>
                          <a:cs typeface="Times New Roman" panose="02020603050405020304" pitchFamily="18" charset="0"/>
                        </a:rPr>
                        <a:t>±</a:t>
                      </a:r>
                      <a:r>
                        <a:rPr lang="en-US" sz="2000" kern="1200" dirty="0">
                          <a:solidFill>
                            <a:schemeClr val="dk1"/>
                          </a:solidFill>
                          <a:effectLst/>
                          <a:latin typeface="Times New Roman" panose="02020603050405020304" pitchFamily="18" charset="0"/>
                          <a:ea typeface="+mn-ea"/>
                          <a:cs typeface="Times New Roman" panose="02020603050405020304" pitchFamily="18" charset="0"/>
                        </a:rPr>
                        <a:t>0.05</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kern="1200" dirty="0">
                          <a:solidFill>
                            <a:schemeClr val="dk1"/>
                          </a:solidFill>
                          <a:effectLst/>
                          <a:latin typeface="Times New Roman" panose="02020603050405020304" pitchFamily="18" charset="0"/>
                          <a:ea typeface="+mn-ea"/>
                          <a:cs typeface="Times New Roman" panose="02020603050405020304" pitchFamily="18" charset="0"/>
                        </a:rPr>
                        <a:t>3.9</a:t>
                      </a:r>
                      <a:r>
                        <a:rPr lang="en-US" sz="2000" b="1" kern="1200" dirty="0">
                          <a:solidFill>
                            <a:schemeClr val="dk1"/>
                          </a:solidFill>
                          <a:effectLst/>
                          <a:latin typeface="Times New Roman" panose="02020603050405020304" pitchFamily="18" charset="0"/>
                          <a:ea typeface="+mn-ea"/>
                          <a:cs typeface="Times New Roman" panose="02020603050405020304" pitchFamily="18" charset="0"/>
                        </a:rPr>
                        <a:t>±</a:t>
                      </a:r>
                      <a:r>
                        <a:rPr lang="en-US" sz="2000" kern="1200" dirty="0">
                          <a:solidFill>
                            <a:schemeClr val="dk1"/>
                          </a:solidFill>
                          <a:effectLst/>
                          <a:latin typeface="Times New Roman" panose="02020603050405020304" pitchFamily="18" charset="0"/>
                          <a:ea typeface="+mn-ea"/>
                          <a:cs typeface="Times New Roman" panose="02020603050405020304" pitchFamily="18" charset="0"/>
                        </a:rPr>
                        <a:t>0.051</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kern="1200" dirty="0">
                          <a:solidFill>
                            <a:schemeClr val="dk1"/>
                          </a:solidFill>
                          <a:effectLst/>
                          <a:latin typeface="Times New Roman" panose="02020603050405020304" pitchFamily="18" charset="0"/>
                          <a:ea typeface="+mn-ea"/>
                          <a:cs typeface="Times New Roman" panose="02020603050405020304" pitchFamily="18" charset="0"/>
                        </a:rPr>
                        <a:t>99.59</a:t>
                      </a:r>
                      <a:r>
                        <a:rPr lang="en-US" sz="2000" b="1" kern="1200" dirty="0">
                          <a:solidFill>
                            <a:schemeClr val="dk1"/>
                          </a:solidFill>
                          <a:effectLst/>
                          <a:latin typeface="Times New Roman" panose="02020603050405020304" pitchFamily="18" charset="0"/>
                          <a:ea typeface="+mn-ea"/>
                          <a:cs typeface="Times New Roman" panose="02020603050405020304" pitchFamily="18" charset="0"/>
                        </a:rPr>
                        <a:t>±</a:t>
                      </a:r>
                      <a:r>
                        <a:rPr lang="en-US" sz="2000" kern="1200" dirty="0">
                          <a:solidFill>
                            <a:schemeClr val="dk1"/>
                          </a:solidFill>
                          <a:effectLst/>
                          <a:latin typeface="Times New Roman" panose="02020603050405020304" pitchFamily="18" charset="0"/>
                          <a:ea typeface="+mn-ea"/>
                          <a:cs typeface="Times New Roman" panose="02020603050405020304" pitchFamily="18" charset="0"/>
                        </a:rPr>
                        <a:t>1.28</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83419424"/>
                  </a:ext>
                </a:extLst>
              </a:tr>
              <a:tr h="370840">
                <a:tc>
                  <a:txBody>
                    <a:bodyPr/>
                    <a:lstStyle/>
                    <a:p>
                      <a:r>
                        <a:rPr lang="en-US" sz="2000" dirty="0">
                          <a:latin typeface="Times New Roman" panose="02020603050405020304" pitchFamily="18" charset="0"/>
                          <a:cs typeface="Times New Roman" panose="02020603050405020304" pitchFamily="18" charset="0"/>
                        </a:rPr>
                        <a:t>2.</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100%</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5</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5</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kern="1200" dirty="0">
                          <a:solidFill>
                            <a:schemeClr val="dk1"/>
                          </a:solidFill>
                          <a:effectLst/>
                          <a:latin typeface="Times New Roman" panose="02020603050405020304" pitchFamily="18" charset="0"/>
                          <a:ea typeface="+mn-ea"/>
                          <a:cs typeface="Times New Roman" panose="02020603050405020304" pitchFamily="18" charset="0"/>
                        </a:rPr>
                        <a:t>9.97</a:t>
                      </a:r>
                      <a:r>
                        <a:rPr lang="en-US" sz="2000" b="1" kern="1200" dirty="0">
                          <a:solidFill>
                            <a:schemeClr val="dk1"/>
                          </a:solidFill>
                          <a:effectLst/>
                          <a:latin typeface="Times New Roman" panose="02020603050405020304" pitchFamily="18" charset="0"/>
                          <a:ea typeface="+mn-ea"/>
                          <a:cs typeface="Times New Roman" panose="02020603050405020304" pitchFamily="18" charset="0"/>
                        </a:rPr>
                        <a:t>±</a:t>
                      </a:r>
                      <a:r>
                        <a:rPr lang="en-US" sz="2000" kern="1200" dirty="0">
                          <a:solidFill>
                            <a:schemeClr val="dk1"/>
                          </a:solidFill>
                          <a:effectLst/>
                          <a:latin typeface="Times New Roman" panose="02020603050405020304" pitchFamily="18" charset="0"/>
                          <a:ea typeface="+mn-ea"/>
                          <a:cs typeface="Times New Roman" panose="02020603050405020304" pitchFamily="18" charset="0"/>
                        </a:rPr>
                        <a:t>0.030</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kern="1200" dirty="0">
                          <a:solidFill>
                            <a:schemeClr val="dk1"/>
                          </a:solidFill>
                          <a:effectLst/>
                          <a:latin typeface="Times New Roman" panose="02020603050405020304" pitchFamily="18" charset="0"/>
                          <a:ea typeface="+mn-ea"/>
                          <a:cs typeface="Times New Roman" panose="02020603050405020304" pitchFamily="18" charset="0"/>
                        </a:rPr>
                        <a:t>4.97</a:t>
                      </a:r>
                      <a:r>
                        <a:rPr lang="en-US" sz="2000" b="1" kern="1200" dirty="0">
                          <a:solidFill>
                            <a:schemeClr val="dk1"/>
                          </a:solidFill>
                          <a:effectLst/>
                          <a:latin typeface="Times New Roman" panose="02020603050405020304" pitchFamily="18" charset="0"/>
                          <a:ea typeface="+mn-ea"/>
                          <a:cs typeface="Times New Roman" panose="02020603050405020304" pitchFamily="18" charset="0"/>
                        </a:rPr>
                        <a:t>±</a:t>
                      </a:r>
                      <a:r>
                        <a:rPr lang="en-US" sz="2000" kern="1200" dirty="0">
                          <a:solidFill>
                            <a:schemeClr val="dk1"/>
                          </a:solidFill>
                          <a:effectLst/>
                          <a:latin typeface="Times New Roman" panose="02020603050405020304" pitchFamily="18" charset="0"/>
                          <a:ea typeface="+mn-ea"/>
                          <a:cs typeface="Times New Roman" panose="02020603050405020304" pitchFamily="18" charset="0"/>
                        </a:rPr>
                        <a:t>0.030</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99.45 </a:t>
                      </a:r>
                      <a:r>
                        <a:rPr lang="en-US" sz="2000" b="1" kern="1200" dirty="0">
                          <a:solidFill>
                            <a:schemeClr val="dk1"/>
                          </a:solidFill>
                          <a:effectLst/>
                          <a:latin typeface="Times New Roman" panose="02020603050405020304" pitchFamily="18" charset="0"/>
                          <a:ea typeface="+mn-ea"/>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0.60</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21811817"/>
                  </a:ext>
                </a:extLst>
              </a:tr>
              <a:tr h="370840">
                <a:tc>
                  <a:txBody>
                    <a:bodyPr/>
                    <a:lstStyle/>
                    <a:p>
                      <a:r>
                        <a:rPr lang="en-US" sz="2000" dirty="0">
                          <a:latin typeface="Times New Roman" panose="02020603050405020304" pitchFamily="18" charset="0"/>
                          <a:cs typeface="Times New Roman" panose="02020603050405020304" pitchFamily="18" charset="0"/>
                        </a:rPr>
                        <a:t>3.</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120%</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5</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6</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kern="1200" dirty="0">
                          <a:solidFill>
                            <a:schemeClr val="dk1"/>
                          </a:solidFill>
                          <a:effectLst/>
                          <a:latin typeface="Times New Roman" panose="02020603050405020304" pitchFamily="18" charset="0"/>
                          <a:ea typeface="+mn-ea"/>
                          <a:cs typeface="Times New Roman" panose="02020603050405020304" pitchFamily="18" charset="0"/>
                        </a:rPr>
                        <a:t>11.0</a:t>
                      </a:r>
                      <a:r>
                        <a:rPr lang="en-US" sz="2000" b="1" kern="1200" dirty="0">
                          <a:solidFill>
                            <a:schemeClr val="dk1"/>
                          </a:solidFill>
                          <a:effectLst/>
                          <a:latin typeface="Times New Roman" panose="02020603050405020304" pitchFamily="18" charset="0"/>
                          <a:ea typeface="+mn-ea"/>
                          <a:cs typeface="Times New Roman" panose="02020603050405020304" pitchFamily="18" charset="0"/>
                        </a:rPr>
                        <a:t>±</a:t>
                      </a:r>
                      <a:r>
                        <a:rPr lang="en-US" sz="2000" kern="1200" dirty="0">
                          <a:solidFill>
                            <a:schemeClr val="dk1"/>
                          </a:solidFill>
                          <a:effectLst/>
                          <a:latin typeface="Times New Roman" panose="02020603050405020304" pitchFamily="18" charset="0"/>
                          <a:ea typeface="+mn-ea"/>
                          <a:cs typeface="Times New Roman" panose="02020603050405020304" pitchFamily="18" charset="0"/>
                        </a:rPr>
                        <a:t>0.078</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kern="1200" dirty="0">
                          <a:solidFill>
                            <a:schemeClr val="dk1"/>
                          </a:solidFill>
                          <a:effectLst/>
                          <a:latin typeface="Times New Roman" panose="02020603050405020304" pitchFamily="18" charset="0"/>
                          <a:ea typeface="+mn-ea"/>
                          <a:cs typeface="Times New Roman" panose="02020603050405020304" pitchFamily="18" charset="0"/>
                        </a:rPr>
                        <a:t>6.03</a:t>
                      </a:r>
                      <a:r>
                        <a:rPr lang="en-US" sz="2000" b="1" kern="1200" dirty="0">
                          <a:solidFill>
                            <a:schemeClr val="dk1"/>
                          </a:solidFill>
                          <a:effectLst/>
                          <a:latin typeface="Times New Roman" panose="02020603050405020304" pitchFamily="18" charset="0"/>
                          <a:ea typeface="+mn-ea"/>
                          <a:cs typeface="Times New Roman" panose="02020603050405020304" pitchFamily="18" charset="0"/>
                        </a:rPr>
                        <a:t>±</a:t>
                      </a:r>
                      <a:r>
                        <a:rPr lang="en-US" sz="2000" kern="1200" dirty="0">
                          <a:solidFill>
                            <a:schemeClr val="dk1"/>
                          </a:solidFill>
                          <a:effectLst/>
                          <a:latin typeface="Times New Roman" panose="02020603050405020304" pitchFamily="18" charset="0"/>
                          <a:ea typeface="+mn-ea"/>
                          <a:cs typeface="Times New Roman" panose="02020603050405020304" pitchFamily="18" charset="0"/>
                        </a:rPr>
                        <a:t>0.078</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baseline="0" dirty="0"/>
                        <a:t> </a:t>
                      </a:r>
                      <a:r>
                        <a:rPr lang="en-US" sz="2000" baseline="0" dirty="0">
                          <a:latin typeface="Times New Roman" panose="02020603050405020304" pitchFamily="18" charset="0"/>
                          <a:cs typeface="Times New Roman" panose="02020603050405020304" pitchFamily="18" charset="0"/>
                        </a:rPr>
                        <a:t>100.5 </a:t>
                      </a:r>
                      <a:r>
                        <a:rPr lang="en-US" sz="2000" b="1" kern="1200" dirty="0">
                          <a:solidFill>
                            <a:schemeClr val="dk1"/>
                          </a:solidFill>
                          <a:effectLst/>
                          <a:latin typeface="Times New Roman" panose="02020603050405020304" pitchFamily="18" charset="0"/>
                          <a:ea typeface="+mn-ea"/>
                          <a:cs typeface="Times New Roman" panose="02020603050405020304" pitchFamily="18" charset="0"/>
                        </a:rPr>
                        <a:t>±</a:t>
                      </a:r>
                      <a:r>
                        <a:rPr lang="en-US" sz="2000" baseline="0" dirty="0">
                          <a:latin typeface="Times New Roman" panose="02020603050405020304" pitchFamily="18" charset="0"/>
                          <a:cs typeface="Times New Roman" panose="02020603050405020304" pitchFamily="18" charset="0"/>
                        </a:rPr>
                        <a:t>1.31</a:t>
                      </a:r>
                      <a:endParaRPr lang="en-IN" dirty="0">
                        <a:latin typeface="Times New Roman" panose="02020603050405020304" pitchFamily="18" charset="0"/>
                        <a:cs typeface="Times New Roman" panose="02020603050405020304" pitchFamily="18" charset="0"/>
                      </a:endParaRPr>
                    </a:p>
                  </a:txBody>
                  <a:tcPr marL="6350" marR="6350" marT="0" marB="0"/>
                </a:tc>
                <a:extLst>
                  <a:ext uri="{0D108BD9-81ED-4DB2-BD59-A6C34878D82A}">
                    <a16:rowId xmlns:a16="http://schemas.microsoft.com/office/drawing/2014/main" val="2142031547"/>
                  </a:ext>
                </a:extLst>
              </a:tr>
            </a:tbl>
          </a:graphicData>
        </a:graphic>
      </p:graphicFrame>
      <p:sp>
        <p:nvSpPr>
          <p:cNvPr id="7" name="TextBox 6"/>
          <p:cNvSpPr txBox="1"/>
          <p:nvPr/>
        </p:nvSpPr>
        <p:spPr>
          <a:xfrm>
            <a:off x="1397727" y="3190917"/>
            <a:ext cx="9300753" cy="400110"/>
          </a:xfrm>
          <a:prstGeom prst="rect">
            <a:avLst/>
          </a:prstGeom>
          <a:noFill/>
        </p:spPr>
        <p:txBody>
          <a:bodyPr wrap="square" rtlCol="0">
            <a:spAutoFit/>
          </a:bodyPr>
          <a:lstStyle/>
          <a:p>
            <a:pPr algn="ctr"/>
            <a:r>
              <a:rPr lang="en-US" sz="2000" b="1" u="sng" dirty="0">
                <a:latin typeface="Times New Roman" panose="02020603050405020304" pitchFamily="18" charset="0"/>
                <a:cs typeface="Times New Roman" panose="02020603050405020304" pitchFamily="18" charset="0"/>
              </a:rPr>
              <a:t>Result of recovery data for MBG</a:t>
            </a:r>
            <a:endParaRPr lang="en-IN" sz="2000" b="1" u="sng" dirty="0">
              <a:latin typeface="Times New Roman" panose="02020603050405020304" pitchFamily="18" charset="0"/>
              <a:cs typeface="Times New Roman" panose="02020603050405020304" pitchFamily="18" charset="0"/>
            </a:endParaRPr>
          </a:p>
        </p:txBody>
      </p:sp>
      <p:pic>
        <p:nvPicPr>
          <p:cNvPr id="8" name="Image 147"/>
          <p:cNvPicPr/>
          <p:nvPr/>
        </p:nvPicPr>
        <p:blipFill>
          <a:blip r:embed="rId2" cstate="print"/>
          <a:stretch>
            <a:fillRect/>
          </a:stretch>
        </p:blipFill>
        <p:spPr>
          <a:xfrm>
            <a:off x="1397727" y="4024336"/>
            <a:ext cx="5225142" cy="272093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9" name="TextBox 8"/>
          <p:cNvSpPr txBox="1"/>
          <p:nvPr/>
        </p:nvSpPr>
        <p:spPr>
          <a:xfrm>
            <a:off x="2313200" y="3599174"/>
            <a:ext cx="5146765" cy="400110"/>
          </a:xfrm>
          <a:prstGeom prst="rect">
            <a:avLst/>
          </a:prstGeom>
          <a:noFill/>
        </p:spPr>
        <p:txBody>
          <a:bodyPr wrap="square" rtlCol="0">
            <a:spAutoFit/>
          </a:bodyPr>
          <a:lstStyle/>
          <a:p>
            <a:r>
              <a:rPr lang="en-US" sz="2000" b="1" u="sng" dirty="0">
                <a:latin typeface="Times New Roman" panose="02020603050405020304" pitchFamily="18" charset="0"/>
                <a:cs typeface="Times New Roman" panose="02020603050405020304" pitchFamily="18" charset="0"/>
              </a:rPr>
              <a:t>Overlay of Accuracy(</a:t>
            </a:r>
            <a:r>
              <a:rPr lang="en-IN" sz="2000" b="1" u="sng" dirty="0">
                <a:latin typeface="Times New Roman" panose="02020603050405020304" pitchFamily="18" charset="0"/>
                <a:cs typeface="Times New Roman" panose="02020603050405020304" pitchFamily="18" charset="0"/>
              </a:rPr>
              <a:t>5-25mcg)</a:t>
            </a:r>
          </a:p>
        </p:txBody>
      </p:sp>
      <p:graphicFrame>
        <p:nvGraphicFramePr>
          <p:cNvPr id="11" name="Diagram 10"/>
          <p:cNvGraphicFramePr/>
          <p:nvPr>
            <p:extLst>
              <p:ext uri="{D42A27DB-BD31-4B8C-83A1-F6EECF244321}">
                <p14:modId xmlns:p14="http://schemas.microsoft.com/office/powerpoint/2010/main" val="1852052236"/>
              </p:ext>
            </p:extLst>
          </p:nvPr>
        </p:nvGraphicFramePr>
        <p:xfrm>
          <a:off x="6753497" y="4925743"/>
          <a:ext cx="5212081" cy="83099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46736000"/>
      </p:ext>
    </p:extLst>
  </p:cSld>
  <p:clrMapOvr>
    <a:masterClrMapping/>
  </p:clrMapOvr>
  <p:transition>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80190" y="145302"/>
            <a:ext cx="10515600" cy="1569660"/>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3. Repeatability:</a:t>
            </a:r>
          </a:p>
          <a:p>
            <a:r>
              <a:rPr lang="en-US" sz="2400" dirty="0">
                <a:latin typeface="Times New Roman" panose="02020603050405020304" pitchFamily="18" charset="0"/>
                <a:cs typeface="Times New Roman" panose="02020603050405020304" pitchFamily="18" charset="0"/>
              </a:rPr>
              <a:t>To ascertain the resolution and reproducibility of the proposed chromatographic system for estimation of Mirabegron system suitability parameters were studied.</a:t>
            </a:r>
          </a:p>
          <a:p>
            <a:endParaRPr lang="en-IN" sz="2400" dirty="0">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1470520478"/>
              </p:ext>
            </p:extLst>
          </p:nvPr>
        </p:nvGraphicFramePr>
        <p:xfrm>
          <a:off x="1254931" y="1915378"/>
          <a:ext cx="10345782" cy="3078480"/>
        </p:xfrm>
        <a:graphic>
          <a:graphicData uri="http://schemas.openxmlformats.org/drawingml/2006/table">
            <a:tbl>
              <a:tblPr firstRow="1" bandRow="1">
                <a:tableStyleId>{21E4AEA4-8DFA-4A89-87EB-49C32662AFE0}</a:tableStyleId>
              </a:tblPr>
              <a:tblGrid>
                <a:gridCol w="1187918">
                  <a:extLst>
                    <a:ext uri="{9D8B030D-6E8A-4147-A177-3AD203B41FA5}">
                      <a16:colId xmlns:a16="http://schemas.microsoft.com/office/drawing/2014/main" val="3031538436"/>
                    </a:ext>
                  </a:extLst>
                </a:gridCol>
                <a:gridCol w="2211411">
                  <a:extLst>
                    <a:ext uri="{9D8B030D-6E8A-4147-A177-3AD203B41FA5}">
                      <a16:colId xmlns:a16="http://schemas.microsoft.com/office/drawing/2014/main" val="3831535581"/>
                    </a:ext>
                  </a:extLst>
                </a:gridCol>
                <a:gridCol w="2808141">
                  <a:extLst>
                    <a:ext uri="{9D8B030D-6E8A-4147-A177-3AD203B41FA5}">
                      <a16:colId xmlns:a16="http://schemas.microsoft.com/office/drawing/2014/main" val="3404983341"/>
                    </a:ext>
                  </a:extLst>
                </a:gridCol>
                <a:gridCol w="2069156">
                  <a:extLst>
                    <a:ext uri="{9D8B030D-6E8A-4147-A177-3AD203B41FA5}">
                      <a16:colId xmlns:a16="http://schemas.microsoft.com/office/drawing/2014/main" val="3532555654"/>
                    </a:ext>
                  </a:extLst>
                </a:gridCol>
                <a:gridCol w="2069156">
                  <a:extLst>
                    <a:ext uri="{9D8B030D-6E8A-4147-A177-3AD203B41FA5}">
                      <a16:colId xmlns:a16="http://schemas.microsoft.com/office/drawing/2014/main" val="4139028652"/>
                    </a:ext>
                  </a:extLst>
                </a:gridCol>
              </a:tblGrid>
              <a:tr h="594667">
                <a:tc>
                  <a:txBody>
                    <a:bodyPr/>
                    <a:lstStyle/>
                    <a:p>
                      <a:r>
                        <a:rPr lang="en-US" sz="2000" b="0" dirty="0">
                          <a:latin typeface="Times New Roman" panose="02020603050405020304" pitchFamily="18" charset="0"/>
                          <a:cs typeface="Times New Roman" panose="02020603050405020304" pitchFamily="18" charset="0"/>
                        </a:rPr>
                        <a:t>Sr no</a:t>
                      </a:r>
                      <a:endParaRPr lang="en-IN" sz="2000" b="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Conc.</a:t>
                      </a:r>
                      <a:r>
                        <a:rPr lang="en-US" sz="2000" baseline="0" dirty="0">
                          <a:latin typeface="Times New Roman" panose="02020603050405020304" pitchFamily="18" charset="0"/>
                          <a:cs typeface="Times New Roman" panose="02020603050405020304" pitchFamily="18" charset="0"/>
                        </a:rPr>
                        <a:t> of MBG(mg/ml)</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Peak area</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Amt.</a:t>
                      </a:r>
                      <a:r>
                        <a:rPr lang="en-US" sz="2000" baseline="0" dirty="0">
                          <a:latin typeface="Times New Roman" panose="02020603050405020304" pitchFamily="18" charset="0"/>
                          <a:cs typeface="Times New Roman" panose="02020603050405020304" pitchFamily="18" charset="0"/>
                        </a:rPr>
                        <a:t> found(mg)</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 Amt. found</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23080967"/>
                  </a:ext>
                </a:extLst>
              </a:tr>
              <a:tr h="336116">
                <a:tc>
                  <a:txBody>
                    <a:bodyPr/>
                    <a:lstStyle/>
                    <a:p>
                      <a:r>
                        <a:rPr lang="en-US" sz="2000" dirty="0">
                          <a:latin typeface="Times New Roman" panose="02020603050405020304" pitchFamily="18" charset="0"/>
                          <a:cs typeface="Times New Roman" panose="02020603050405020304" pitchFamily="18" charset="0"/>
                        </a:rPr>
                        <a:t>1.</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15</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800.87</a:t>
                      </a:r>
                      <a:endParaRPr lang="en-IN" sz="2000" dirty="0">
                        <a:latin typeface="Times New Roman" panose="02020603050405020304" pitchFamily="18" charset="0"/>
                        <a:cs typeface="Times New Roman" panose="02020603050405020304" pitchFamily="18" charset="0"/>
                      </a:endParaRPr>
                    </a:p>
                  </a:txBody>
                  <a:tcPr/>
                </a:tc>
                <a:tc rowSpan="3">
                  <a:txBody>
                    <a:bodyPr/>
                    <a:lstStyle/>
                    <a:p>
                      <a:pPr algn="ctr"/>
                      <a:r>
                        <a:rPr lang="en-US" sz="2000" dirty="0">
                          <a:latin typeface="Times New Roman" panose="02020603050405020304" pitchFamily="18" charset="0"/>
                          <a:cs typeface="Times New Roman" panose="02020603050405020304" pitchFamily="18" charset="0"/>
                        </a:rPr>
                        <a:t>800.77</a:t>
                      </a:r>
                      <a:endParaRPr lang="en-IN" sz="2000" dirty="0">
                        <a:latin typeface="Times New Roman" panose="02020603050405020304" pitchFamily="18" charset="0"/>
                        <a:cs typeface="Times New Roman" panose="02020603050405020304" pitchFamily="18" charset="0"/>
                      </a:endParaRPr>
                    </a:p>
                  </a:txBody>
                  <a:tcPr/>
                </a:tc>
                <a:tc rowSpan="3">
                  <a:txBody>
                    <a:bodyPr/>
                    <a:lstStyle/>
                    <a:p>
                      <a:r>
                        <a:rPr lang="en-US" sz="2000" dirty="0">
                          <a:latin typeface="Times New Roman" panose="02020603050405020304" pitchFamily="18" charset="0"/>
                          <a:cs typeface="Times New Roman" panose="02020603050405020304" pitchFamily="18" charset="0"/>
                        </a:rPr>
                        <a:t>98.30</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2269771"/>
                  </a:ext>
                </a:extLst>
              </a:tr>
              <a:tr h="336116">
                <a:tc>
                  <a:txBody>
                    <a:bodyPr/>
                    <a:lstStyle/>
                    <a:p>
                      <a:r>
                        <a:rPr lang="en-US" sz="2000" dirty="0">
                          <a:latin typeface="Times New Roman" panose="02020603050405020304" pitchFamily="18" charset="0"/>
                          <a:cs typeface="Times New Roman" panose="02020603050405020304" pitchFamily="18" charset="0"/>
                        </a:rPr>
                        <a:t>2.</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15</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800.66</a:t>
                      </a:r>
                      <a:endParaRPr lang="en-IN" sz="2000" dirty="0">
                        <a:latin typeface="Times New Roman" panose="02020603050405020304" pitchFamily="18" charset="0"/>
                        <a:cs typeface="Times New Roman" panose="02020603050405020304" pitchFamily="18" charset="0"/>
                      </a:endParaRPr>
                    </a:p>
                  </a:txBody>
                  <a:tcPr/>
                </a:tc>
                <a:tc vMerge="1">
                  <a:txBody>
                    <a:bodyPr/>
                    <a:lstStyle/>
                    <a:p>
                      <a:endParaRPr lang="en-IN" dirty="0"/>
                    </a:p>
                  </a:txBody>
                  <a:tcPr/>
                </a:tc>
                <a:tc vMerge="1">
                  <a:txBody>
                    <a:bodyPr/>
                    <a:lstStyle/>
                    <a:p>
                      <a:endParaRPr lang="en-IN" dirty="0"/>
                    </a:p>
                  </a:txBody>
                  <a:tcPr/>
                </a:tc>
                <a:extLst>
                  <a:ext uri="{0D108BD9-81ED-4DB2-BD59-A6C34878D82A}">
                    <a16:rowId xmlns:a16="http://schemas.microsoft.com/office/drawing/2014/main" val="1813206451"/>
                  </a:ext>
                </a:extLst>
              </a:tr>
              <a:tr h="336116">
                <a:tc>
                  <a:txBody>
                    <a:bodyPr/>
                    <a:lstStyle/>
                    <a:p>
                      <a:r>
                        <a:rPr lang="en-US" sz="2000" dirty="0">
                          <a:latin typeface="Times New Roman" panose="02020603050405020304" pitchFamily="18" charset="0"/>
                          <a:cs typeface="Times New Roman" panose="02020603050405020304" pitchFamily="18" charset="0"/>
                        </a:rPr>
                        <a:t>3.</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15</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801.868</a:t>
                      </a:r>
                      <a:endParaRPr lang="en-IN" sz="2000" dirty="0">
                        <a:latin typeface="Times New Roman" panose="02020603050405020304" pitchFamily="18" charset="0"/>
                        <a:cs typeface="Times New Roman" panose="02020603050405020304" pitchFamily="18" charset="0"/>
                      </a:endParaRPr>
                    </a:p>
                  </a:txBody>
                  <a:tcPr/>
                </a:tc>
                <a:tc vMerge="1">
                  <a:txBody>
                    <a:bodyPr/>
                    <a:lstStyle/>
                    <a:p>
                      <a:endParaRPr lang="en-IN" dirty="0"/>
                    </a:p>
                  </a:txBody>
                  <a:tcPr/>
                </a:tc>
                <a:tc vMerge="1">
                  <a:txBody>
                    <a:bodyPr/>
                    <a:lstStyle/>
                    <a:p>
                      <a:endParaRPr lang="en-IN" dirty="0"/>
                    </a:p>
                  </a:txBody>
                  <a:tcPr/>
                </a:tc>
                <a:extLst>
                  <a:ext uri="{0D108BD9-81ED-4DB2-BD59-A6C34878D82A}">
                    <a16:rowId xmlns:a16="http://schemas.microsoft.com/office/drawing/2014/main" val="2251132677"/>
                  </a:ext>
                </a:extLst>
              </a:tr>
              <a:tr h="336116">
                <a:tc>
                  <a:txBody>
                    <a:bodyPr/>
                    <a:lstStyle/>
                    <a:p>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b="1" dirty="0">
                          <a:latin typeface="Times New Roman" panose="02020603050405020304" pitchFamily="18" charset="0"/>
                          <a:cs typeface="Times New Roman" panose="02020603050405020304" pitchFamily="18" charset="0"/>
                        </a:rPr>
                        <a:t>Mean</a:t>
                      </a:r>
                      <a:endParaRPr lang="en-IN" sz="2000" b="1"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14.75</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100.32</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34826629"/>
                  </a:ext>
                </a:extLst>
              </a:tr>
              <a:tr h="336116">
                <a:tc>
                  <a:txBody>
                    <a:bodyPr/>
                    <a:lstStyle/>
                    <a:p>
                      <a:endParaRPr lang="en-IN" sz="2000">
                        <a:latin typeface="Times New Roman" panose="02020603050405020304" pitchFamily="18" charset="0"/>
                        <a:cs typeface="Times New Roman" panose="02020603050405020304" pitchFamily="18" charset="0"/>
                      </a:endParaRPr>
                    </a:p>
                  </a:txBody>
                  <a:tcPr/>
                </a:tc>
                <a:tc>
                  <a:txBody>
                    <a:bodyPr/>
                    <a:lstStyle/>
                    <a:p>
                      <a:endParaRPr lang="en-IN" sz="2000">
                        <a:latin typeface="Times New Roman" panose="02020603050405020304" pitchFamily="18" charset="0"/>
                        <a:cs typeface="Times New Roman" panose="02020603050405020304" pitchFamily="18" charset="0"/>
                      </a:endParaRPr>
                    </a:p>
                  </a:txBody>
                  <a:tcPr/>
                </a:tc>
                <a:tc>
                  <a:txBody>
                    <a:bodyPr/>
                    <a:lstStyle/>
                    <a:p>
                      <a:r>
                        <a:rPr lang="en-US" sz="2000" b="1" dirty="0">
                          <a:latin typeface="Times New Roman" panose="02020603050405020304" pitchFamily="18" charset="0"/>
                          <a:cs typeface="Times New Roman" panose="02020603050405020304" pitchFamily="18" charset="0"/>
                        </a:rPr>
                        <a:t>SD</a:t>
                      </a:r>
                      <a:endParaRPr lang="en-IN" sz="2000" b="1"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0.15</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0.15</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48033044"/>
                  </a:ext>
                </a:extLst>
              </a:tr>
              <a:tr h="336116">
                <a:tc>
                  <a:txBody>
                    <a:bodyPr/>
                    <a:lstStyle/>
                    <a:p>
                      <a:endParaRPr lang="en-IN" sz="2000">
                        <a:latin typeface="Times New Roman" panose="02020603050405020304" pitchFamily="18" charset="0"/>
                        <a:cs typeface="Times New Roman" panose="02020603050405020304" pitchFamily="18" charset="0"/>
                      </a:endParaRPr>
                    </a:p>
                  </a:txBody>
                  <a:tcPr/>
                </a:tc>
                <a:tc>
                  <a:txBody>
                    <a:bodyPr/>
                    <a:lstStyle/>
                    <a:p>
                      <a:endParaRPr lang="en-IN" sz="2000">
                        <a:latin typeface="Times New Roman" panose="02020603050405020304" pitchFamily="18" charset="0"/>
                        <a:cs typeface="Times New Roman" panose="02020603050405020304" pitchFamily="18" charset="0"/>
                      </a:endParaRPr>
                    </a:p>
                  </a:txBody>
                  <a:tcPr/>
                </a:tc>
                <a:tc>
                  <a:txBody>
                    <a:bodyPr/>
                    <a:lstStyle/>
                    <a:p>
                      <a:r>
                        <a:rPr lang="en-US" sz="2000" b="1" dirty="0">
                          <a:latin typeface="Times New Roman" panose="02020603050405020304" pitchFamily="18" charset="0"/>
                          <a:cs typeface="Times New Roman" panose="02020603050405020304" pitchFamily="18" charset="0"/>
                        </a:rPr>
                        <a:t>%RSD</a:t>
                      </a:r>
                      <a:endParaRPr lang="en-IN" sz="2000" b="1"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0.02</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0.02</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10149130"/>
                  </a:ext>
                </a:extLst>
              </a:tr>
            </a:tbl>
          </a:graphicData>
        </a:graphic>
      </p:graphicFrame>
      <p:graphicFrame>
        <p:nvGraphicFramePr>
          <p:cNvPr id="8" name="Diagram 7"/>
          <p:cNvGraphicFramePr/>
          <p:nvPr>
            <p:extLst>
              <p:ext uri="{D42A27DB-BD31-4B8C-83A1-F6EECF244321}">
                <p14:modId xmlns:p14="http://schemas.microsoft.com/office/powerpoint/2010/main" val="801836283"/>
              </p:ext>
            </p:extLst>
          </p:nvPr>
        </p:nvGraphicFramePr>
        <p:xfrm>
          <a:off x="1242404" y="5105608"/>
          <a:ext cx="10345783" cy="12003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25094747"/>
      </p:ext>
    </p:extLst>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67543" y="169817"/>
            <a:ext cx="10228217" cy="1200329"/>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4. Precision:</a:t>
            </a:r>
          </a:p>
          <a:p>
            <a:r>
              <a:rPr lang="en-US" sz="2400" dirty="0">
                <a:latin typeface="Times New Roman" panose="02020603050405020304" pitchFamily="18" charset="0"/>
                <a:cs typeface="Times New Roman" panose="02020603050405020304" pitchFamily="18" charset="0"/>
              </a:rPr>
              <a:t>All the solution was analyzed thrice in order to record any intra-day &amp; inter-day variation in the result that concluded.</a:t>
            </a:r>
            <a:endParaRPr lang="en-IN" sz="2400" dirty="0">
              <a:latin typeface="Times New Roman" panose="02020603050405020304" pitchFamily="18" charset="0"/>
              <a:cs typeface="Times New Roman" panose="02020603050405020304"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val="663552684"/>
              </p:ext>
            </p:extLst>
          </p:nvPr>
        </p:nvGraphicFramePr>
        <p:xfrm>
          <a:off x="1306285" y="1397728"/>
          <a:ext cx="10489472" cy="2573380"/>
        </p:xfrm>
        <a:graphic>
          <a:graphicData uri="http://schemas.openxmlformats.org/drawingml/2006/table">
            <a:tbl>
              <a:tblPr firstRow="1" bandRow="1">
                <a:tableStyleId>{21E4AEA4-8DFA-4A89-87EB-49C32662AFE0}</a:tableStyleId>
              </a:tblPr>
              <a:tblGrid>
                <a:gridCol w="1211825">
                  <a:extLst>
                    <a:ext uri="{9D8B030D-6E8A-4147-A177-3AD203B41FA5}">
                      <a16:colId xmlns:a16="http://schemas.microsoft.com/office/drawing/2014/main" val="1759405194"/>
                    </a:ext>
                  </a:extLst>
                </a:gridCol>
                <a:gridCol w="1785167">
                  <a:extLst>
                    <a:ext uri="{9D8B030D-6E8A-4147-A177-3AD203B41FA5}">
                      <a16:colId xmlns:a16="http://schemas.microsoft.com/office/drawing/2014/main" val="2698424199"/>
                    </a:ext>
                  </a:extLst>
                </a:gridCol>
                <a:gridCol w="1498496">
                  <a:extLst>
                    <a:ext uri="{9D8B030D-6E8A-4147-A177-3AD203B41FA5}">
                      <a16:colId xmlns:a16="http://schemas.microsoft.com/office/drawing/2014/main" val="1248966741"/>
                    </a:ext>
                  </a:extLst>
                </a:gridCol>
                <a:gridCol w="1016371">
                  <a:extLst>
                    <a:ext uri="{9D8B030D-6E8A-4147-A177-3AD203B41FA5}">
                      <a16:colId xmlns:a16="http://schemas.microsoft.com/office/drawing/2014/main" val="3698309201"/>
                    </a:ext>
                  </a:extLst>
                </a:gridCol>
                <a:gridCol w="1980621">
                  <a:extLst>
                    <a:ext uri="{9D8B030D-6E8A-4147-A177-3AD203B41FA5}">
                      <a16:colId xmlns:a16="http://schemas.microsoft.com/office/drawing/2014/main" val="825740379"/>
                    </a:ext>
                  </a:extLst>
                </a:gridCol>
                <a:gridCol w="1498496">
                  <a:extLst>
                    <a:ext uri="{9D8B030D-6E8A-4147-A177-3AD203B41FA5}">
                      <a16:colId xmlns:a16="http://schemas.microsoft.com/office/drawing/2014/main" val="3158021794"/>
                    </a:ext>
                  </a:extLst>
                </a:gridCol>
                <a:gridCol w="1498496">
                  <a:extLst>
                    <a:ext uri="{9D8B030D-6E8A-4147-A177-3AD203B41FA5}">
                      <a16:colId xmlns:a16="http://schemas.microsoft.com/office/drawing/2014/main" val="200635297"/>
                    </a:ext>
                  </a:extLst>
                </a:gridCol>
              </a:tblGrid>
              <a:tr h="449418">
                <a:tc rowSpan="2">
                  <a:txBody>
                    <a:bodyPr/>
                    <a:lstStyle/>
                    <a:p>
                      <a:r>
                        <a:rPr lang="en-US" sz="2000" dirty="0">
                          <a:latin typeface="Times New Roman" panose="02020603050405020304" pitchFamily="18" charset="0"/>
                          <a:cs typeface="Times New Roman" panose="02020603050405020304" pitchFamily="18" charset="0"/>
                        </a:rPr>
                        <a:t>Conc. (µg/ml)</a:t>
                      </a:r>
                      <a:endParaRPr lang="en-IN" sz="2000" dirty="0">
                        <a:latin typeface="Times New Roman" panose="02020603050405020304" pitchFamily="18" charset="0"/>
                        <a:cs typeface="Times New Roman" panose="02020603050405020304" pitchFamily="18" charset="0"/>
                      </a:endParaRPr>
                    </a:p>
                  </a:txBody>
                  <a:tcPr/>
                </a:tc>
                <a:tc gridSpan="3">
                  <a:txBody>
                    <a:bodyPr/>
                    <a:lstStyle/>
                    <a:p>
                      <a:pPr algn="ctr"/>
                      <a:r>
                        <a:rPr lang="en-US" sz="2000" dirty="0">
                          <a:latin typeface="Times New Roman" panose="02020603050405020304" pitchFamily="18" charset="0"/>
                          <a:cs typeface="Times New Roman" panose="02020603050405020304" pitchFamily="18" charset="0"/>
                        </a:rPr>
                        <a:t>Intra-day precision</a:t>
                      </a:r>
                      <a:endParaRPr lang="en-IN" sz="2000" dirty="0">
                        <a:latin typeface="Times New Roman" panose="02020603050405020304" pitchFamily="18" charset="0"/>
                        <a:cs typeface="Times New Roman" panose="02020603050405020304" pitchFamily="18" charset="0"/>
                      </a:endParaRPr>
                    </a:p>
                  </a:txBody>
                  <a:tcPr/>
                </a:tc>
                <a:tc hMerge="1">
                  <a:txBody>
                    <a:bodyPr/>
                    <a:lstStyle/>
                    <a:p>
                      <a:endParaRPr lang="en-IN" dirty="0"/>
                    </a:p>
                  </a:txBody>
                  <a:tcPr/>
                </a:tc>
                <a:tc hMerge="1">
                  <a:txBody>
                    <a:bodyPr/>
                    <a:lstStyle/>
                    <a:p>
                      <a:endParaRPr lang="en-IN" dirty="0"/>
                    </a:p>
                  </a:txBody>
                  <a:tcPr/>
                </a:tc>
                <a:tc gridSpan="3">
                  <a:txBody>
                    <a:bodyPr/>
                    <a:lstStyle/>
                    <a:p>
                      <a:r>
                        <a:rPr lang="en-US" sz="2000" dirty="0">
                          <a:latin typeface="Times New Roman" panose="02020603050405020304" pitchFamily="18" charset="0"/>
                          <a:cs typeface="Times New Roman" panose="02020603050405020304" pitchFamily="18" charset="0"/>
                        </a:rPr>
                        <a:t>Inter-day</a:t>
                      </a:r>
                      <a:r>
                        <a:rPr lang="en-US" sz="2000" baseline="0" dirty="0">
                          <a:latin typeface="Times New Roman" panose="02020603050405020304" pitchFamily="18" charset="0"/>
                          <a:cs typeface="Times New Roman" panose="02020603050405020304" pitchFamily="18" charset="0"/>
                        </a:rPr>
                        <a:t> precision</a:t>
                      </a:r>
                      <a:endParaRPr lang="en-IN" sz="2000" dirty="0">
                        <a:latin typeface="Times New Roman" panose="02020603050405020304" pitchFamily="18" charset="0"/>
                        <a:cs typeface="Times New Roman" panose="02020603050405020304" pitchFamily="18" charset="0"/>
                      </a:endParaRPr>
                    </a:p>
                  </a:txBody>
                  <a:tcPr/>
                </a:tc>
                <a:tc hMerge="1">
                  <a:txBody>
                    <a:bodyPr/>
                    <a:lstStyle/>
                    <a:p>
                      <a:endParaRPr lang="en-IN" dirty="0"/>
                    </a:p>
                  </a:txBody>
                  <a:tcPr/>
                </a:tc>
                <a:tc hMerge="1">
                  <a:txBody>
                    <a:bodyPr/>
                    <a:lstStyle/>
                    <a:p>
                      <a:endParaRPr lang="en-IN" dirty="0"/>
                    </a:p>
                  </a:txBody>
                  <a:tcPr/>
                </a:tc>
                <a:extLst>
                  <a:ext uri="{0D108BD9-81ED-4DB2-BD59-A6C34878D82A}">
                    <a16:rowId xmlns:a16="http://schemas.microsoft.com/office/drawing/2014/main" val="1871919579"/>
                  </a:ext>
                </a:extLst>
              </a:tr>
              <a:tr h="775708">
                <a:tc vMerge="1">
                  <a:txBody>
                    <a:bodyPr/>
                    <a:lstStyle/>
                    <a:p>
                      <a:endParaRPr lang="en-IN" dirty="0"/>
                    </a:p>
                  </a:txBody>
                  <a:tcPr/>
                </a:tc>
                <a:tc>
                  <a:txBody>
                    <a:bodyPr/>
                    <a:lstStyle/>
                    <a:p>
                      <a:r>
                        <a:rPr lang="en-US" sz="2000" dirty="0">
                          <a:latin typeface="Times New Roman" panose="02020603050405020304" pitchFamily="18" charset="0"/>
                          <a:cs typeface="Times New Roman" panose="02020603050405020304" pitchFamily="18" charset="0"/>
                        </a:rPr>
                        <a:t>Mean</a:t>
                      </a:r>
                      <a:r>
                        <a:rPr lang="en-IN" sz="2000" dirty="0">
                          <a:latin typeface="Times New Roman" panose="02020603050405020304" pitchFamily="18" charset="0"/>
                          <a:cs typeface="Times New Roman" panose="02020603050405020304" pitchFamily="18" charset="0"/>
                        </a:rPr>
                        <a:t>±SD</a:t>
                      </a:r>
                    </a:p>
                  </a:txBody>
                  <a:tcPr/>
                </a:tc>
                <a:tc>
                  <a:txBody>
                    <a:bodyPr/>
                    <a:lstStyle/>
                    <a:p>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Amt</a:t>
                      </a:r>
                      <a:r>
                        <a:rPr lang="en-US" sz="2000" dirty="0">
                          <a:latin typeface="Times New Roman" panose="02020603050405020304" pitchFamily="18" charset="0"/>
                          <a:cs typeface="Times New Roman" panose="02020603050405020304" pitchFamily="18" charset="0"/>
                        </a:rPr>
                        <a:t> Found </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%RSD</a:t>
                      </a:r>
                      <a:endParaRPr lang="en-IN" sz="2000" dirty="0">
                        <a:latin typeface="Times New Roman" panose="02020603050405020304" pitchFamily="18" charset="0"/>
                        <a:cs typeface="Times New Roman" panose="02020603050405020304" pitchFamily="18"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Mean</a:t>
                      </a:r>
                      <a:r>
                        <a:rPr lang="en-IN" sz="2000" dirty="0">
                          <a:latin typeface="Times New Roman" panose="02020603050405020304" pitchFamily="18" charset="0"/>
                          <a:cs typeface="Times New Roman" panose="02020603050405020304" pitchFamily="18" charset="0"/>
                        </a:rPr>
                        <a:t>±SD</a:t>
                      </a:r>
                    </a:p>
                    <a:p>
                      <a:endParaRPr lang="en-IN" sz="2000" dirty="0">
                        <a:latin typeface="Times New Roman" panose="02020603050405020304" pitchFamily="18" charset="0"/>
                        <a:cs typeface="Times New Roman" panose="02020603050405020304" pitchFamily="18"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Mean</a:t>
                      </a:r>
                      <a:r>
                        <a:rPr lang="en-IN" sz="2000" dirty="0">
                          <a:latin typeface="Times New Roman" panose="02020603050405020304" pitchFamily="18" charset="0"/>
                          <a:cs typeface="Times New Roman" panose="02020603050405020304" pitchFamily="18" charset="0"/>
                        </a:rPr>
                        <a:t>±SD</a:t>
                      </a:r>
                    </a:p>
                    <a:p>
                      <a:endParaRPr lang="en-IN" sz="2000" dirty="0">
                        <a:latin typeface="Times New Roman" panose="02020603050405020304" pitchFamily="18" charset="0"/>
                        <a:cs typeface="Times New Roman" panose="02020603050405020304" pitchFamily="18"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%RSD</a:t>
                      </a:r>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88206300"/>
                  </a:ext>
                </a:extLst>
              </a:tr>
              <a:tr h="449418">
                <a:tc>
                  <a:txBody>
                    <a:bodyPr/>
                    <a:lstStyle/>
                    <a:p>
                      <a:r>
                        <a:rPr lang="en-US" sz="2000" dirty="0">
                          <a:latin typeface="Times New Roman" panose="02020603050405020304" pitchFamily="18" charset="0"/>
                          <a:cs typeface="Times New Roman" panose="02020603050405020304" pitchFamily="18" charset="0"/>
                        </a:rPr>
                        <a:t>10</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597.17</a:t>
                      </a:r>
                      <a:r>
                        <a:rPr lang="en-IN" sz="2000"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0.03</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101.85</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0.00</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595.88 </a:t>
                      </a:r>
                      <a:r>
                        <a:rPr lang="en-IN" sz="2000"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1.08</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101.56</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0.18</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39555895"/>
                  </a:ext>
                </a:extLst>
              </a:tr>
              <a:tr h="449418">
                <a:tc>
                  <a:txBody>
                    <a:bodyPr/>
                    <a:lstStyle/>
                    <a:p>
                      <a:r>
                        <a:rPr lang="en-US" sz="2000" dirty="0">
                          <a:latin typeface="Times New Roman" panose="02020603050405020304" pitchFamily="18" charset="0"/>
                          <a:cs typeface="Times New Roman" panose="02020603050405020304" pitchFamily="18" charset="0"/>
                        </a:rPr>
                        <a:t>15</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798.73</a:t>
                      </a:r>
                      <a:r>
                        <a:rPr lang="en-IN" sz="2000"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0.06</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98.00</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0.06</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804.94 </a:t>
                      </a:r>
                      <a:r>
                        <a:rPr lang="en-IN" sz="2000"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1.44</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98.92</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0.18</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95019210"/>
                  </a:ext>
                </a:extLst>
              </a:tr>
              <a:tr h="449418">
                <a:tc>
                  <a:txBody>
                    <a:bodyPr/>
                    <a:lstStyle/>
                    <a:p>
                      <a:r>
                        <a:rPr lang="en-US" sz="2000" dirty="0">
                          <a:latin typeface="Times New Roman" panose="02020603050405020304" pitchFamily="18" charset="0"/>
                          <a:cs typeface="Times New Roman" panose="02020603050405020304" pitchFamily="18" charset="0"/>
                        </a:rPr>
                        <a:t>20</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1029.33 </a:t>
                      </a:r>
                      <a:r>
                        <a:rPr lang="en-IN" sz="2000"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0.18</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99.32</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0.18</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1032.44</a:t>
                      </a:r>
                      <a:r>
                        <a:rPr lang="en-IN" sz="2000"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1.44</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99.67</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0.18</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47385163"/>
                  </a:ext>
                </a:extLst>
              </a:tr>
            </a:tbl>
          </a:graphicData>
        </a:graphic>
      </p:graphicFrame>
      <p:graphicFrame>
        <p:nvGraphicFramePr>
          <p:cNvPr id="8" name="Diagram 7"/>
          <p:cNvGraphicFramePr/>
          <p:nvPr>
            <p:extLst>
              <p:ext uri="{D42A27DB-BD31-4B8C-83A1-F6EECF244321}">
                <p14:modId xmlns:p14="http://schemas.microsoft.com/office/powerpoint/2010/main" val="2485884133"/>
              </p:ext>
            </p:extLst>
          </p:nvPr>
        </p:nvGraphicFramePr>
        <p:xfrm>
          <a:off x="1436914" y="3998690"/>
          <a:ext cx="10228214" cy="12003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p:cNvSpPr txBox="1"/>
          <p:nvPr/>
        </p:nvSpPr>
        <p:spPr>
          <a:xfrm>
            <a:off x="1567543" y="4838614"/>
            <a:ext cx="10228214" cy="2308324"/>
          </a:xfrm>
          <a:prstGeom prst="rect">
            <a:avLst/>
          </a:prstGeom>
          <a:noFill/>
        </p:spPr>
        <p:txBody>
          <a:bodyPr wrap="square" rtlCol="0">
            <a:spAutoFit/>
          </a:bodyPr>
          <a:lstStyle/>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5. Robustness:</a:t>
            </a:r>
          </a:p>
          <a:p>
            <a:r>
              <a:rPr lang="en-US" sz="2400" dirty="0">
                <a:latin typeface="Times New Roman" panose="02020603050405020304" pitchFamily="18" charset="0"/>
                <a:cs typeface="Times New Roman" panose="02020603050405020304" pitchFamily="18" charset="0"/>
              </a:rPr>
              <a:t>To evaluate it small but deliberate variations in the </a:t>
            </a:r>
            <a:r>
              <a:rPr lang="en-US" sz="2400" dirty="0" err="1">
                <a:latin typeface="Times New Roman" panose="02020603050405020304" pitchFamily="18" charset="0"/>
                <a:cs typeface="Times New Roman" panose="02020603050405020304" pitchFamily="18" charset="0"/>
              </a:rPr>
              <a:t>optimizsed</a:t>
            </a:r>
            <a:r>
              <a:rPr lang="en-US" sz="2400" dirty="0">
                <a:latin typeface="Times New Roman" panose="02020603050405020304" pitchFamily="18" charset="0"/>
                <a:cs typeface="Times New Roman" panose="02020603050405020304" pitchFamily="18" charset="0"/>
              </a:rPr>
              <a:t> methods parameters where done. The effect of changes in mobile phase composition and flow rate, wavelength on retention time and tailing factor of drug peak was seen.</a:t>
            </a:r>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932097"/>
      </p:ext>
    </p:extLst>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2993144406"/>
              </p:ext>
            </p:extLst>
          </p:nvPr>
        </p:nvGraphicFramePr>
        <p:xfrm>
          <a:off x="1440494" y="125260"/>
          <a:ext cx="9610149" cy="3250478"/>
        </p:xfrm>
        <a:graphic>
          <a:graphicData uri="http://schemas.openxmlformats.org/drawingml/2006/table">
            <a:tbl>
              <a:tblPr firstRow="1" bandRow="1">
                <a:tableStyleId>{21E4AEA4-8DFA-4A89-87EB-49C32662AFE0}</a:tableStyleId>
              </a:tblPr>
              <a:tblGrid>
                <a:gridCol w="3300787">
                  <a:extLst>
                    <a:ext uri="{9D8B030D-6E8A-4147-A177-3AD203B41FA5}">
                      <a16:colId xmlns:a16="http://schemas.microsoft.com/office/drawing/2014/main" val="1989449964"/>
                    </a:ext>
                  </a:extLst>
                </a:gridCol>
                <a:gridCol w="2651760">
                  <a:extLst>
                    <a:ext uri="{9D8B030D-6E8A-4147-A177-3AD203B41FA5}">
                      <a16:colId xmlns:a16="http://schemas.microsoft.com/office/drawing/2014/main" val="3939139121"/>
                    </a:ext>
                  </a:extLst>
                </a:gridCol>
                <a:gridCol w="2246812">
                  <a:extLst>
                    <a:ext uri="{9D8B030D-6E8A-4147-A177-3AD203B41FA5}">
                      <a16:colId xmlns:a16="http://schemas.microsoft.com/office/drawing/2014/main" val="3364079715"/>
                    </a:ext>
                  </a:extLst>
                </a:gridCol>
                <a:gridCol w="1410790">
                  <a:extLst>
                    <a:ext uri="{9D8B030D-6E8A-4147-A177-3AD203B41FA5}">
                      <a16:colId xmlns:a16="http://schemas.microsoft.com/office/drawing/2014/main" val="1634396365"/>
                    </a:ext>
                  </a:extLst>
                </a:gridCol>
              </a:tblGrid>
              <a:tr h="415291">
                <a:tc>
                  <a:txBody>
                    <a:bodyPr/>
                    <a:lstStyle/>
                    <a:p>
                      <a:r>
                        <a:rPr lang="en-US" sz="2000" dirty="0">
                          <a:latin typeface="Times New Roman" panose="02020603050405020304" pitchFamily="18" charset="0"/>
                          <a:cs typeface="Times New Roman" panose="02020603050405020304" pitchFamily="18" charset="0"/>
                        </a:rPr>
                        <a:t>Parameters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Conc. (µg/ml)</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Amt.  detected</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%RSD</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60072684"/>
                  </a:ext>
                </a:extLst>
              </a:tr>
              <a:tr h="472983">
                <a:tc>
                  <a:txBody>
                    <a:bodyPr/>
                    <a:lstStyle/>
                    <a:p>
                      <a:r>
                        <a:rPr lang="en-US" sz="2000" dirty="0">
                          <a:latin typeface="Times New Roman" panose="02020603050405020304" pitchFamily="18" charset="0"/>
                          <a:cs typeface="Times New Roman" panose="02020603050405020304" pitchFamily="18" charset="0"/>
                        </a:rPr>
                        <a:t>Mobile phase</a:t>
                      </a:r>
                      <a:r>
                        <a:rPr lang="en-US" sz="2000" baseline="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54ml+46ml</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15</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801.68 </a:t>
                      </a:r>
                      <a:r>
                        <a:rPr lang="en-IN" sz="2000" dirty="0">
                          <a:latin typeface="Times New Roman" panose="02020603050405020304" pitchFamily="18" charset="0"/>
                          <a:cs typeface="Times New Roman" panose="02020603050405020304" pitchFamily="18" charset="0"/>
                        </a:rPr>
                        <a:t>± </a:t>
                      </a:r>
                      <a:r>
                        <a:rPr lang="en-US" sz="2000" baseline="0" dirty="0">
                          <a:latin typeface="Times New Roman" panose="02020603050405020304" pitchFamily="18" charset="0"/>
                          <a:cs typeface="Times New Roman" panose="02020603050405020304" pitchFamily="18" charset="0"/>
                        </a:rPr>
                        <a:t>0.98</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0.12</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47262176"/>
                  </a:ext>
                </a:extLst>
              </a:tr>
              <a:tr h="522515">
                <a:tc>
                  <a:txBody>
                    <a:bodyPr/>
                    <a:lstStyle/>
                    <a:p>
                      <a:r>
                        <a:rPr lang="en-US" sz="2000" dirty="0">
                          <a:latin typeface="Times New Roman" panose="02020603050405020304" pitchFamily="18" charset="0"/>
                          <a:cs typeface="Times New Roman" panose="02020603050405020304" pitchFamily="18" charset="0"/>
                        </a:rPr>
                        <a:t>Mobile phase</a:t>
                      </a:r>
                      <a:r>
                        <a:rPr lang="en-US" sz="2000" baseline="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55ml+45ml</a:t>
                      </a:r>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15</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kern="1200" dirty="0">
                          <a:effectLst/>
                          <a:latin typeface="Times New Roman" panose="02020603050405020304" pitchFamily="18" charset="0"/>
                          <a:cs typeface="Times New Roman" panose="02020603050405020304" pitchFamily="18" charset="0"/>
                        </a:rPr>
                        <a:t>803.7±2.02</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0.25</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98869319"/>
                  </a:ext>
                </a:extLst>
              </a:tr>
              <a:tr h="415291">
                <a:tc>
                  <a:txBody>
                    <a:bodyPr/>
                    <a:lstStyle/>
                    <a:p>
                      <a:r>
                        <a:rPr lang="en-US" sz="2000" dirty="0">
                          <a:latin typeface="Times New Roman" panose="02020603050405020304" pitchFamily="18" charset="0"/>
                          <a:cs typeface="Times New Roman" panose="02020603050405020304" pitchFamily="18" charset="0"/>
                        </a:rPr>
                        <a:t>253 nm</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15</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kern="1200" dirty="0">
                          <a:effectLst/>
                          <a:latin typeface="Times New Roman" panose="02020603050405020304" pitchFamily="18" charset="0"/>
                          <a:cs typeface="Times New Roman" panose="02020603050405020304" pitchFamily="18" charset="0"/>
                        </a:rPr>
                        <a:t>747.5±1.44</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0.19</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23883576"/>
                  </a:ext>
                </a:extLst>
              </a:tr>
              <a:tr h="415291">
                <a:tc>
                  <a:txBody>
                    <a:bodyPr/>
                    <a:lstStyle/>
                    <a:p>
                      <a:r>
                        <a:rPr lang="en-US" sz="2000" dirty="0">
                          <a:latin typeface="Times New Roman" panose="02020603050405020304" pitchFamily="18" charset="0"/>
                          <a:cs typeface="Times New Roman" panose="02020603050405020304" pitchFamily="18" charset="0"/>
                        </a:rPr>
                        <a:t>254 nm</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15</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kern="1200" dirty="0">
                          <a:effectLst/>
                          <a:latin typeface="Times New Roman" panose="02020603050405020304" pitchFamily="18" charset="0"/>
                          <a:cs typeface="Times New Roman" panose="02020603050405020304" pitchFamily="18" charset="0"/>
                        </a:rPr>
                        <a:t>864.89±1.70</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0.20</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10416596"/>
                  </a:ext>
                </a:extLst>
              </a:tr>
              <a:tr h="415291">
                <a:tc>
                  <a:txBody>
                    <a:bodyPr/>
                    <a:lstStyle/>
                    <a:p>
                      <a:r>
                        <a:rPr lang="en-US" sz="2000" dirty="0">
                          <a:latin typeface="Times New Roman" panose="02020603050405020304" pitchFamily="18" charset="0"/>
                          <a:cs typeface="Times New Roman" panose="02020603050405020304" pitchFamily="18" charset="0"/>
                        </a:rPr>
                        <a:t>Flow rate</a:t>
                      </a:r>
                      <a:r>
                        <a:rPr lang="en-US" sz="2000" baseline="0" dirty="0">
                          <a:latin typeface="Times New Roman" panose="02020603050405020304" pitchFamily="18" charset="0"/>
                          <a:cs typeface="Times New Roman" panose="02020603050405020304" pitchFamily="18" charset="0"/>
                        </a:rPr>
                        <a:t> 0.6ml</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15</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kern="1200" dirty="0">
                          <a:effectLst/>
                          <a:latin typeface="Times New Roman" panose="02020603050405020304" pitchFamily="18" charset="0"/>
                          <a:cs typeface="Times New Roman" panose="02020603050405020304" pitchFamily="18" charset="0"/>
                        </a:rPr>
                        <a:t>940.23±1.20</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0.13</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64966276"/>
                  </a:ext>
                </a:extLst>
              </a:tr>
              <a:tr h="415291">
                <a:tc>
                  <a:txBody>
                    <a:bodyPr/>
                    <a:lstStyle/>
                    <a:p>
                      <a:r>
                        <a:rPr lang="en-US" sz="2000" dirty="0">
                          <a:latin typeface="Times New Roman" panose="02020603050405020304" pitchFamily="18" charset="0"/>
                          <a:cs typeface="Times New Roman" panose="02020603050405020304" pitchFamily="18" charset="0"/>
                        </a:rPr>
                        <a:t>Flow</a:t>
                      </a:r>
                      <a:r>
                        <a:rPr lang="en-US" sz="2000" baseline="0" dirty="0">
                          <a:latin typeface="Times New Roman" panose="02020603050405020304" pitchFamily="18" charset="0"/>
                          <a:cs typeface="Times New Roman" panose="02020603050405020304" pitchFamily="18" charset="0"/>
                        </a:rPr>
                        <a:t> rate 0.8ml</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15</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kern="1200" dirty="0">
                          <a:effectLst/>
                          <a:latin typeface="Times New Roman" panose="02020603050405020304" pitchFamily="18" charset="0"/>
                          <a:cs typeface="Times New Roman" panose="02020603050405020304" pitchFamily="18" charset="0"/>
                        </a:rPr>
                        <a:t>702.79±3.46</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0.49</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43463050"/>
                  </a:ext>
                </a:extLst>
              </a:tr>
            </a:tbl>
          </a:graphicData>
        </a:graphic>
      </p:graphicFrame>
      <p:graphicFrame>
        <p:nvGraphicFramePr>
          <p:cNvPr id="5" name="Diagram 4"/>
          <p:cNvGraphicFramePr/>
          <p:nvPr>
            <p:extLst>
              <p:ext uri="{D42A27DB-BD31-4B8C-83A1-F6EECF244321}">
                <p14:modId xmlns:p14="http://schemas.microsoft.com/office/powerpoint/2010/main" val="2135784497"/>
              </p:ext>
            </p:extLst>
          </p:nvPr>
        </p:nvGraphicFramePr>
        <p:xfrm>
          <a:off x="1066264" y="3335322"/>
          <a:ext cx="10611394" cy="12003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p:cNvSpPr txBox="1"/>
          <p:nvPr/>
        </p:nvSpPr>
        <p:spPr>
          <a:xfrm>
            <a:off x="1305034" y="4429027"/>
            <a:ext cx="10332720" cy="1846659"/>
          </a:xfrm>
          <a:prstGeom prst="rect">
            <a:avLst/>
          </a:prstGeom>
          <a:noFill/>
        </p:spPr>
        <p:txBody>
          <a:bodyPr wrap="square" rtlCol="0">
            <a:spAutoFit/>
          </a:bodyPr>
          <a:lstStyle/>
          <a:p>
            <a:endParaRPr lang="en-US" dirty="0"/>
          </a:p>
          <a:p>
            <a:r>
              <a:rPr lang="en-US" sz="2400" b="1" dirty="0">
                <a:latin typeface="Times New Roman" panose="02020603050405020304" pitchFamily="18" charset="0"/>
                <a:cs typeface="Times New Roman" panose="02020603050405020304" pitchFamily="18" charset="0"/>
              </a:rPr>
              <a:t>6. Limit of Detection:</a:t>
            </a:r>
          </a:p>
          <a:p>
            <a:pPr lvl="1"/>
            <a:r>
              <a:rPr lang="en-US" sz="2400" dirty="0">
                <a:latin typeface="Times New Roman" panose="02020603050405020304" pitchFamily="18" charset="0"/>
                <a:cs typeface="Times New Roman" panose="02020603050405020304" pitchFamily="18" charset="0"/>
              </a:rPr>
              <a:t>Lowest limit that can be detected.</a:t>
            </a:r>
          </a:p>
          <a:p>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graphicFrame>
        <p:nvGraphicFramePr>
          <p:cNvPr id="8" name="Diagram 7"/>
          <p:cNvGraphicFramePr/>
          <p:nvPr>
            <p:extLst>
              <p:ext uri="{D42A27DB-BD31-4B8C-83A1-F6EECF244321}">
                <p14:modId xmlns:p14="http://schemas.microsoft.com/office/powerpoint/2010/main" val="2366709584"/>
              </p:ext>
            </p:extLst>
          </p:nvPr>
        </p:nvGraphicFramePr>
        <p:xfrm>
          <a:off x="1946364" y="5695057"/>
          <a:ext cx="10058402" cy="46166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306628384"/>
      </p:ext>
    </p:extLst>
  </p:cSld>
  <p:clrMapOvr>
    <a:masterClrMapping/>
  </p:clrMapOvr>
  <p:transition>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71599" y="248194"/>
            <a:ext cx="10398035" cy="830997"/>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7. Limit of Quantification:</a:t>
            </a:r>
          </a:p>
          <a:p>
            <a:pPr lvl="1"/>
            <a:r>
              <a:rPr lang="en-US" sz="2400" dirty="0">
                <a:latin typeface="Times New Roman" panose="02020603050405020304" pitchFamily="18" charset="0"/>
                <a:cs typeface="Times New Roman" panose="02020603050405020304" pitchFamily="18" charset="0"/>
              </a:rPr>
              <a:t>Lowest concentration that can be quantitatively measured.</a:t>
            </a:r>
            <a:endParaRPr lang="en-IN" sz="2400" dirty="0">
              <a:latin typeface="Times New Roman" panose="02020603050405020304" pitchFamily="18" charset="0"/>
              <a:cs typeface="Times New Roman" panose="02020603050405020304" pitchFamily="18" charset="0"/>
            </a:endParaRPr>
          </a:p>
        </p:txBody>
      </p:sp>
      <p:graphicFrame>
        <p:nvGraphicFramePr>
          <p:cNvPr id="4" name="Diagram 3"/>
          <p:cNvGraphicFramePr/>
          <p:nvPr>
            <p:extLst>
              <p:ext uri="{D42A27DB-BD31-4B8C-83A1-F6EECF244321}">
                <p14:modId xmlns:p14="http://schemas.microsoft.com/office/powerpoint/2010/main" val="1113592236"/>
              </p:ext>
            </p:extLst>
          </p:nvPr>
        </p:nvGraphicFramePr>
        <p:xfrm>
          <a:off x="1737359" y="1403273"/>
          <a:ext cx="9666514" cy="4616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p:cNvSpPr txBox="1"/>
          <p:nvPr/>
        </p:nvSpPr>
        <p:spPr>
          <a:xfrm>
            <a:off x="1371599" y="2086836"/>
            <a:ext cx="9862457" cy="4893647"/>
          </a:xfrm>
          <a:prstGeom prst="rect">
            <a:avLst/>
          </a:prstGeom>
          <a:noFill/>
        </p:spPr>
        <p:txBody>
          <a:bodyPr wrap="square" rtlCol="0">
            <a:spAutoFit/>
          </a:bodyPr>
          <a:lstStyle/>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Analysis of Tablet formulation:</a:t>
            </a:r>
          </a:p>
          <a:p>
            <a:endParaRPr lang="en-US" sz="2400" b="1"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Weigh 20 Mirabegron Tablet and calculate the average weight, accurately weigh and transfer the sample equivalent to 16.89 mg Mirabegron into 10 ml volumetric flask. Add about 10 ml of diluents and sonicate to dissolve it completely and make volume up to the mark with diluent. Mix well and filter through 0.45 µm filter. Further pipette 0.4 ml of the above stock solution into a 10 ml volumetric flask and dilute up to the mark with diluents. (20 µg/ml). The simple chromatogram of test Mirabegron was done and</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the amounts of Mirabegron per Tablet were calculated by extrapolating the value of area from the calibration curve. </a:t>
            </a:r>
            <a:endParaRPr lang="en-IN" sz="2400" dirty="0">
              <a:latin typeface="Times New Roman" panose="02020603050405020304" pitchFamily="18" charset="0"/>
              <a:cs typeface="Times New Roman" panose="02020603050405020304" pitchFamily="18" charset="0"/>
            </a:endParaRPr>
          </a:p>
          <a:p>
            <a:endParaRPr lang="en-US" sz="24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7841397"/>
      </p:ext>
    </p:extLst>
  </p:cSld>
  <p:clrMapOvr>
    <a:masterClrMapping/>
  </p:clrMapOvr>
  <p:transition>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62116" y="337487"/>
            <a:ext cx="10045337" cy="2677656"/>
          </a:xfrm>
          <a:prstGeom prst="rect">
            <a:avLst/>
          </a:prstGeom>
          <a:noFill/>
        </p:spPr>
        <p:txBody>
          <a:bodyPr wrap="square" rtlCol="0">
            <a:spAutoFit/>
          </a:bodyPr>
          <a:lstStyle/>
          <a:p>
            <a:pPr marL="342900" lvl="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Brand Name Mirabegron ER-25(Prevego Health Care)</a:t>
            </a:r>
          </a:p>
          <a:p>
            <a:pPr marL="342900" lvl="0" indent="-342900">
              <a:buFont typeface="Wingdings" panose="05000000000000000000" pitchFamily="2" charset="2"/>
              <a:buChar char="Ø"/>
            </a:pPr>
            <a:endParaRPr lang="en-US" sz="2400" b="1" dirty="0">
              <a:latin typeface="Times New Roman" panose="02020603050405020304" pitchFamily="18" charset="0"/>
              <a:cs typeface="Times New Roman" panose="02020603050405020304" pitchFamily="18" charset="0"/>
            </a:endParaRPr>
          </a:p>
          <a:p>
            <a:pPr lvl="0" algn="ctr"/>
            <a:r>
              <a:rPr lang="en-US" sz="2400" dirty="0">
                <a:latin typeface="Times New Roman" panose="02020603050405020304" pitchFamily="18" charset="0"/>
                <a:cs typeface="Times New Roman" panose="02020603050405020304" pitchFamily="18" charset="0"/>
              </a:rPr>
              <a:t>Total weight of 20 tablets= 16.89 gms</a:t>
            </a:r>
          </a:p>
          <a:p>
            <a:pPr lvl="0" algn="ctr"/>
            <a:r>
              <a:rPr lang="en-US" sz="2400" dirty="0">
                <a:latin typeface="Times New Roman" panose="02020603050405020304" pitchFamily="18" charset="0"/>
                <a:cs typeface="Times New Roman" panose="02020603050405020304" pitchFamily="18" charset="0"/>
              </a:rPr>
              <a:t>Avg. powder wt.= 0.8445 gm/ tab</a:t>
            </a:r>
          </a:p>
          <a:p>
            <a:pPr lvl="0" algn="ctr"/>
            <a:r>
              <a:rPr lang="en-US" sz="2400" dirty="0">
                <a:latin typeface="Times New Roman" panose="02020603050405020304" pitchFamily="18" charset="0"/>
                <a:cs typeface="Times New Roman" panose="02020603050405020304" pitchFamily="18" charset="0"/>
              </a:rPr>
              <a:t>Eq. wt. for 5 mg= 16.89 mg</a:t>
            </a:r>
          </a:p>
          <a:p>
            <a:pPr lvl="0" algn="ctr"/>
            <a:r>
              <a:rPr lang="en-US" sz="2400" dirty="0">
                <a:latin typeface="Times New Roman" panose="02020603050405020304" pitchFamily="18" charset="0"/>
                <a:cs typeface="Times New Roman" panose="02020603050405020304" pitchFamily="18" charset="0"/>
              </a:rPr>
              <a:t>Take 16.89 mgs in 10 ml methanol = 500 µgm/ml</a:t>
            </a:r>
            <a:endParaRPr lang="en-IN"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val="480935335"/>
              </p:ext>
            </p:extLst>
          </p:nvPr>
        </p:nvGraphicFramePr>
        <p:xfrm>
          <a:off x="2458570" y="2984876"/>
          <a:ext cx="8128000" cy="128016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573023057"/>
                    </a:ext>
                  </a:extLst>
                </a:gridCol>
                <a:gridCol w="2032000">
                  <a:extLst>
                    <a:ext uri="{9D8B030D-6E8A-4147-A177-3AD203B41FA5}">
                      <a16:colId xmlns:a16="http://schemas.microsoft.com/office/drawing/2014/main" val="1247938839"/>
                    </a:ext>
                  </a:extLst>
                </a:gridCol>
                <a:gridCol w="2032000">
                  <a:extLst>
                    <a:ext uri="{9D8B030D-6E8A-4147-A177-3AD203B41FA5}">
                      <a16:colId xmlns:a16="http://schemas.microsoft.com/office/drawing/2014/main" val="503845171"/>
                    </a:ext>
                  </a:extLst>
                </a:gridCol>
                <a:gridCol w="2032000">
                  <a:extLst>
                    <a:ext uri="{9D8B030D-6E8A-4147-A177-3AD203B41FA5}">
                      <a16:colId xmlns:a16="http://schemas.microsoft.com/office/drawing/2014/main" val="2476445599"/>
                    </a:ext>
                  </a:extLst>
                </a:gridCol>
              </a:tblGrid>
              <a:tr h="809668">
                <a:tc>
                  <a:txBody>
                    <a:bodyPr/>
                    <a:lstStyle/>
                    <a:p>
                      <a:r>
                        <a:rPr lang="en-US" sz="2400" dirty="0">
                          <a:latin typeface="Times New Roman" panose="02020603050405020304" pitchFamily="18" charset="0"/>
                          <a:cs typeface="Times New Roman" panose="02020603050405020304" pitchFamily="18" charset="0"/>
                        </a:rPr>
                        <a:t>Sample</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Lable claim</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 Lable claimed ± SD</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 RSD</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64103553"/>
                  </a:ext>
                </a:extLst>
              </a:tr>
              <a:tr h="370840">
                <a:tc>
                  <a:txBody>
                    <a:bodyPr/>
                    <a:lstStyle/>
                    <a:p>
                      <a:r>
                        <a:rPr lang="en-US" sz="2400" dirty="0">
                          <a:latin typeface="Times New Roman" panose="02020603050405020304" pitchFamily="18" charset="0"/>
                          <a:cs typeface="Times New Roman" panose="02020603050405020304" pitchFamily="18" charset="0"/>
                        </a:rPr>
                        <a:t>Mirabegron</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25 mg</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kern="1200" dirty="0">
                          <a:solidFill>
                            <a:schemeClr val="dk1"/>
                          </a:solidFill>
                          <a:effectLst/>
                          <a:latin typeface="Times New Roman" panose="02020603050405020304" pitchFamily="18" charset="0"/>
                          <a:ea typeface="+mn-ea"/>
                          <a:cs typeface="Times New Roman" panose="02020603050405020304" pitchFamily="18" charset="0"/>
                        </a:rPr>
                        <a:t>99.41</a:t>
                      </a:r>
                      <a:r>
                        <a:rPr lang="en-US" sz="2400" b="1" kern="1200" dirty="0">
                          <a:solidFill>
                            <a:schemeClr val="dk1"/>
                          </a:solidFill>
                          <a:effectLst/>
                          <a:latin typeface="Times New Roman" panose="02020603050405020304" pitchFamily="18" charset="0"/>
                          <a:ea typeface="+mn-ea"/>
                          <a:cs typeface="Times New Roman" panose="02020603050405020304" pitchFamily="18" charset="0"/>
                        </a:rPr>
                        <a:t>±</a:t>
                      </a:r>
                      <a:r>
                        <a:rPr lang="en-US" sz="2400" kern="1200" dirty="0">
                          <a:solidFill>
                            <a:schemeClr val="dk1"/>
                          </a:solidFill>
                          <a:effectLst/>
                          <a:latin typeface="Times New Roman" panose="02020603050405020304" pitchFamily="18" charset="0"/>
                          <a:ea typeface="+mn-ea"/>
                          <a:cs typeface="Times New Roman" panose="02020603050405020304" pitchFamily="18" charset="0"/>
                        </a:rPr>
                        <a:t>0.071</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kern="1200" dirty="0">
                          <a:solidFill>
                            <a:schemeClr val="dk1"/>
                          </a:solidFill>
                          <a:effectLst/>
                          <a:latin typeface="Times New Roman" panose="02020603050405020304" pitchFamily="18" charset="0"/>
                          <a:ea typeface="+mn-ea"/>
                          <a:cs typeface="Times New Roman" panose="02020603050405020304" pitchFamily="18" charset="0"/>
                        </a:rPr>
                        <a:t>0.072</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24876647"/>
                  </a:ext>
                </a:extLst>
              </a:tr>
            </a:tbl>
          </a:graphicData>
        </a:graphic>
      </p:graphicFrame>
      <p:sp>
        <p:nvSpPr>
          <p:cNvPr id="4" name="TextBox 3"/>
          <p:cNvSpPr txBox="1"/>
          <p:nvPr/>
        </p:nvSpPr>
        <p:spPr>
          <a:xfrm>
            <a:off x="2259874" y="4467497"/>
            <a:ext cx="7001692" cy="461665"/>
          </a:xfrm>
          <a:prstGeom prst="rect">
            <a:avLst/>
          </a:prstGeom>
          <a:noFill/>
        </p:spPr>
        <p:txBody>
          <a:bodyPr wrap="square" rtlCol="0">
            <a:spAutoFit/>
          </a:bodyPr>
          <a:lstStyle/>
          <a:p>
            <a:pPr lvl="4" algn="ctr"/>
            <a:r>
              <a:rPr lang="en-US" sz="2400" b="1" u="sng" dirty="0">
                <a:latin typeface="Times New Roman" panose="02020603050405020304" pitchFamily="18" charset="0"/>
                <a:cs typeface="Times New Roman" panose="02020603050405020304" pitchFamily="18" charset="0"/>
              </a:rPr>
              <a:t>%Lable claim</a:t>
            </a:r>
            <a:endParaRPr lang="en-IN" sz="2400" b="1" u="sng" dirty="0">
              <a:latin typeface="Times New Roman" panose="02020603050405020304" pitchFamily="18" charset="0"/>
              <a:cs typeface="Times New Roman" panose="02020603050405020304" pitchFamily="18" charset="0"/>
            </a:endParaRPr>
          </a:p>
        </p:txBody>
      </p:sp>
      <p:graphicFrame>
        <p:nvGraphicFramePr>
          <p:cNvPr id="6" name="Diagram 5"/>
          <p:cNvGraphicFramePr/>
          <p:nvPr>
            <p:extLst>
              <p:ext uri="{D42A27DB-BD31-4B8C-83A1-F6EECF244321}">
                <p14:modId xmlns:p14="http://schemas.microsoft.com/office/powerpoint/2010/main" val="2325645059"/>
              </p:ext>
            </p:extLst>
          </p:nvPr>
        </p:nvGraphicFramePr>
        <p:xfrm>
          <a:off x="2364377" y="5000465"/>
          <a:ext cx="9261566" cy="9233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39133387"/>
      </p:ext>
    </p:extLst>
  </p:cSld>
  <p:clrMapOvr>
    <a:masterClrMapping/>
  </p:clrMapOvr>
  <p:transition>
    <p:cu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15737" y="209006"/>
            <a:ext cx="9980023" cy="830997"/>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9. Ruggedness:</a:t>
            </a:r>
          </a:p>
          <a:p>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3405949772"/>
              </p:ext>
            </p:extLst>
          </p:nvPr>
        </p:nvGraphicFramePr>
        <p:xfrm>
          <a:off x="2032000" y="1040003"/>
          <a:ext cx="8128000" cy="1493520"/>
        </p:xfrm>
        <a:graphic>
          <a:graphicData uri="http://schemas.openxmlformats.org/drawingml/2006/table">
            <a:tbl>
              <a:tblPr firstRow="1" bandRow="1">
                <a:tableStyleId>{21E4AEA4-8DFA-4A89-87EB-49C32662AFE0}</a:tableStyleId>
              </a:tblPr>
              <a:tblGrid>
                <a:gridCol w="1625600">
                  <a:extLst>
                    <a:ext uri="{9D8B030D-6E8A-4147-A177-3AD203B41FA5}">
                      <a16:colId xmlns:a16="http://schemas.microsoft.com/office/drawing/2014/main" val="4144475310"/>
                    </a:ext>
                  </a:extLst>
                </a:gridCol>
                <a:gridCol w="1625600">
                  <a:extLst>
                    <a:ext uri="{9D8B030D-6E8A-4147-A177-3AD203B41FA5}">
                      <a16:colId xmlns:a16="http://schemas.microsoft.com/office/drawing/2014/main" val="2071391197"/>
                    </a:ext>
                  </a:extLst>
                </a:gridCol>
                <a:gridCol w="1625600">
                  <a:extLst>
                    <a:ext uri="{9D8B030D-6E8A-4147-A177-3AD203B41FA5}">
                      <a16:colId xmlns:a16="http://schemas.microsoft.com/office/drawing/2014/main" val="3986765775"/>
                    </a:ext>
                  </a:extLst>
                </a:gridCol>
                <a:gridCol w="1625600">
                  <a:extLst>
                    <a:ext uri="{9D8B030D-6E8A-4147-A177-3AD203B41FA5}">
                      <a16:colId xmlns:a16="http://schemas.microsoft.com/office/drawing/2014/main" val="4188119796"/>
                    </a:ext>
                  </a:extLst>
                </a:gridCol>
                <a:gridCol w="1625600">
                  <a:extLst>
                    <a:ext uri="{9D8B030D-6E8A-4147-A177-3AD203B41FA5}">
                      <a16:colId xmlns:a16="http://schemas.microsoft.com/office/drawing/2014/main" val="2952381455"/>
                    </a:ext>
                  </a:extLst>
                </a:gridCol>
              </a:tblGrid>
              <a:tr h="370840">
                <a:tc>
                  <a:txBody>
                    <a:bodyPr/>
                    <a:lstStyle/>
                    <a:p>
                      <a:r>
                        <a:rPr lang="en-US" sz="2000" dirty="0">
                          <a:latin typeface="Times New Roman" panose="02020603050405020304" pitchFamily="18" charset="0"/>
                          <a:cs typeface="Times New Roman" panose="02020603050405020304" pitchFamily="18" charset="0"/>
                        </a:rPr>
                        <a:t>Analyst</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RT</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Area</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err="1">
                          <a:latin typeface="Times New Roman" panose="02020603050405020304" pitchFamily="18" charset="0"/>
                          <a:cs typeface="Times New Roman" panose="02020603050405020304" pitchFamily="18" charset="0"/>
                        </a:rPr>
                        <a:t>Therotical</a:t>
                      </a:r>
                      <a:r>
                        <a:rPr lang="en-US" sz="2000" dirty="0">
                          <a:latin typeface="Times New Roman" panose="02020603050405020304" pitchFamily="18" charset="0"/>
                          <a:cs typeface="Times New Roman" panose="02020603050405020304" pitchFamily="18" charset="0"/>
                        </a:rPr>
                        <a:t> plates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Symmetry</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84710964"/>
                  </a:ext>
                </a:extLst>
              </a:tr>
              <a:tr h="370840">
                <a:tc>
                  <a:txBody>
                    <a:bodyPr/>
                    <a:lstStyle/>
                    <a:p>
                      <a:r>
                        <a:rPr lang="en-US" sz="2000" dirty="0">
                          <a:latin typeface="Times New Roman" panose="02020603050405020304" pitchFamily="18" charset="0"/>
                          <a:cs typeface="Times New Roman" panose="02020603050405020304" pitchFamily="18" charset="0"/>
                        </a:rPr>
                        <a:t>1.</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4.455</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593.101</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7818</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0.69</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66358543"/>
                  </a:ext>
                </a:extLst>
              </a:tr>
              <a:tr h="370840">
                <a:tc>
                  <a:txBody>
                    <a:bodyPr/>
                    <a:lstStyle/>
                    <a:p>
                      <a:r>
                        <a:rPr lang="en-US" sz="2000" dirty="0">
                          <a:latin typeface="Times New Roman" panose="02020603050405020304" pitchFamily="18" charset="0"/>
                          <a:cs typeface="Times New Roman" panose="02020603050405020304" pitchFamily="18" charset="0"/>
                        </a:rPr>
                        <a:t>2.</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4.460</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594.11</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7649</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0.62</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49509755"/>
                  </a:ext>
                </a:extLst>
              </a:tr>
            </a:tbl>
          </a:graphicData>
        </a:graphic>
      </p:graphicFrame>
      <p:sp>
        <p:nvSpPr>
          <p:cNvPr id="5" name="TextBox 4"/>
          <p:cNvSpPr txBox="1"/>
          <p:nvPr/>
        </p:nvSpPr>
        <p:spPr>
          <a:xfrm>
            <a:off x="2032000" y="2491248"/>
            <a:ext cx="7602583" cy="461665"/>
          </a:xfrm>
          <a:prstGeom prst="rect">
            <a:avLst/>
          </a:prstGeom>
          <a:noFill/>
        </p:spPr>
        <p:txBody>
          <a:bodyPr wrap="square" rtlCol="0">
            <a:spAutoFit/>
          </a:bodyPr>
          <a:lstStyle/>
          <a:p>
            <a:pPr lvl="5"/>
            <a:r>
              <a:rPr lang="en-US" sz="2400" b="1" u="sng" dirty="0">
                <a:latin typeface="Times New Roman" panose="02020603050405020304" pitchFamily="18" charset="0"/>
                <a:cs typeface="Times New Roman" panose="02020603050405020304" pitchFamily="18" charset="0"/>
              </a:rPr>
              <a:t>Analysis of Ruggedness</a:t>
            </a:r>
            <a:endParaRPr lang="en-IN" sz="2400" b="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2559959"/>
      </p:ext>
    </p:extLst>
  </p:cSld>
  <p:clrMapOvr>
    <a:masterClrMapping/>
  </p:clrMapOvr>
  <p:transition>
    <p:cu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00172" y="865190"/>
            <a:ext cx="9601200" cy="523220"/>
          </a:xfrm>
          <a:prstGeom prst="rect">
            <a:avLst/>
          </a:prstGeom>
          <a:noFill/>
        </p:spPr>
        <p:txBody>
          <a:bodyPr wrap="square" rtlCol="0">
            <a:spAutoFit/>
          </a:bodyPr>
          <a:lstStyle/>
          <a:p>
            <a:pPr algn="ctr"/>
            <a:r>
              <a:rPr lang="en-US" sz="2800" b="1" dirty="0">
                <a:solidFill>
                  <a:schemeClr val="accent1">
                    <a:lumMod val="60000"/>
                    <a:lumOff val="40000"/>
                  </a:schemeClr>
                </a:solidFill>
                <a:latin typeface="Times New Roman" panose="02020603050405020304" pitchFamily="18" charset="0"/>
                <a:cs typeface="Times New Roman" panose="02020603050405020304" pitchFamily="18" charset="0"/>
              </a:rPr>
              <a:t>SUMMARY</a:t>
            </a:r>
            <a:endParaRPr lang="en-IN" sz="2800" b="1" dirty="0">
              <a:solidFill>
                <a:schemeClr val="accent1">
                  <a:lumMod val="60000"/>
                  <a:lumOff val="40000"/>
                </a:schemeClr>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1307538" y="1927029"/>
            <a:ext cx="9993085" cy="4154984"/>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Mirabegron is phosphodiesterase-5 inhibitor (PDE5) drug, the present work deals with “Analytical method development and validation of Mirabegron by Using RP-HPLC method of bulk and pharmaceutical dosage form.”</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Attempts were made to develop RP-HPLC method for simultaneous estimation of Mirabegron from Tablet. For the RP -Agilent Tech. Gradient System with Auto injector, UV (DAD) &amp; Gradient Detector Reverse Phase (Agilent) C18 column (4.6mm x 150mm;5µm), a 20µl injection loop and UV730D Absorbance detector and running </a:t>
            </a:r>
            <a:r>
              <a:rPr lang="en-US" sz="2400" dirty="0" err="1">
                <a:latin typeface="Times New Roman" panose="02020603050405020304" pitchFamily="18" charset="0"/>
                <a:cs typeface="Times New Roman" panose="02020603050405020304" pitchFamily="18" charset="0"/>
              </a:rPr>
              <a:t>chemstation</a:t>
            </a:r>
            <a:r>
              <a:rPr lang="en-US" sz="2400" dirty="0">
                <a:latin typeface="Times New Roman" panose="02020603050405020304" pitchFamily="18" charset="0"/>
                <a:cs typeface="Times New Roman" panose="02020603050405020304" pitchFamily="18" charset="0"/>
              </a:rPr>
              <a:t> 10.1 software.</a:t>
            </a:r>
          </a:p>
          <a:p>
            <a:pPr marL="342900" indent="-342900" algn="just">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3395609"/>
      </p:ext>
    </p:extLst>
  </p:cSld>
  <p:clrMapOvr>
    <a:masterClrMapping/>
  </p:clrMapOvr>
  <p:transition>
    <p:cu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15440" y="839246"/>
            <a:ext cx="9381995" cy="3785652"/>
          </a:xfrm>
          <a:prstGeom prst="rect">
            <a:avLst/>
          </a:prstGeom>
        </p:spPr>
        <p:txBody>
          <a:bodyPr wrap="square">
            <a:spAutoFit/>
          </a:bodyPr>
          <a:lstStyle/>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Methanol: water (0.1%OPA), (55:45) v/v, pH 3.was used as the mobile phase for the method. The detection wavelength was 254 nm and flow rate was 0.7 ml/min. In the developed method, the retention time of Mirabegron were found to be 4.457 min. The developed method was validated according to the ICH guidelines. The linearity, precision, range, robustness were within the limits as specified by the ICH guidelines. Hence the method was found to be simple, accurate, precise, economic and reproducible.</a:t>
            </a:r>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0159261"/>
      </p:ext>
    </p:extLst>
  </p:cSld>
  <p:clrMapOvr>
    <a:masterClrMapping/>
  </p:clrMapOvr>
  <p:transition>
    <p:cu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39269" y="483513"/>
            <a:ext cx="8503921" cy="954107"/>
          </a:xfrm>
          <a:prstGeom prst="rect">
            <a:avLst/>
          </a:prstGeom>
          <a:noFill/>
        </p:spPr>
        <p:txBody>
          <a:bodyPr wrap="square" rtlCol="0">
            <a:spAutoFit/>
          </a:bodyPr>
          <a:lstStyle/>
          <a:p>
            <a:pPr algn="ctr"/>
            <a:r>
              <a:rPr lang="en-US" sz="2800" b="1" dirty="0">
                <a:solidFill>
                  <a:schemeClr val="accent1">
                    <a:lumMod val="60000"/>
                    <a:lumOff val="40000"/>
                  </a:schemeClr>
                </a:solidFill>
                <a:latin typeface="Times New Roman" panose="02020603050405020304" pitchFamily="18" charset="0"/>
                <a:cs typeface="Times New Roman" panose="02020603050405020304" pitchFamily="18" charset="0"/>
              </a:rPr>
              <a:t>CONCLUSION</a:t>
            </a:r>
          </a:p>
          <a:p>
            <a:pPr algn="ctr"/>
            <a:endParaRPr lang="en-IN" sz="2800" b="1" dirty="0">
              <a:latin typeface="Times New Roman" panose="02020603050405020304" pitchFamily="18" charset="0"/>
              <a:cs typeface="Times New Roman" panose="02020603050405020304" pitchFamily="18" charset="0"/>
            </a:endParaRPr>
          </a:p>
        </p:txBody>
      </p:sp>
      <p:sp>
        <p:nvSpPr>
          <p:cNvPr id="3" name="TextBox 2"/>
          <p:cNvSpPr txBox="1"/>
          <p:nvPr/>
        </p:nvSpPr>
        <p:spPr>
          <a:xfrm>
            <a:off x="1426535" y="1437620"/>
            <a:ext cx="9130938" cy="4801314"/>
          </a:xfrm>
          <a:prstGeom prst="rect">
            <a:avLst/>
          </a:prstGeom>
          <a:noFill/>
        </p:spPr>
        <p:txBody>
          <a:bodyPr wrap="square" rtlCol="0">
            <a:spAutoFit/>
          </a:bodyPr>
          <a:lstStyle/>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developed RP-HPLC method for estimation of Mirabegron is accurate, precise, robust and specific.</a:t>
            </a:r>
          </a:p>
          <a:p>
            <a:pPr algn="just"/>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method has been found to be better than previously reported method, because of its less retention time, isocratic mode and use of an economical and readily available mobile phase, readily available column, UV detection and better resolution of peaks.</a:t>
            </a:r>
          </a:p>
          <a:p>
            <a:pPr algn="just"/>
            <a:endParaRPr lang="en-IN"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PDE5 agents of Mirabegron results from a decrease in systemic vascular resistance and the parent compound Mirabegron is primary responsible for the is phosphodiesterase- 5 inhibitor.</a:t>
            </a:r>
            <a:endParaRPr lang="en-IN"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algn="just"/>
            <a:endParaRPr lang="en-IN" dirty="0"/>
          </a:p>
        </p:txBody>
      </p:sp>
    </p:spTree>
    <p:extLst>
      <p:ext uri="{BB962C8B-B14F-4D97-AF65-F5344CB8AC3E}">
        <p14:creationId xmlns:p14="http://schemas.microsoft.com/office/powerpoint/2010/main" val="1352931683"/>
      </p:ext>
    </p:extLst>
  </p:cSld>
  <p:clrMapOvr>
    <a:masterClrMapping/>
  </p:clrMapOvr>
  <p:transition>
    <p:cu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59486" y="0"/>
            <a:ext cx="7406640" cy="523220"/>
          </a:xfrm>
          <a:prstGeom prst="rect">
            <a:avLst/>
          </a:prstGeom>
          <a:noFill/>
        </p:spPr>
        <p:txBody>
          <a:bodyPr wrap="square" rtlCol="0">
            <a:spAutoFit/>
          </a:bodyPr>
          <a:lstStyle/>
          <a:p>
            <a:pPr algn="ctr"/>
            <a:r>
              <a:rPr lang="en-US" sz="2800" b="1" dirty="0">
                <a:solidFill>
                  <a:schemeClr val="accent1">
                    <a:lumMod val="60000"/>
                    <a:lumOff val="40000"/>
                  </a:schemeClr>
                </a:solidFill>
                <a:latin typeface="Times New Roman" panose="02020603050405020304" pitchFamily="18" charset="0"/>
                <a:cs typeface="Times New Roman" panose="02020603050405020304" pitchFamily="18" charset="0"/>
              </a:rPr>
              <a:t>REFERENCE</a:t>
            </a:r>
            <a:endParaRPr lang="en-IN" sz="2800" b="1" dirty="0">
              <a:solidFill>
                <a:schemeClr val="accent1">
                  <a:lumMod val="60000"/>
                  <a:lumOff val="40000"/>
                </a:schemeClr>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1411147" y="614660"/>
            <a:ext cx="10280468" cy="5909310"/>
          </a:xfrm>
          <a:prstGeom prst="rect">
            <a:avLst/>
          </a:prstGeom>
          <a:noFill/>
        </p:spPr>
        <p:txBody>
          <a:bodyPr wrap="square" rtlCol="0">
            <a:spAutoFit/>
          </a:bodyPr>
          <a:lstStyle/>
          <a:p>
            <a:pPr marL="342900" lvl="0" indent="-342900" algn="just">
              <a:buFont typeface="+mj-lt"/>
              <a:buAutoNum type="arabicPeriod"/>
            </a:pPr>
            <a:r>
              <a:rPr lang="en-US" dirty="0" err="1">
                <a:latin typeface="Times New Roman" panose="02020603050405020304" pitchFamily="18" charset="0"/>
                <a:cs typeface="Times New Roman" panose="02020603050405020304" pitchFamily="18" charset="0"/>
              </a:rPr>
              <a:t>Vibha</a:t>
            </a:r>
            <a:r>
              <a:rPr lang="en-US" dirty="0">
                <a:latin typeface="Times New Roman" panose="02020603050405020304" pitchFamily="18" charset="0"/>
                <a:cs typeface="Times New Roman" panose="02020603050405020304" pitchFamily="18" charset="0"/>
              </a:rPr>
              <a:t> Gupta, Ajay Deep Kumar Jain, N. S. Gill1, </a:t>
            </a:r>
            <a:r>
              <a:rPr lang="en-US" dirty="0" err="1">
                <a:latin typeface="Times New Roman" panose="02020603050405020304" pitchFamily="18" charset="0"/>
                <a:cs typeface="Times New Roman" panose="02020603050405020304" pitchFamily="18" charset="0"/>
              </a:rPr>
              <a:t>Kapil</a:t>
            </a:r>
            <a:r>
              <a:rPr lang="en-US" dirty="0">
                <a:latin typeface="Times New Roman" panose="02020603050405020304" pitchFamily="18" charset="0"/>
                <a:cs typeface="Times New Roman" panose="02020603050405020304" pitchFamily="18" charset="0"/>
              </a:rPr>
              <a:t> Gupta, Development and validation of HPLC method - a review. International Research Journal of Pharmaceutical and Applied Sciences,2012; 2(4): P.17-25.</a:t>
            </a:r>
            <a:endParaRPr lang="en-IN" dirty="0">
              <a:latin typeface="Times New Roman" panose="02020603050405020304" pitchFamily="18" charset="0"/>
              <a:cs typeface="Times New Roman" panose="02020603050405020304" pitchFamily="18" charset="0"/>
            </a:endParaRPr>
          </a:p>
          <a:p>
            <a:pPr marL="342900" lvl="0" indent="-342900" algn="just">
              <a:buFont typeface="+mj-lt"/>
              <a:buAutoNum type="arabicPeriod"/>
            </a:pPr>
            <a:r>
              <a:rPr lang="en-US" dirty="0" err="1">
                <a:latin typeface="Times New Roman" panose="02020603050405020304" pitchFamily="18" charset="0"/>
                <a:cs typeface="Times New Roman" panose="02020603050405020304" pitchFamily="18" charset="0"/>
              </a:rPr>
              <a:t>Sethi</a:t>
            </a:r>
            <a:r>
              <a:rPr lang="en-US" dirty="0">
                <a:latin typeface="Times New Roman" panose="02020603050405020304" pitchFamily="18" charset="0"/>
                <a:cs typeface="Times New Roman" panose="02020603050405020304" pitchFamily="18" charset="0"/>
              </a:rPr>
              <a:t>, P., D., High performance liquid chromatography quantitative analysis of pharmaceutical formulations, 1</a:t>
            </a:r>
            <a:r>
              <a:rPr lang="en-US" baseline="30000" dirty="0">
                <a:latin typeface="Times New Roman" panose="02020603050405020304" pitchFamily="18" charset="0"/>
                <a:cs typeface="Times New Roman" panose="02020603050405020304" pitchFamily="18" charset="0"/>
              </a:rPr>
              <a:t>st</a:t>
            </a:r>
            <a:r>
              <a:rPr lang="en-US" dirty="0">
                <a:latin typeface="Times New Roman" panose="02020603050405020304" pitchFamily="18" charset="0"/>
                <a:cs typeface="Times New Roman" panose="02020603050405020304" pitchFamily="18" charset="0"/>
              </a:rPr>
              <a:t> edition, New Delhi, CBS Publishers and Distributors, vol. 1, 2001; P. 3-4, 11,117-20.</a:t>
            </a:r>
            <a:endParaRPr lang="en-IN" dirty="0">
              <a:latin typeface="Times New Roman" panose="02020603050405020304" pitchFamily="18" charset="0"/>
              <a:cs typeface="Times New Roman" panose="02020603050405020304" pitchFamily="18" charset="0"/>
            </a:endParaRPr>
          </a:p>
          <a:p>
            <a:pPr marL="342900" lvl="0" indent="-342900" algn="just">
              <a:buFont typeface="+mj-lt"/>
              <a:buAutoNum type="arabicPeriod"/>
            </a:pPr>
            <a:r>
              <a:rPr lang="en-US" dirty="0">
                <a:latin typeface="Times New Roman" panose="02020603050405020304" pitchFamily="18" charset="0"/>
                <a:cs typeface="Times New Roman" panose="02020603050405020304" pitchFamily="18" charset="0"/>
              </a:rPr>
              <a:t>Godwin, W., Fong, Stanley, K., Lam., HPLC in the pharmaceutical industry, New York, CRC Press, Vol.3, 2010; P. 47.</a:t>
            </a:r>
            <a:endParaRPr lang="en-IN" dirty="0">
              <a:latin typeface="Times New Roman" panose="02020603050405020304" pitchFamily="18" charset="0"/>
              <a:cs typeface="Times New Roman" panose="02020603050405020304" pitchFamily="18" charset="0"/>
            </a:endParaRPr>
          </a:p>
          <a:p>
            <a:pPr marL="342900" lvl="0" indent="-342900" algn="just">
              <a:buFont typeface="+mj-lt"/>
              <a:buAutoNum type="arabicPeriod"/>
            </a:pPr>
            <a:r>
              <a:rPr lang="en-US" dirty="0" err="1">
                <a:latin typeface="Times New Roman" panose="02020603050405020304" pitchFamily="18" charset="0"/>
                <a:cs typeface="Times New Roman" panose="02020603050405020304" pitchFamily="18" charset="0"/>
              </a:rPr>
              <a:t>Raynord</a:t>
            </a:r>
            <a:r>
              <a:rPr lang="en-US" dirty="0">
                <a:latin typeface="Times New Roman" panose="02020603050405020304" pitchFamily="18" charset="0"/>
                <a:cs typeface="Times New Roman" panose="02020603050405020304" pitchFamily="18" charset="0"/>
              </a:rPr>
              <a:t>, P., W</a:t>
            </a:r>
            <a:r>
              <a:rPr lang="en-US"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Liquid Chromatography for the Analyst,4</a:t>
            </a:r>
            <a:r>
              <a:rPr lang="en-US" baseline="30000" dirty="0">
                <a:latin typeface="Times New Roman" panose="02020603050405020304" pitchFamily="18" charset="0"/>
                <a:cs typeface="Times New Roman" panose="02020603050405020304" pitchFamily="18" charset="0"/>
              </a:rPr>
              <a:t>th</a:t>
            </a:r>
            <a:r>
              <a:rPr lang="en-US" dirty="0">
                <a:latin typeface="Times New Roman" panose="02020603050405020304" pitchFamily="18" charset="0"/>
                <a:cs typeface="Times New Roman" panose="02020603050405020304" pitchFamily="18" charset="0"/>
              </a:rPr>
              <a:t> edition, Marcel Dekker Inc., New York, 1994; P. 323.</a:t>
            </a:r>
            <a:endParaRPr lang="en-IN" dirty="0">
              <a:latin typeface="Times New Roman" panose="02020603050405020304" pitchFamily="18" charset="0"/>
              <a:cs typeface="Times New Roman" panose="02020603050405020304" pitchFamily="18" charset="0"/>
            </a:endParaRPr>
          </a:p>
          <a:p>
            <a:pPr marL="342900" lvl="0" indent="-342900" algn="just">
              <a:buFont typeface="+mj-lt"/>
              <a:buAutoNum type="arabicPeriod"/>
            </a:pPr>
            <a:r>
              <a:rPr lang="en-US" dirty="0" err="1">
                <a:latin typeface="Times New Roman" panose="02020603050405020304" pitchFamily="18" charset="0"/>
                <a:cs typeface="Times New Roman" panose="02020603050405020304" pitchFamily="18" charset="0"/>
              </a:rPr>
              <a:t>Kasture</a:t>
            </a:r>
            <a:r>
              <a:rPr lang="en-US" dirty="0">
                <a:latin typeface="Times New Roman" panose="02020603050405020304" pitchFamily="18" charset="0"/>
                <a:cs typeface="Times New Roman" panose="02020603050405020304" pitchFamily="18" charset="0"/>
              </a:rPr>
              <a:t>, A., V., </a:t>
            </a:r>
            <a:r>
              <a:rPr lang="en-US" dirty="0" err="1">
                <a:latin typeface="Times New Roman" panose="02020603050405020304" pitchFamily="18" charset="0"/>
                <a:cs typeface="Times New Roman" panose="02020603050405020304" pitchFamily="18" charset="0"/>
              </a:rPr>
              <a:t>Mahadik</a:t>
            </a:r>
            <a:r>
              <a:rPr lang="en-US" dirty="0">
                <a:latin typeface="Times New Roman" panose="02020603050405020304" pitchFamily="18" charset="0"/>
                <a:cs typeface="Times New Roman" panose="02020603050405020304" pitchFamily="18" charset="0"/>
              </a:rPr>
              <a:t>, K., R., Text book of Pharmaceutical Analysis, vol.2, </a:t>
            </a:r>
            <a:r>
              <a:rPr lang="en-US" dirty="0" err="1">
                <a:latin typeface="Times New Roman" panose="02020603050405020304" pitchFamily="18" charset="0"/>
                <a:cs typeface="Times New Roman" panose="02020603050405020304" pitchFamily="18" charset="0"/>
              </a:rPr>
              <a:t>NiraliPrakashan</a:t>
            </a:r>
            <a:r>
              <a:rPr lang="en-US" dirty="0">
                <a:latin typeface="Times New Roman" panose="02020603050405020304" pitchFamily="18" charset="0"/>
                <a:cs typeface="Times New Roman" panose="02020603050405020304" pitchFamily="18" charset="0"/>
              </a:rPr>
              <a:t>, 2007; P. 48-57.</a:t>
            </a:r>
          </a:p>
          <a:p>
            <a:pPr marL="342900" lvl="0" indent="-342900" algn="just">
              <a:buFont typeface="+mj-lt"/>
              <a:buAutoNum type="arabicPeriod"/>
            </a:pPr>
            <a:r>
              <a:rPr lang="en-US" dirty="0">
                <a:latin typeface="Times New Roman" panose="02020603050405020304" pitchFamily="18" charset="0"/>
                <a:cs typeface="Times New Roman" panose="02020603050405020304" pitchFamily="18" charset="0"/>
              </a:rPr>
              <a:t>Beckett, A.,H., </a:t>
            </a:r>
            <a:r>
              <a:rPr lang="en-US" dirty="0" err="1">
                <a:latin typeface="Times New Roman" panose="02020603050405020304" pitchFamily="18" charset="0"/>
                <a:cs typeface="Times New Roman" panose="02020603050405020304" pitchFamily="18" charset="0"/>
              </a:rPr>
              <a:t>Stenlake</a:t>
            </a:r>
            <a:r>
              <a:rPr lang="en-US" dirty="0">
                <a:latin typeface="Times New Roman" panose="02020603050405020304" pitchFamily="18" charset="0"/>
                <a:cs typeface="Times New Roman" panose="02020603050405020304" pitchFamily="18" charset="0"/>
              </a:rPr>
              <a:t>, J.,B., Practical pharmaceutical chemistry,4</a:t>
            </a:r>
            <a:r>
              <a:rPr lang="en-US" baseline="30000" dirty="0">
                <a:latin typeface="Times New Roman" panose="02020603050405020304" pitchFamily="18" charset="0"/>
                <a:cs typeface="Times New Roman" panose="02020603050405020304" pitchFamily="18" charset="0"/>
              </a:rPr>
              <a:t>th</a:t>
            </a:r>
            <a:r>
              <a:rPr lang="en-US" dirty="0">
                <a:latin typeface="Times New Roman" panose="02020603050405020304" pitchFamily="18" charset="0"/>
                <a:cs typeface="Times New Roman" panose="02020603050405020304" pitchFamily="18" charset="0"/>
              </a:rPr>
              <a:t> edition, New Delhi, CBS publishers and distributors, 1997;P. 138-43.</a:t>
            </a:r>
            <a:endParaRPr lang="en-IN" dirty="0">
              <a:latin typeface="Times New Roman" panose="02020603050405020304" pitchFamily="18" charset="0"/>
              <a:cs typeface="Times New Roman" panose="02020603050405020304" pitchFamily="18" charset="0"/>
            </a:endParaRPr>
          </a:p>
          <a:p>
            <a:pPr marL="342900" lvl="0" indent="-342900" algn="just">
              <a:buFont typeface="+mj-lt"/>
              <a:buAutoNum type="arabicPeriod"/>
            </a:pPr>
            <a:r>
              <a:rPr lang="en-US" dirty="0">
                <a:latin typeface="Times New Roman" panose="02020603050405020304" pitchFamily="18" charset="0"/>
                <a:cs typeface="Times New Roman" panose="02020603050405020304" pitchFamily="18" charset="0"/>
              </a:rPr>
              <a:t>Jeffery GH. </a:t>
            </a:r>
            <a:r>
              <a:rPr lang="en-US" dirty="0" err="1">
                <a:latin typeface="Times New Roman" panose="02020603050405020304" pitchFamily="18" charset="0"/>
                <a:cs typeface="Times New Roman" panose="02020603050405020304" pitchFamily="18" charset="0"/>
              </a:rPr>
              <a:t>Besset</a:t>
            </a:r>
            <a:r>
              <a:rPr lang="en-US" dirty="0">
                <a:latin typeface="Times New Roman" panose="02020603050405020304" pitchFamily="18" charset="0"/>
                <a:cs typeface="Times New Roman" panose="02020603050405020304" pitchFamily="18" charset="0"/>
              </a:rPr>
              <a:t> J. Mendham J. Denney RC. </a:t>
            </a:r>
            <a:r>
              <a:rPr lang="en-US" dirty="0" err="1">
                <a:latin typeface="Times New Roman" panose="02020603050405020304" pitchFamily="18" charset="0"/>
                <a:cs typeface="Times New Roman" panose="02020603050405020304" pitchFamily="18" charset="0"/>
              </a:rPr>
              <a:t>Vogels</a:t>
            </a:r>
            <a:r>
              <a:rPr lang="en-US" dirty="0">
                <a:latin typeface="Times New Roman" panose="02020603050405020304" pitchFamily="18" charset="0"/>
                <a:cs typeface="Times New Roman" panose="02020603050405020304" pitchFamily="18" charset="0"/>
              </a:rPr>
              <a:t> Textbook of Quantitative </a:t>
            </a:r>
            <a:r>
              <a:rPr lang="en-US" dirty="0" err="1">
                <a:latin typeface="Times New Roman" panose="02020603050405020304" pitchFamily="18" charset="0"/>
                <a:cs typeface="Times New Roman" panose="02020603050405020304" pitchFamily="18" charset="0"/>
              </a:rPr>
              <a:t>chemial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analaysi</a:t>
            </a:r>
            <a:r>
              <a:rPr lang="en-US" dirty="0">
                <a:latin typeface="Times New Roman" panose="02020603050405020304" pitchFamily="18" charset="0"/>
                <a:cs typeface="Times New Roman" panose="02020603050405020304" pitchFamily="18" charset="0"/>
              </a:rPr>
              <a:t>. 5 ed. Longman Scientific and </a:t>
            </a:r>
            <a:r>
              <a:rPr lang="en-US" dirty="0" err="1">
                <a:latin typeface="Times New Roman" panose="02020603050405020304" pitchFamily="18" charset="0"/>
                <a:cs typeface="Times New Roman" panose="02020603050405020304" pitchFamily="18" charset="0"/>
              </a:rPr>
              <a:t>Techanicals</a:t>
            </a:r>
            <a:r>
              <a:rPr lang="en-US" dirty="0">
                <a:latin typeface="Times New Roman" panose="02020603050405020304" pitchFamily="18" charset="0"/>
                <a:cs typeface="Times New Roman" panose="02020603050405020304" pitchFamily="18" charset="0"/>
              </a:rPr>
              <a:t>. 1999.p.3</a:t>
            </a:r>
            <a:endParaRPr lang="en-IN" dirty="0">
              <a:latin typeface="Times New Roman" panose="02020603050405020304" pitchFamily="18" charset="0"/>
              <a:cs typeface="Times New Roman" panose="02020603050405020304" pitchFamily="18" charset="0"/>
            </a:endParaRPr>
          </a:p>
          <a:p>
            <a:pPr marL="342900" lvl="0" indent="-342900" algn="just">
              <a:buFont typeface="+mj-lt"/>
              <a:buAutoNum type="arabicPeriod"/>
            </a:pPr>
            <a:r>
              <a:rPr lang="en-US" dirty="0">
                <a:latin typeface="Times New Roman" panose="02020603050405020304" pitchFamily="18" charset="0"/>
                <a:cs typeface="Times New Roman" panose="02020603050405020304" pitchFamily="18" charset="0"/>
              </a:rPr>
              <a:t>Sharma BK. Instrumental Methods of Chemical Analysis. 23</a:t>
            </a:r>
            <a:r>
              <a:rPr lang="en-US" baseline="30000" dirty="0">
                <a:latin typeface="Times New Roman" panose="02020603050405020304" pitchFamily="18" charset="0"/>
                <a:cs typeface="Times New Roman" panose="02020603050405020304" pitchFamily="18" charset="0"/>
              </a:rPr>
              <a:t>rd</a:t>
            </a:r>
            <a:r>
              <a:rPr lang="en-US" dirty="0">
                <a:latin typeface="Times New Roman" panose="02020603050405020304" pitchFamily="18" charset="0"/>
                <a:cs typeface="Times New Roman" panose="02020603050405020304" pitchFamily="18" charset="0"/>
              </a:rPr>
              <a:t> ed. Meerut :</a:t>
            </a:r>
            <a:r>
              <a:rPr lang="en-US" dirty="0" err="1">
                <a:latin typeface="Times New Roman" panose="02020603050405020304" pitchFamily="18" charset="0"/>
                <a:cs typeface="Times New Roman" panose="02020603050405020304" pitchFamily="18" charset="0"/>
              </a:rPr>
              <a:t>Goel</a:t>
            </a:r>
            <a:r>
              <a:rPr lang="en-US" dirty="0">
                <a:latin typeface="Times New Roman" panose="02020603050405020304" pitchFamily="18" charset="0"/>
                <a:cs typeface="Times New Roman" panose="02020603050405020304" pitchFamily="18" charset="0"/>
              </a:rPr>
              <a:t> Publishing House; 2004. p.7-8.</a:t>
            </a:r>
            <a:endParaRPr lang="en-IN" dirty="0">
              <a:latin typeface="Times New Roman" panose="02020603050405020304" pitchFamily="18" charset="0"/>
              <a:cs typeface="Times New Roman" panose="02020603050405020304" pitchFamily="18" charset="0"/>
            </a:endParaRPr>
          </a:p>
          <a:p>
            <a:pPr marL="342900" lvl="0" indent="-342900">
              <a:buFont typeface="+mj-lt"/>
              <a:buAutoNum type="arabicPeriod"/>
            </a:pPr>
            <a:r>
              <a:rPr lang="en-US" dirty="0" err="1">
                <a:latin typeface="Times New Roman" panose="02020603050405020304" pitchFamily="18" charset="0"/>
                <a:cs typeface="Times New Roman" panose="02020603050405020304" pitchFamily="18" charset="0"/>
              </a:rPr>
              <a:t>Spandana</a:t>
            </a:r>
            <a:r>
              <a:rPr lang="en-US" dirty="0">
                <a:latin typeface="Times New Roman" panose="02020603050405020304" pitchFamily="18" charset="0"/>
                <a:cs typeface="Times New Roman" panose="02020603050405020304" pitchFamily="18" charset="0"/>
              </a:rPr>
              <a:t>, R., Rao, R. N., &amp; Reddy, L. S. S. (2016). Analytical method development and validation for the estimation of mirabegron in bulk and pharmaceutical dosage form by RP-HPLC. </a:t>
            </a:r>
            <a:r>
              <a:rPr lang="en-US" i="1" dirty="0">
                <a:latin typeface="Times New Roman" panose="02020603050405020304" pitchFamily="18" charset="0"/>
                <a:cs typeface="Times New Roman" panose="02020603050405020304" pitchFamily="18" charset="0"/>
              </a:rPr>
              <a:t>IAJPR</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6</a:t>
            </a:r>
            <a:r>
              <a:rPr lang="en-US" dirty="0">
                <a:latin typeface="Times New Roman" panose="02020603050405020304" pitchFamily="18" charset="0"/>
                <a:cs typeface="Times New Roman" panose="02020603050405020304" pitchFamily="18" charset="0"/>
              </a:rPr>
              <a:t>(11), 6880-6887.</a:t>
            </a:r>
            <a:endParaRPr lang="en-IN"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DING, Y. M., PU, Y. W., WU, J., &amp; WANG, D. C. (2016). Deter</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0042884"/>
      </p:ext>
    </p:extLst>
  </p:cSld>
  <p:clrMapOvr>
    <a:masterClrMapping/>
  </p:clrMapOvr>
  <p:transition>
    <p:cu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431725" y="379897"/>
            <a:ext cx="10271760" cy="7448193"/>
          </a:xfrm>
          <a:prstGeom prst="rect">
            <a:avLst/>
          </a:prstGeom>
        </p:spPr>
        <p:txBody>
          <a:bodyPr wrap="square">
            <a:spAutoFit/>
          </a:bodyPr>
          <a:lstStyle/>
          <a:p>
            <a:pPr lvl="0" algn="just">
              <a:spcBef>
                <a:spcPts val="5"/>
              </a:spcBef>
              <a:spcAft>
                <a:spcPts val="0"/>
              </a:spcAft>
              <a:tabLst>
                <a:tab pos="269875" algn="l"/>
              </a:tabLst>
            </a:pPr>
            <a:r>
              <a:rPr lang="en-US" sz="2000" dirty="0">
                <a:solidFill>
                  <a:srgbClr val="212121"/>
                </a:solidFill>
                <a:latin typeface="Times New Roman" panose="02020603050405020304" pitchFamily="18" charset="0"/>
                <a:ea typeface="DengXian"/>
                <a:cs typeface="Mangal"/>
              </a:rPr>
              <a:t>11. Lou,</a:t>
            </a:r>
            <a:r>
              <a:rPr lang="en-US" sz="2000" spc="350" dirty="0">
                <a:solidFill>
                  <a:srgbClr val="212121"/>
                </a:solidFill>
                <a:latin typeface="Times New Roman" panose="02020603050405020304" pitchFamily="18" charset="0"/>
                <a:ea typeface="DengXian"/>
                <a:cs typeface="Mangal"/>
              </a:rPr>
              <a:t> </a:t>
            </a:r>
            <a:r>
              <a:rPr lang="en-US" sz="2000" dirty="0">
                <a:solidFill>
                  <a:srgbClr val="212121"/>
                </a:solidFill>
                <a:latin typeface="Times New Roman" panose="02020603050405020304" pitchFamily="18" charset="0"/>
                <a:ea typeface="DengXian"/>
                <a:cs typeface="Mangal"/>
              </a:rPr>
              <a:t>Y.,</a:t>
            </a:r>
            <a:r>
              <a:rPr lang="en-US" sz="2000" spc="365" dirty="0">
                <a:solidFill>
                  <a:srgbClr val="212121"/>
                </a:solidFill>
                <a:latin typeface="Times New Roman" panose="02020603050405020304" pitchFamily="18" charset="0"/>
                <a:ea typeface="DengXian"/>
                <a:cs typeface="Mangal"/>
              </a:rPr>
              <a:t> </a:t>
            </a:r>
            <a:r>
              <a:rPr lang="en-US" sz="2000" dirty="0">
                <a:solidFill>
                  <a:srgbClr val="212121"/>
                </a:solidFill>
                <a:latin typeface="Times New Roman" panose="02020603050405020304" pitchFamily="18" charset="0"/>
                <a:ea typeface="DengXian"/>
                <a:cs typeface="Mangal"/>
              </a:rPr>
              <a:t>Cheng,</a:t>
            </a:r>
            <a:r>
              <a:rPr lang="en-US" sz="2000" spc="365" dirty="0">
                <a:solidFill>
                  <a:srgbClr val="212121"/>
                </a:solidFill>
                <a:latin typeface="Times New Roman" panose="02020603050405020304" pitchFamily="18" charset="0"/>
                <a:ea typeface="DengXian"/>
                <a:cs typeface="Mangal"/>
              </a:rPr>
              <a:t> </a:t>
            </a:r>
            <a:r>
              <a:rPr lang="en-US" sz="2000" dirty="0">
                <a:solidFill>
                  <a:srgbClr val="212121"/>
                </a:solidFill>
                <a:latin typeface="Times New Roman" panose="02020603050405020304" pitchFamily="18" charset="0"/>
                <a:ea typeface="DengXian"/>
                <a:cs typeface="Mangal"/>
              </a:rPr>
              <a:t>M.,</a:t>
            </a:r>
            <a:r>
              <a:rPr lang="en-US" sz="2000" spc="375" dirty="0">
                <a:solidFill>
                  <a:srgbClr val="212121"/>
                </a:solidFill>
                <a:latin typeface="Times New Roman" panose="02020603050405020304" pitchFamily="18" charset="0"/>
                <a:ea typeface="DengXian"/>
                <a:cs typeface="Mangal"/>
              </a:rPr>
              <a:t> </a:t>
            </a:r>
            <a:r>
              <a:rPr lang="en-US" sz="2000" dirty="0">
                <a:solidFill>
                  <a:srgbClr val="212121"/>
                </a:solidFill>
                <a:latin typeface="Times New Roman" panose="02020603050405020304" pitchFamily="18" charset="0"/>
                <a:ea typeface="DengXian"/>
                <a:cs typeface="Mangal"/>
              </a:rPr>
              <a:t>Cao,</a:t>
            </a:r>
            <a:r>
              <a:rPr lang="en-US" sz="2000" spc="365" dirty="0">
                <a:solidFill>
                  <a:srgbClr val="212121"/>
                </a:solidFill>
                <a:latin typeface="Times New Roman" panose="02020603050405020304" pitchFamily="18" charset="0"/>
                <a:ea typeface="DengXian"/>
                <a:cs typeface="Mangal"/>
              </a:rPr>
              <a:t> </a:t>
            </a:r>
            <a:r>
              <a:rPr lang="en-US" sz="2000" dirty="0">
                <a:solidFill>
                  <a:srgbClr val="212121"/>
                </a:solidFill>
                <a:latin typeface="Times New Roman" panose="02020603050405020304" pitchFamily="18" charset="0"/>
                <a:ea typeface="DengXian"/>
                <a:cs typeface="Mangal"/>
              </a:rPr>
              <a:t>Q.,</a:t>
            </a:r>
            <a:r>
              <a:rPr lang="en-US" sz="2000" spc="375" dirty="0">
                <a:solidFill>
                  <a:srgbClr val="212121"/>
                </a:solidFill>
                <a:latin typeface="Times New Roman" panose="02020603050405020304" pitchFamily="18" charset="0"/>
                <a:ea typeface="DengXian"/>
                <a:cs typeface="Mangal"/>
              </a:rPr>
              <a:t> </a:t>
            </a:r>
            <a:r>
              <a:rPr lang="en-US" sz="2000" dirty="0">
                <a:solidFill>
                  <a:srgbClr val="212121"/>
                </a:solidFill>
                <a:latin typeface="Times New Roman" panose="02020603050405020304" pitchFamily="18" charset="0"/>
                <a:ea typeface="DengXian"/>
                <a:cs typeface="Mangal"/>
              </a:rPr>
              <a:t>Li,</a:t>
            </a:r>
            <a:r>
              <a:rPr lang="en-US" sz="2000" spc="365" dirty="0">
                <a:solidFill>
                  <a:srgbClr val="212121"/>
                </a:solidFill>
                <a:latin typeface="Times New Roman" panose="02020603050405020304" pitchFamily="18" charset="0"/>
                <a:ea typeface="DengXian"/>
                <a:cs typeface="Mangal"/>
              </a:rPr>
              <a:t> </a:t>
            </a:r>
            <a:r>
              <a:rPr lang="en-US" sz="2000" dirty="0">
                <a:solidFill>
                  <a:srgbClr val="212121"/>
                </a:solidFill>
                <a:latin typeface="Times New Roman" panose="02020603050405020304" pitchFamily="18" charset="0"/>
                <a:ea typeface="DengXian"/>
                <a:cs typeface="Mangal"/>
              </a:rPr>
              <a:t>K.,</a:t>
            </a:r>
            <a:r>
              <a:rPr lang="en-US" sz="2000" spc="365" dirty="0">
                <a:solidFill>
                  <a:srgbClr val="212121"/>
                </a:solidFill>
                <a:latin typeface="Times New Roman" panose="02020603050405020304" pitchFamily="18" charset="0"/>
                <a:ea typeface="DengXian"/>
                <a:cs typeface="Mangal"/>
              </a:rPr>
              <a:t> </a:t>
            </a:r>
            <a:r>
              <a:rPr lang="en-US" sz="2000" dirty="0">
                <a:solidFill>
                  <a:srgbClr val="212121"/>
                </a:solidFill>
                <a:latin typeface="Times New Roman" panose="02020603050405020304" pitchFamily="18" charset="0"/>
                <a:ea typeface="DengXian"/>
                <a:cs typeface="Mangal"/>
              </a:rPr>
              <a:t>Qin,</a:t>
            </a:r>
            <a:r>
              <a:rPr lang="en-US" sz="2000" spc="375" dirty="0">
                <a:solidFill>
                  <a:srgbClr val="212121"/>
                </a:solidFill>
                <a:latin typeface="Times New Roman" panose="02020603050405020304" pitchFamily="18" charset="0"/>
                <a:ea typeface="DengXian"/>
                <a:cs typeface="Mangal"/>
              </a:rPr>
              <a:t> </a:t>
            </a:r>
            <a:r>
              <a:rPr lang="en-US" sz="2000" dirty="0">
                <a:solidFill>
                  <a:srgbClr val="212121"/>
                </a:solidFill>
                <a:latin typeface="Times New Roman" panose="02020603050405020304" pitchFamily="18" charset="0"/>
                <a:ea typeface="DengXian"/>
                <a:cs typeface="Mangal"/>
              </a:rPr>
              <a:t>H.,</a:t>
            </a:r>
            <a:r>
              <a:rPr lang="en-US" sz="2000" spc="365" dirty="0">
                <a:solidFill>
                  <a:srgbClr val="212121"/>
                </a:solidFill>
                <a:latin typeface="Times New Roman" panose="02020603050405020304" pitchFamily="18" charset="0"/>
                <a:ea typeface="DengXian"/>
                <a:cs typeface="Mangal"/>
              </a:rPr>
              <a:t> </a:t>
            </a:r>
            <a:r>
              <a:rPr lang="en-US" sz="2000" dirty="0" err="1">
                <a:solidFill>
                  <a:srgbClr val="212121"/>
                </a:solidFill>
                <a:latin typeface="Times New Roman" panose="02020603050405020304" pitchFamily="18" charset="0"/>
                <a:ea typeface="DengXian"/>
                <a:cs typeface="Mangal"/>
              </a:rPr>
              <a:t>Bao</a:t>
            </a:r>
            <a:r>
              <a:rPr lang="en-US" sz="2000" dirty="0">
                <a:solidFill>
                  <a:srgbClr val="212121"/>
                </a:solidFill>
                <a:latin typeface="Times New Roman" panose="02020603050405020304" pitchFamily="18" charset="0"/>
                <a:ea typeface="DengXian"/>
                <a:cs typeface="Mangal"/>
              </a:rPr>
              <a:t>,</a:t>
            </a:r>
            <a:r>
              <a:rPr lang="en-US" sz="2000" spc="365" dirty="0">
                <a:solidFill>
                  <a:srgbClr val="212121"/>
                </a:solidFill>
                <a:latin typeface="Times New Roman" panose="02020603050405020304" pitchFamily="18" charset="0"/>
                <a:ea typeface="DengXian"/>
                <a:cs typeface="Mangal"/>
              </a:rPr>
              <a:t> </a:t>
            </a:r>
            <a:r>
              <a:rPr lang="en-US" sz="2000" dirty="0">
                <a:solidFill>
                  <a:srgbClr val="212121"/>
                </a:solidFill>
                <a:latin typeface="Times New Roman" panose="02020603050405020304" pitchFamily="18" charset="0"/>
                <a:ea typeface="DengXian"/>
                <a:cs typeface="Mangal"/>
              </a:rPr>
              <a:t>M.</a:t>
            </a:r>
            <a:r>
              <a:rPr lang="en-US" sz="2000" spc="365" dirty="0">
                <a:solidFill>
                  <a:srgbClr val="212121"/>
                </a:solidFill>
                <a:latin typeface="Times New Roman" panose="02020603050405020304" pitchFamily="18" charset="0"/>
                <a:ea typeface="DengXian"/>
                <a:cs typeface="Mangal"/>
              </a:rPr>
              <a:t> </a:t>
            </a:r>
            <a:r>
              <a:rPr lang="en-US" sz="2000" dirty="0">
                <a:solidFill>
                  <a:srgbClr val="212121"/>
                </a:solidFill>
                <a:latin typeface="Times New Roman" panose="02020603050405020304" pitchFamily="18" charset="0"/>
                <a:ea typeface="DengXian"/>
                <a:cs typeface="Mangal"/>
              </a:rPr>
              <a:t>&amp;</a:t>
            </a:r>
            <a:r>
              <a:rPr lang="en-US" sz="2000" spc="355" dirty="0">
                <a:solidFill>
                  <a:srgbClr val="212121"/>
                </a:solidFill>
                <a:latin typeface="Times New Roman" panose="02020603050405020304" pitchFamily="18" charset="0"/>
                <a:ea typeface="DengXian"/>
                <a:cs typeface="Mangal"/>
              </a:rPr>
              <a:t> </a:t>
            </a:r>
            <a:r>
              <a:rPr lang="en-US" sz="2000" dirty="0">
                <a:solidFill>
                  <a:srgbClr val="212121"/>
                </a:solidFill>
                <a:latin typeface="Times New Roman" panose="02020603050405020304" pitchFamily="18" charset="0"/>
                <a:ea typeface="DengXian"/>
                <a:cs typeface="Mangal"/>
              </a:rPr>
              <a:t>Zhang,</a:t>
            </a:r>
            <a:r>
              <a:rPr lang="en-US" sz="2000" spc="375" dirty="0">
                <a:solidFill>
                  <a:srgbClr val="212121"/>
                </a:solidFill>
                <a:latin typeface="Times New Roman" panose="02020603050405020304" pitchFamily="18" charset="0"/>
                <a:ea typeface="DengXian"/>
                <a:cs typeface="Mangal"/>
              </a:rPr>
              <a:t> </a:t>
            </a:r>
            <a:r>
              <a:rPr lang="en-US" sz="2000" dirty="0">
                <a:solidFill>
                  <a:srgbClr val="212121"/>
                </a:solidFill>
                <a:latin typeface="Times New Roman" panose="02020603050405020304" pitchFamily="18" charset="0"/>
                <a:ea typeface="DengXian"/>
                <a:cs typeface="Mangal"/>
              </a:rPr>
              <a:t>Y.</a:t>
            </a:r>
            <a:r>
              <a:rPr lang="en-US" sz="2000" spc="365" dirty="0">
                <a:solidFill>
                  <a:srgbClr val="212121"/>
                </a:solidFill>
                <a:latin typeface="Times New Roman" panose="02020603050405020304" pitchFamily="18" charset="0"/>
                <a:ea typeface="DengXian"/>
                <a:cs typeface="Mangal"/>
              </a:rPr>
              <a:t> </a:t>
            </a:r>
            <a:r>
              <a:rPr lang="en-US" sz="2000" spc="-10" dirty="0">
                <a:solidFill>
                  <a:srgbClr val="212121"/>
                </a:solidFill>
                <a:latin typeface="Times New Roman" panose="02020603050405020304" pitchFamily="18" charset="0"/>
                <a:ea typeface="DengXian"/>
                <a:cs typeface="Mangal"/>
              </a:rPr>
              <a:t>(2024).</a:t>
            </a:r>
          </a:p>
          <a:p>
            <a:pPr lvl="0" algn="just"/>
            <a:r>
              <a:rPr lang="en-US" sz="2000" dirty="0">
                <a:latin typeface="Times New Roman" panose="02020603050405020304" pitchFamily="18" charset="0"/>
                <a:ea typeface="DengXian"/>
                <a:cs typeface="Times New Roman" panose="02020603050405020304" pitchFamily="18" charset="0"/>
              </a:rPr>
              <a:t>12. </a:t>
            </a:r>
            <a:r>
              <a:rPr lang="en-US" sz="2000" dirty="0">
                <a:latin typeface="Times New Roman" panose="02020603050405020304" pitchFamily="18" charset="0"/>
                <a:cs typeface="Times New Roman" panose="02020603050405020304" pitchFamily="18" charset="0"/>
              </a:rPr>
              <a:t>Simultaneous quantification of mirabegron and </a:t>
            </a:r>
            <a:r>
              <a:rPr lang="en-US" sz="2000" dirty="0" err="1">
                <a:latin typeface="Times New Roman" panose="02020603050405020304" pitchFamily="18" charset="0"/>
                <a:cs typeface="Times New Roman" panose="02020603050405020304" pitchFamily="18" charset="0"/>
              </a:rPr>
              <a:t>vibegron</a:t>
            </a:r>
            <a:r>
              <a:rPr lang="en-US" sz="2000" dirty="0">
                <a:latin typeface="Times New Roman" panose="02020603050405020304" pitchFamily="18" charset="0"/>
                <a:cs typeface="Times New Roman" panose="02020603050405020304" pitchFamily="18" charset="0"/>
              </a:rPr>
              <a:t> in human plasma by HPLC- MS/MS and its application in the clinical determination in patients with tumors associated with overactive bladder. </a:t>
            </a:r>
            <a:r>
              <a:rPr lang="en-US" sz="2000" i="1" dirty="0">
                <a:latin typeface="Times New Roman" panose="02020603050405020304" pitchFamily="18" charset="0"/>
                <a:cs typeface="Times New Roman" panose="02020603050405020304" pitchFamily="18" charset="0"/>
              </a:rPr>
              <a:t>Journal of Pharmaceutical and Biomedical Analysis</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240</a:t>
            </a:r>
            <a:r>
              <a:rPr lang="en-US" sz="2000" dirty="0">
                <a:latin typeface="Times New Roman" panose="02020603050405020304" pitchFamily="18" charset="0"/>
                <a:cs typeface="Times New Roman" panose="02020603050405020304" pitchFamily="18" charset="0"/>
              </a:rPr>
              <a:t>, 115937</a:t>
            </a:r>
            <a:endParaRPr lang="en-IN" sz="2000" dirty="0">
              <a:latin typeface="Times New Roman" panose="02020603050405020304" pitchFamily="18" charset="0"/>
              <a:cs typeface="Times New Roman" panose="02020603050405020304" pitchFamily="18" charset="0"/>
            </a:endParaRPr>
          </a:p>
          <a:p>
            <a:pPr lvl="0" algn="just"/>
            <a:r>
              <a:rPr lang="en-US" sz="2000" dirty="0">
                <a:latin typeface="Times New Roman" panose="02020603050405020304" pitchFamily="18" charset="0"/>
                <a:cs typeface="Times New Roman" panose="02020603050405020304" pitchFamily="18" charset="0"/>
              </a:rPr>
              <a:t>13. </a:t>
            </a:r>
            <a:r>
              <a:rPr lang="en-US" sz="2000" dirty="0" err="1">
                <a:latin typeface="Times New Roman" panose="02020603050405020304" pitchFamily="18" charset="0"/>
                <a:cs typeface="Times New Roman" panose="02020603050405020304" pitchFamily="18" charset="0"/>
              </a:rPr>
              <a:t>Suryawanshi</a:t>
            </a:r>
            <a:r>
              <a:rPr lang="en-US" sz="2000" dirty="0">
                <a:latin typeface="Times New Roman" panose="02020603050405020304" pitchFamily="18" charset="0"/>
                <a:cs typeface="Times New Roman" panose="02020603050405020304" pitchFamily="18" charset="0"/>
              </a:rPr>
              <a:t>, R., Shaikh, S., &amp; </a:t>
            </a:r>
            <a:r>
              <a:rPr lang="en-US" sz="2000" dirty="0" err="1">
                <a:latin typeface="Times New Roman" panose="02020603050405020304" pitchFamily="18" charset="0"/>
                <a:cs typeface="Times New Roman" panose="02020603050405020304" pitchFamily="18" charset="0"/>
              </a:rPr>
              <a:t>Patil</a:t>
            </a:r>
            <a:r>
              <a:rPr lang="en-US" sz="2000" dirty="0">
                <a:latin typeface="Times New Roman" panose="02020603050405020304" pitchFamily="18" charset="0"/>
                <a:cs typeface="Times New Roman" panose="02020603050405020304" pitchFamily="18" charset="0"/>
              </a:rPr>
              <a:t>, S. (2020). RP-HPLC method development and validation for the estimation of mirabegron in bulk and dosage form. </a:t>
            </a:r>
            <a:r>
              <a:rPr lang="en-US" sz="2000" i="1" dirty="0">
                <a:latin typeface="Times New Roman" panose="02020603050405020304" pitchFamily="18" charset="0"/>
                <a:cs typeface="Times New Roman" panose="02020603050405020304" pitchFamily="18" charset="0"/>
              </a:rPr>
              <a:t>J Drug </a:t>
            </a:r>
            <a:r>
              <a:rPr lang="en-US" sz="2000" i="1" dirty="0" err="1">
                <a:latin typeface="Times New Roman" panose="02020603050405020304" pitchFamily="18" charset="0"/>
                <a:cs typeface="Times New Roman" panose="02020603050405020304" pitchFamily="18" charset="0"/>
              </a:rPr>
              <a:t>Deliv</a:t>
            </a:r>
            <a:r>
              <a:rPr lang="en-US" sz="2000" i="1" dirty="0">
                <a:latin typeface="Times New Roman" panose="02020603050405020304" pitchFamily="18" charset="0"/>
                <a:cs typeface="Times New Roman" panose="02020603050405020304" pitchFamily="18" charset="0"/>
              </a:rPr>
              <a:t> </a:t>
            </a:r>
            <a:r>
              <a:rPr lang="en-US" sz="2000" i="1" dirty="0" err="1">
                <a:latin typeface="Times New Roman" panose="02020603050405020304" pitchFamily="18" charset="0"/>
                <a:cs typeface="Times New Roman" panose="02020603050405020304" pitchFamily="18" charset="0"/>
              </a:rPr>
              <a:t>Ther</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10</a:t>
            </a:r>
            <a:r>
              <a:rPr lang="en-US" sz="2000" dirty="0">
                <a:latin typeface="Times New Roman" panose="02020603050405020304" pitchFamily="18" charset="0"/>
                <a:cs typeface="Times New Roman" panose="02020603050405020304" pitchFamily="18" charset="0"/>
              </a:rPr>
              <a:t>, 31-38.</a:t>
            </a:r>
            <a:endParaRPr lang="en-IN" sz="2000" dirty="0">
              <a:latin typeface="Times New Roman" panose="02020603050405020304" pitchFamily="18" charset="0"/>
              <a:cs typeface="Times New Roman" panose="02020603050405020304" pitchFamily="18" charset="0"/>
            </a:endParaRPr>
          </a:p>
          <a:p>
            <a:pPr lvl="0" algn="just"/>
            <a:r>
              <a:rPr lang="en-US" sz="2000" dirty="0">
                <a:effectLst/>
                <a:latin typeface="Times New Roman" panose="02020603050405020304" pitchFamily="18" charset="0"/>
                <a:ea typeface="DengXian"/>
                <a:cs typeface="Times New Roman" panose="02020603050405020304" pitchFamily="18" charset="0"/>
              </a:rPr>
              <a:t>14.</a:t>
            </a:r>
            <a:r>
              <a:rPr lang="en-US" sz="2000" dirty="0"/>
              <a:t> </a:t>
            </a:r>
            <a:r>
              <a:rPr lang="en-US" sz="2000" dirty="0" err="1">
                <a:latin typeface="Times New Roman" panose="02020603050405020304" pitchFamily="18" charset="0"/>
                <a:cs typeface="Times New Roman" panose="02020603050405020304" pitchFamily="18" charset="0"/>
              </a:rPr>
              <a:t>Yehia</a:t>
            </a:r>
            <a:r>
              <a:rPr lang="en-US" sz="2000" dirty="0">
                <a:latin typeface="Times New Roman" panose="02020603050405020304" pitchFamily="18" charset="0"/>
                <a:cs typeface="Times New Roman" panose="02020603050405020304" pitchFamily="18" charset="0"/>
              </a:rPr>
              <a:t>, A. M., Sami, I., </a:t>
            </a:r>
            <a:r>
              <a:rPr lang="en-US" sz="2000" dirty="0" err="1">
                <a:latin typeface="Times New Roman" panose="02020603050405020304" pitchFamily="18" charset="0"/>
                <a:cs typeface="Times New Roman" panose="02020603050405020304" pitchFamily="18" charset="0"/>
              </a:rPr>
              <a:t>Riad</a:t>
            </a:r>
            <a:r>
              <a:rPr lang="en-US" sz="2000" dirty="0">
                <a:latin typeface="Times New Roman" panose="02020603050405020304" pitchFamily="18" charset="0"/>
                <a:cs typeface="Times New Roman" panose="02020603050405020304" pitchFamily="18" charset="0"/>
              </a:rPr>
              <a:t>, S. A. M., &amp; El-</a:t>
            </a:r>
            <a:r>
              <a:rPr lang="en-US" sz="2000" dirty="0" err="1">
                <a:latin typeface="Times New Roman" panose="02020603050405020304" pitchFamily="18" charset="0"/>
                <a:cs typeface="Times New Roman" panose="02020603050405020304" pitchFamily="18" charset="0"/>
              </a:rPr>
              <a:t>Saharty</a:t>
            </a:r>
            <a:r>
              <a:rPr lang="en-US" sz="2000" dirty="0">
                <a:latin typeface="Times New Roman" panose="02020603050405020304" pitchFamily="18" charset="0"/>
                <a:cs typeface="Times New Roman" panose="02020603050405020304" pitchFamily="18" charset="0"/>
              </a:rPr>
              <a:t>, Y. S. (2017). Comparison of two stability-indicating chromatographic methods for the determination of mirabegron in presence of its degradation product. </a:t>
            </a:r>
            <a:r>
              <a:rPr lang="en-US" sz="2000" i="1" dirty="0" err="1">
                <a:latin typeface="Times New Roman" panose="02020603050405020304" pitchFamily="18" charset="0"/>
                <a:cs typeface="Times New Roman" panose="02020603050405020304" pitchFamily="18" charset="0"/>
              </a:rPr>
              <a:t>Chromatographia</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80</a:t>
            </a:r>
            <a:r>
              <a:rPr lang="en-US" sz="2000" dirty="0">
                <a:latin typeface="Times New Roman" panose="02020603050405020304" pitchFamily="18" charset="0"/>
                <a:cs typeface="Times New Roman" panose="02020603050405020304" pitchFamily="18" charset="0"/>
              </a:rPr>
              <a:t>, 99-107.</a:t>
            </a:r>
            <a:endParaRPr lang="en-IN" sz="2000" dirty="0">
              <a:latin typeface="Times New Roman" panose="02020603050405020304" pitchFamily="18" charset="0"/>
              <a:cs typeface="Times New Roman" panose="02020603050405020304" pitchFamily="18" charset="0"/>
            </a:endParaRPr>
          </a:p>
          <a:p>
            <a:pPr lvl="0" algn="just"/>
            <a:r>
              <a:rPr lang="en-IN" sz="2000" dirty="0">
                <a:latin typeface="Times New Roman" panose="02020603050405020304" pitchFamily="18" charset="0"/>
                <a:cs typeface="Times New Roman" panose="02020603050405020304" pitchFamily="18" charset="0"/>
              </a:rPr>
              <a:t>15. </a:t>
            </a:r>
            <a:r>
              <a:rPr lang="en-US" sz="2000" dirty="0" err="1">
                <a:latin typeface="Times New Roman" panose="02020603050405020304" pitchFamily="18" charset="0"/>
                <a:cs typeface="Times New Roman" panose="02020603050405020304" pitchFamily="18" charset="0"/>
              </a:rPr>
              <a:t>Mounika</a:t>
            </a:r>
            <a:r>
              <a:rPr lang="en-US" sz="2000" dirty="0">
                <a:latin typeface="Times New Roman" panose="02020603050405020304" pitchFamily="18" charset="0"/>
                <a:cs typeface="Times New Roman" panose="02020603050405020304" pitchFamily="18" charset="0"/>
              </a:rPr>
              <a:t>, B., </a:t>
            </a:r>
            <a:r>
              <a:rPr lang="en-US" sz="2000" dirty="0" err="1">
                <a:latin typeface="Times New Roman" panose="02020603050405020304" pitchFamily="18" charset="0"/>
                <a:cs typeface="Times New Roman" panose="02020603050405020304" pitchFamily="18" charset="0"/>
              </a:rPr>
              <a:t>Srikanth</a:t>
            </a:r>
            <a:r>
              <a:rPr lang="en-US" sz="2000" dirty="0">
                <a:latin typeface="Times New Roman" panose="02020603050405020304" pitchFamily="18" charset="0"/>
                <a:cs typeface="Times New Roman" panose="02020603050405020304" pitchFamily="18" charset="0"/>
              </a:rPr>
              <a:t>, L., &amp; </a:t>
            </a:r>
            <a:r>
              <a:rPr lang="en-US" sz="2000" dirty="0" err="1">
                <a:latin typeface="Times New Roman" panose="02020603050405020304" pitchFamily="18" charset="0"/>
                <a:cs typeface="Times New Roman" panose="02020603050405020304" pitchFamily="18" charset="0"/>
              </a:rPr>
              <a:t>Venkatesha</a:t>
            </a:r>
            <a:r>
              <a:rPr lang="en-US" sz="2000" dirty="0">
                <a:latin typeface="Times New Roman" panose="02020603050405020304" pitchFamily="18" charset="0"/>
                <a:cs typeface="Times New Roman" panose="02020603050405020304" pitchFamily="18" charset="0"/>
              </a:rPr>
              <a:t>, A. (2017). Determination and validation of RP-HPLC method for the estimation of mirabegron in tablet dosage form. </a:t>
            </a:r>
            <a:r>
              <a:rPr lang="en-US" sz="2000" i="1" dirty="0" err="1">
                <a:latin typeface="Times New Roman" panose="02020603050405020304" pitchFamily="18" charset="0"/>
                <a:cs typeface="Times New Roman" panose="02020603050405020304" pitchFamily="18" charset="0"/>
              </a:rPr>
              <a:t>Int</a:t>
            </a:r>
            <a:r>
              <a:rPr lang="en-US" sz="2000" i="1" dirty="0">
                <a:latin typeface="Times New Roman" panose="02020603050405020304" pitchFamily="18" charset="0"/>
                <a:cs typeface="Times New Roman" panose="02020603050405020304" pitchFamily="18" charset="0"/>
              </a:rPr>
              <a:t> J </a:t>
            </a:r>
            <a:r>
              <a:rPr lang="en-US" sz="2000" i="1" dirty="0" err="1">
                <a:latin typeface="Times New Roman" panose="02020603050405020304" pitchFamily="18" charset="0"/>
                <a:cs typeface="Times New Roman" panose="02020603050405020304" pitchFamily="18" charset="0"/>
              </a:rPr>
              <a:t>Curr</a:t>
            </a:r>
            <a:r>
              <a:rPr lang="en-US" sz="2000" i="1" dirty="0">
                <a:latin typeface="Times New Roman" panose="02020603050405020304" pitchFamily="18" charset="0"/>
                <a:cs typeface="Times New Roman" panose="02020603050405020304" pitchFamily="18" charset="0"/>
              </a:rPr>
              <a:t> Pharm Res</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9</a:t>
            </a:r>
            <a:r>
              <a:rPr lang="en-US" sz="2000" dirty="0">
                <a:latin typeface="Times New Roman" panose="02020603050405020304" pitchFamily="18" charset="0"/>
                <a:cs typeface="Times New Roman" panose="02020603050405020304" pitchFamily="18" charset="0"/>
              </a:rPr>
              <a:t>(5), 140-151.</a:t>
            </a:r>
            <a:endParaRPr lang="en-IN" sz="2000" dirty="0">
              <a:latin typeface="Times New Roman" panose="02020603050405020304" pitchFamily="18" charset="0"/>
              <a:cs typeface="Times New Roman" panose="02020603050405020304" pitchFamily="18" charset="0"/>
            </a:endParaRPr>
          </a:p>
          <a:p>
            <a:pPr lvl="0" algn="just"/>
            <a:r>
              <a:rPr lang="en-US" sz="2000" dirty="0">
                <a:latin typeface="Times New Roman" panose="02020603050405020304" pitchFamily="18" charset="0"/>
                <a:cs typeface="Times New Roman" panose="02020603050405020304" pitchFamily="18" charset="0"/>
              </a:rPr>
              <a:t>16. </a:t>
            </a:r>
            <a:r>
              <a:rPr lang="en-US" sz="2000" dirty="0" err="1">
                <a:latin typeface="Times New Roman" panose="02020603050405020304" pitchFamily="18" charset="0"/>
                <a:cs typeface="Times New Roman" panose="02020603050405020304" pitchFamily="18" charset="0"/>
              </a:rPr>
              <a:t>Sawant</a:t>
            </a:r>
            <a:r>
              <a:rPr lang="en-US" sz="2000" dirty="0">
                <a:latin typeface="Times New Roman" panose="02020603050405020304" pitchFamily="18" charset="0"/>
                <a:cs typeface="Times New Roman" panose="02020603050405020304" pitchFamily="18" charset="0"/>
              </a:rPr>
              <a:t>, S. D., &amp; </a:t>
            </a:r>
            <a:r>
              <a:rPr lang="en-US" sz="2000" dirty="0" err="1">
                <a:latin typeface="Times New Roman" panose="02020603050405020304" pitchFamily="18" charset="0"/>
                <a:cs typeface="Times New Roman" panose="02020603050405020304" pitchFamily="18" charset="0"/>
              </a:rPr>
              <a:t>Godse</a:t>
            </a:r>
            <a:r>
              <a:rPr lang="en-US" sz="2000" dirty="0">
                <a:latin typeface="Times New Roman" panose="02020603050405020304" pitchFamily="18" charset="0"/>
                <a:cs typeface="Times New Roman" panose="02020603050405020304" pitchFamily="18" charset="0"/>
              </a:rPr>
              <a:t>, s. d. (2024). Analytical Techniques For Determination Of Mirabegron from bulk, pharmaceutical formulation, and biological matrices: a critical review. </a:t>
            </a:r>
            <a:r>
              <a:rPr lang="en-US" sz="2000" i="1" dirty="0" err="1">
                <a:latin typeface="Times New Roman" panose="02020603050405020304" pitchFamily="18" charset="0"/>
                <a:cs typeface="Times New Roman" panose="02020603050405020304" pitchFamily="18" charset="0"/>
              </a:rPr>
              <a:t>int</a:t>
            </a:r>
            <a:r>
              <a:rPr lang="en-US" sz="2000" i="1" dirty="0">
                <a:latin typeface="Times New Roman" panose="02020603050405020304" pitchFamily="18" charset="0"/>
                <a:cs typeface="Times New Roman" panose="02020603050405020304" pitchFamily="18" charset="0"/>
              </a:rPr>
              <a:t> j app pharm</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16</a:t>
            </a:r>
            <a:r>
              <a:rPr lang="en-US" sz="2000" dirty="0">
                <a:latin typeface="Times New Roman" panose="02020603050405020304" pitchFamily="18" charset="0"/>
                <a:cs typeface="Times New Roman" panose="02020603050405020304" pitchFamily="18" charset="0"/>
              </a:rPr>
              <a:t>(3), 7-13.</a:t>
            </a:r>
            <a:endParaRPr lang="en-IN" sz="2000" dirty="0">
              <a:latin typeface="Times New Roman" panose="02020603050405020304" pitchFamily="18" charset="0"/>
              <a:cs typeface="Times New Roman" panose="02020603050405020304" pitchFamily="18" charset="0"/>
            </a:endParaRPr>
          </a:p>
          <a:p>
            <a:pPr lvl="0" algn="just"/>
            <a:r>
              <a:rPr lang="en-US" sz="2000" u="sng" dirty="0">
                <a:latin typeface="Times New Roman" panose="02020603050405020304" pitchFamily="18" charset="0"/>
                <a:cs typeface="Times New Roman" panose="02020603050405020304" pitchFamily="18" charset="0"/>
              </a:rPr>
              <a:t>17. https://</a:t>
            </a:r>
            <a:r>
              <a:rPr lang="en-US" sz="2000" u="sng" dirty="0">
                <a:latin typeface="Times New Roman" panose="02020603050405020304" pitchFamily="18" charset="0"/>
                <a:cs typeface="Times New Roman" panose="02020603050405020304" pitchFamily="18" charset="0"/>
                <a:hlinkClick r:id="rId2"/>
              </a:rPr>
              <a:t>www.rxlist.com/Mirabegron.</a:t>
            </a:r>
            <a:endParaRPr lang="en-IN" sz="2000" dirty="0">
              <a:latin typeface="Times New Roman" panose="02020603050405020304" pitchFamily="18" charset="0"/>
              <a:cs typeface="Times New Roman" panose="02020603050405020304" pitchFamily="18" charset="0"/>
            </a:endParaRPr>
          </a:p>
          <a:p>
            <a:pPr lvl="0" algn="just"/>
            <a:r>
              <a:rPr lang="en-US" sz="2000" dirty="0">
                <a:latin typeface="Times New Roman" panose="02020603050405020304" pitchFamily="18" charset="0"/>
                <a:cs typeface="Times New Roman" panose="02020603050405020304" pitchFamily="18" charset="0"/>
              </a:rPr>
              <a:t>18. The Merck Index: An encyclopedia of chemical drugs and biological mono- 1500002278.</a:t>
            </a:r>
            <a:endParaRPr lang="en-IN" sz="2000" dirty="0">
              <a:latin typeface="Times New Roman" panose="02020603050405020304" pitchFamily="18" charset="0"/>
              <a:cs typeface="Times New Roman" panose="02020603050405020304" pitchFamily="18" charset="0"/>
            </a:endParaRPr>
          </a:p>
          <a:p>
            <a:pPr lvl="0" algn="just"/>
            <a:r>
              <a:rPr lang="en-US" sz="2000" u="sng" dirty="0">
                <a:latin typeface="Times New Roman" panose="02020603050405020304" pitchFamily="18" charset="0"/>
                <a:cs typeface="Times New Roman" panose="02020603050405020304" pitchFamily="18" charset="0"/>
              </a:rPr>
              <a:t>19. https://pubchem.ncbi.nlm.nih.gov</a:t>
            </a:r>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pPr lvl="0" algn="just"/>
            <a:r>
              <a:rPr lang="en-US" sz="2000" dirty="0">
                <a:latin typeface="Times New Roman" panose="02020603050405020304" pitchFamily="18" charset="0"/>
                <a:cs typeface="Times New Roman" panose="02020603050405020304" pitchFamily="18" charset="0"/>
              </a:rPr>
              <a:t>20. The Merck Index: An encyclopedia of chemical drugs and biological mono- 1500002278.</a:t>
            </a:r>
            <a:endParaRPr lang="en-IN" sz="2000" dirty="0">
              <a:latin typeface="Times New Roman" panose="02020603050405020304" pitchFamily="18" charset="0"/>
              <a:cs typeface="Times New Roman" panose="02020603050405020304" pitchFamily="18" charset="0"/>
            </a:endParaRPr>
          </a:p>
          <a:p>
            <a:pPr lvl="0" algn="just"/>
            <a:r>
              <a:rPr lang="en-US" sz="2000" u="sng" dirty="0">
                <a:latin typeface="Times New Roman" panose="02020603050405020304" pitchFamily="18" charset="0"/>
                <a:cs typeface="Times New Roman" panose="02020603050405020304" pitchFamily="18" charset="0"/>
              </a:rPr>
              <a:t>21. https://pubchem.ncbi.nlm.nih.gov</a:t>
            </a:r>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pPr lvl="0" algn="just"/>
            <a:r>
              <a:rPr lang="en-US" sz="2000" dirty="0">
                <a:latin typeface="Times New Roman" panose="02020603050405020304" pitchFamily="18" charset="0"/>
                <a:cs typeface="Times New Roman" panose="02020603050405020304" pitchFamily="18" charset="0"/>
                <a:hlinkClick r:id="rId3"/>
              </a:rPr>
              <a:t>www.chemicalbook.com</a:t>
            </a:r>
            <a:r>
              <a:rPr lang="en-US" sz="2000" dirty="0">
                <a:latin typeface="Times New Roman" panose="02020603050405020304" pitchFamily="18" charset="0"/>
                <a:cs typeface="Times New Roman" panose="02020603050405020304" pitchFamily="18" charset="0"/>
              </a:rPr>
              <a:t> › Chemical Book › CAS Database.</a:t>
            </a:r>
            <a:endParaRPr lang="en-IN"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a:p>
            <a:pPr algn="just"/>
            <a:endParaRPr lang="en-IN" dirty="0">
              <a:effectLst/>
              <a:latin typeface="Times New Roman" panose="02020603050405020304" pitchFamily="18" charset="0"/>
              <a:ea typeface="DengXian"/>
              <a:cs typeface="Times New Roman" panose="02020603050405020304" pitchFamily="18" charset="0"/>
            </a:endParaRPr>
          </a:p>
        </p:txBody>
      </p:sp>
    </p:spTree>
    <p:extLst>
      <p:ext uri="{BB962C8B-B14F-4D97-AF65-F5344CB8AC3E}">
        <p14:creationId xmlns:p14="http://schemas.microsoft.com/office/powerpoint/2010/main" val="965446034"/>
      </p:ext>
    </p:extLst>
  </p:cSld>
  <p:clrMapOvr>
    <a:masterClrMapping/>
  </p:clrMapOvr>
  <p:transition>
    <p:cu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878904" y="1578280"/>
            <a:ext cx="8611286" cy="2800767"/>
          </a:xfrm>
          <a:prstGeom prst="rect">
            <a:avLst/>
          </a:prstGeom>
          <a:noFill/>
        </p:spPr>
        <p:txBody>
          <a:bodyPr wrap="square" rtlCol="0">
            <a:spAutoFit/>
          </a:bodyPr>
          <a:lstStyle/>
          <a:p>
            <a:pPr algn="ctr"/>
            <a:r>
              <a:rPr lang="en-US" sz="8800" dirty="0">
                <a:solidFill>
                  <a:schemeClr val="accent1">
                    <a:lumMod val="60000"/>
                    <a:lumOff val="40000"/>
                  </a:schemeClr>
                </a:solidFill>
                <a:latin typeface="Times New Roman" panose="02020603050405020304" pitchFamily="18" charset="0"/>
                <a:cs typeface="Times New Roman" panose="02020603050405020304" pitchFamily="18" charset="0"/>
              </a:rPr>
              <a:t>THANK</a:t>
            </a:r>
          </a:p>
          <a:p>
            <a:pPr algn="ctr"/>
            <a:r>
              <a:rPr lang="en-US" sz="8800" dirty="0">
                <a:solidFill>
                  <a:schemeClr val="accent1">
                    <a:lumMod val="60000"/>
                    <a:lumOff val="40000"/>
                  </a:schemeClr>
                </a:solidFill>
                <a:latin typeface="Times New Roman" panose="02020603050405020304" pitchFamily="18" charset="0"/>
                <a:cs typeface="Times New Roman" panose="02020603050405020304" pitchFamily="18" charset="0"/>
              </a:rPr>
              <a:t>YOU</a:t>
            </a:r>
            <a:endParaRPr lang="en-IN" sz="8800" dirty="0">
              <a:solidFill>
                <a:schemeClr val="accent1">
                  <a:lumMod val="60000"/>
                  <a:lumOff val="4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0078375"/>
      </p:ext>
    </p:extLst>
  </p:cSld>
  <p:clrMapOvr>
    <a:masterClrMapping/>
  </p:clrMapOvr>
  <p:transition>
    <p:cut/>
  </p:transition>
</p:sld>
</file>

<file path=ppt/theme/theme1.xml><?xml version="1.0" encoding="utf-8"?>
<a:theme xmlns:a="http://schemas.openxmlformats.org/drawingml/2006/main" name="Facet">
  <a:themeElements>
    <a:clrScheme name="Violet">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649</TotalTime>
  <Words>2484</Words>
  <Application>Microsoft Office PowerPoint</Application>
  <PresentationFormat>Widescreen</PresentationFormat>
  <Paragraphs>436</Paragraphs>
  <Slides>27</Slides>
  <Notes>0</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Facet</vt:lpstr>
      <vt:lpstr>KAVAYITRI BAHINABAI CHAUDHARI  NORTH MAHARASHTRA UNIVERSITY, JALGAON </vt:lpstr>
      <vt:lpstr>CONTENTS</vt:lpstr>
      <vt:lpstr>INTRODUCTION</vt:lpstr>
      <vt:lpstr>PowerPoint Presentation</vt:lpstr>
      <vt:lpstr>PowerPoint Presentation</vt:lpstr>
      <vt:lpstr>PowerPoint Presentation</vt:lpstr>
      <vt:lpstr>                            OBJECTIVES</vt:lpstr>
      <vt:lpstr>PowerPoint Presentation</vt:lpstr>
      <vt:lpstr>EXPERIMENTAL WORK</vt:lpstr>
      <vt:lpstr>PowerPoint Presentation</vt:lpstr>
      <vt:lpstr>PowerPoint Presentation</vt:lpstr>
      <vt:lpstr>RESULT AND DISCUSSION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CyberSpace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KAVAYITRI BAHINABAI CHAUDHARI  NORTH MAHARASHTRA UNIVERSITY, JALGAON</dc:title>
  <dc:creator>Admin</dc:creator>
  <cp:lastModifiedBy>waghyash788@gmail.com</cp:lastModifiedBy>
  <cp:revision>84</cp:revision>
  <dcterms:created xsi:type="dcterms:W3CDTF">2026-03-28T15:58:42Z</dcterms:created>
  <dcterms:modified xsi:type="dcterms:W3CDTF">2026-04-08T15:38:34Z</dcterms:modified>
</cp:coreProperties>
</file>